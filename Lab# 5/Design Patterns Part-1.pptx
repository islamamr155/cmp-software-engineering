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Roboto Slab"/>
      <p:regular r:id="rId61"/>
      <p:bold r:id="rId62"/>
    </p:embeddedFont>
    <p:embeddedFont>
      <p:font typeface="Roboto"/>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7" roundtripDataSignature="AMtx7mgHcRaWZ5T1lss1KQxxC9l7AfA+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Slab-bold.fntdata"/><Relationship Id="rId61" Type="http://schemas.openxmlformats.org/officeDocument/2006/relationships/font" Target="fonts/RobotoSlab-regular.fntdata"/><Relationship Id="rId20" Type="http://schemas.openxmlformats.org/officeDocument/2006/relationships/slide" Target="slides/slide15.xml"/><Relationship Id="rId64" Type="http://schemas.openxmlformats.org/officeDocument/2006/relationships/font" Target="fonts/Roboto-bold.fntdata"/><Relationship Id="rId63" Type="http://schemas.openxmlformats.org/officeDocument/2006/relationships/font" Target="fonts/Roboto-regular.fntdata"/><Relationship Id="rId22" Type="http://schemas.openxmlformats.org/officeDocument/2006/relationships/slide" Target="slides/slide17.xml"/><Relationship Id="rId66" Type="http://schemas.openxmlformats.org/officeDocument/2006/relationships/font" Target="fonts/Roboto-boldItalic.fntdata"/><Relationship Id="rId21" Type="http://schemas.openxmlformats.org/officeDocument/2006/relationships/slide" Target="slides/slide16.xml"/><Relationship Id="rId65" Type="http://schemas.openxmlformats.org/officeDocument/2006/relationships/font" Target="fonts/Roboto-italic.fntdata"/><Relationship Id="rId24" Type="http://schemas.openxmlformats.org/officeDocument/2006/relationships/slide" Target="slides/slide19.xml"/><Relationship Id="rId23" Type="http://schemas.openxmlformats.org/officeDocument/2006/relationships/slide" Target="slides/slide18.xml"/><Relationship Id="rId67" Type="http://customschemas.google.com/relationships/presentationmetadata" Target="meta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sz="18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You can hide it OR move forward quickly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 just hear from them what they know about Design patterns; if they know any patterns before i.e Singleton, .. (~5 mins)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Let them try to answer first the difference bet Algorithm and DP..</a:t>
            </a:r>
            <a:br>
              <a:rPr lang="en"/>
            </a:br>
            <a:r>
              <a:rPr lang="en"/>
              <a:t>An algorithm always defines a clear set of actions that can achieve some goal, a pattern is a more high-level description of a solution. The code of the same pattern applied to two different programs may be different.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truth is that you might manage to work as a programmer for many years without knowing about a single pattern. A lot of people just do. Even in that case, though, you might be implementing some patterns without even knowing it.</a:t>
            </a:r>
            <a:endParaRPr/>
          </a:p>
          <a:p>
            <a:pPr indent="0" lvl="0" marL="0" rtl="0" algn="l">
              <a:lnSpc>
                <a:spcPct val="100000"/>
              </a:lnSpc>
              <a:spcBef>
                <a:spcPts val="0"/>
              </a:spcBef>
              <a:spcAft>
                <a:spcPts val="0"/>
              </a:spcAft>
              <a:buSzPts val="1100"/>
              <a:buNone/>
            </a:pPr>
            <a:r>
              <a:rPr lang="en"/>
              <a:t>So, Why should we spend time then learning them?? - next slide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AutoNum type="arabicPeriod"/>
            </a:pPr>
            <a:r>
              <a:rPr lang="en"/>
              <a:t>Design patterns are a toolkit of tried and tested solutions to common problems in software design. Even if you never encounter these problems, knowing patterns is still useful because it teaches you how to solve all sorts of problems using principles of object-oriented design. </a:t>
            </a:r>
            <a:endParaRPr/>
          </a:p>
          <a:p>
            <a:pPr indent="-298450" lvl="0" marL="457200" rtl="0" algn="l">
              <a:lnSpc>
                <a:spcPct val="100000"/>
              </a:lnSpc>
              <a:spcBef>
                <a:spcPts val="0"/>
              </a:spcBef>
              <a:spcAft>
                <a:spcPts val="0"/>
              </a:spcAft>
              <a:buSzPts val="1100"/>
              <a:buAutoNum type="arabicPeriod"/>
            </a:pPr>
            <a:r>
              <a:rPr lang="en"/>
              <a:t>Design patterns define a common language that you and your teammates can use to communicate more efficiently. You can say, “Oh, just use a Singleton for that,” and everyone will understand the idea behind your suggestion. No need to explain what a singleton is if you know the pattern and its name.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Don’t explain any of them in details..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rPr lang="en" sz="1500">
                <a:solidFill>
                  <a:schemeClr val="dk1"/>
                </a:solidFill>
                <a:latin typeface="Roboto"/>
                <a:ea typeface="Roboto"/>
                <a:cs typeface="Roboto"/>
                <a:sym typeface="Roboto"/>
              </a:rPr>
              <a:t>4 Main Pillars</a:t>
            </a:r>
            <a:endParaRPr sz="6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Abstraction is a model of a real-world object or phenomenon, limited to a specific context, which represents all details relevant to this context with high accuracy and omits all the rest.</a:t>
            </a:r>
            <a:endParaRPr/>
          </a:p>
          <a:p>
            <a:pPr indent="0" lvl="0" marL="0" rtl="0" algn="l">
              <a:lnSpc>
                <a:spcPct val="100000"/>
              </a:lnSpc>
              <a:spcBef>
                <a:spcPts val="0"/>
              </a:spcBef>
              <a:spcAft>
                <a:spcPts val="0"/>
              </a:spcAft>
              <a:buSzPts val="1100"/>
              <a:buNone/>
            </a:pPr>
            <a:r>
              <a:rPr lang="en"/>
              <a:t>In this example we want to represent an “airplane”.</a:t>
            </a:r>
            <a:endParaRPr/>
          </a:p>
          <a:p>
            <a:pPr indent="-298450" lvl="0" marL="457200" rtl="0" algn="l">
              <a:lnSpc>
                <a:spcPct val="100000"/>
              </a:lnSpc>
              <a:spcBef>
                <a:spcPts val="0"/>
              </a:spcBef>
              <a:spcAft>
                <a:spcPts val="0"/>
              </a:spcAft>
              <a:buSzPts val="1100"/>
              <a:buChar char="-"/>
            </a:pPr>
            <a:r>
              <a:rPr lang="en"/>
              <a:t>The left side represents it in a flight simulator for example so we need the speed, the angles , ..</a:t>
            </a:r>
            <a:endParaRPr/>
          </a:p>
          <a:p>
            <a:pPr indent="-298450" lvl="0" marL="457200" rtl="0" algn="l">
              <a:lnSpc>
                <a:spcPct val="100000"/>
              </a:lnSpc>
              <a:spcBef>
                <a:spcPts val="0"/>
              </a:spcBef>
              <a:spcAft>
                <a:spcPts val="0"/>
              </a:spcAft>
              <a:buSzPts val="1100"/>
              <a:buChar char="-"/>
            </a:pPr>
            <a:r>
              <a:rPr lang="en"/>
              <a:t>The right side represents it in a airport / airplane tickets application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start a car engine, you only need to turn a key or press a button. You don’t need to connect wires under the hood, rotate the crankshaft and cylinders, and initiate the power cycle of the engine. These details are hidden under the hood of the car. You have only a simple interface: a start switch, a steering wheel and some pedals.</a:t>
            </a:r>
            <a:br>
              <a:rPr lang="en"/>
            </a:br>
            <a:r>
              <a:rPr lang="en"/>
              <a:t>This illustrates how each object has an interface—a public part of an object, open to interactions with other objects.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Inheritance is the ability to build new classes on top of existing ones. The main benefit of inheritance is code reuse.</a:t>
            </a:r>
            <a:endParaRPr/>
          </a:p>
          <a:p>
            <a:pPr indent="0" lvl="0" marL="0" rtl="0" algn="l">
              <a:lnSpc>
                <a:spcPct val="100000"/>
              </a:lnSpc>
              <a:spcBef>
                <a:spcPts val="0"/>
              </a:spcBef>
              <a:spcAft>
                <a:spcPts val="0"/>
              </a:spcAft>
              <a:buSzPts val="1100"/>
              <a:buNone/>
            </a:pPr>
            <a:r>
              <a:rPr lang="en"/>
              <a:t>The consequence of using inheritance is that subclasses have the same interface as their parent class. You can’t hide a method in a subclass if it was declared in the superclass. You must also implement all abstract methods, even if they don’t make sense for your subclass.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Polymorphism is the ability of a program to detect the real class of an object and call its implementation even when it's real type is unknown in the current context. </a:t>
            </a:r>
            <a:endParaRPr/>
          </a:p>
          <a:p>
            <a:pPr indent="0" lvl="0" marL="0" rtl="0" algn="l">
              <a:lnSpc>
                <a:spcPct val="100000"/>
              </a:lnSpc>
              <a:spcBef>
                <a:spcPts val="0"/>
              </a:spcBef>
              <a:spcAft>
                <a:spcPts val="0"/>
              </a:spcAft>
              <a:buSzPts val="1100"/>
              <a:buNone/>
            </a:pPr>
            <a:r>
              <a:rPr lang="en"/>
              <a:t>You can also think of polymorphism as the ability of an object to “pretend” to be something else, usually a class it extends or an interface it implements. In our example, the dogs and cats in the bag were pretending to be generic animals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Dependency is the most basic and the weakest type of relations between classes. There is a dependency between two classes if some changes to the definition of one class might result in modifications to another class.</a:t>
            </a:r>
            <a:endParaRPr/>
          </a:p>
          <a:p>
            <a:pPr indent="-298450" lvl="0" marL="457200" rtl="0" algn="l">
              <a:lnSpc>
                <a:spcPct val="100000"/>
              </a:lnSpc>
              <a:spcBef>
                <a:spcPts val="0"/>
              </a:spcBef>
              <a:spcAft>
                <a:spcPts val="0"/>
              </a:spcAft>
              <a:buSzPts val="1100"/>
              <a:buChar char="●"/>
            </a:pPr>
            <a:r>
              <a:rPr lang="en"/>
              <a:t>Association is a relationship in which one object uses or interacts with another.</a:t>
            </a:r>
            <a:endParaRPr/>
          </a:p>
          <a:p>
            <a:pPr indent="-298450" lvl="0" marL="457200" rtl="0" algn="l">
              <a:lnSpc>
                <a:spcPct val="100000"/>
              </a:lnSpc>
              <a:spcBef>
                <a:spcPts val="0"/>
              </a:spcBef>
              <a:spcAft>
                <a:spcPts val="0"/>
              </a:spcAft>
              <a:buSzPts val="1100"/>
              <a:buChar char="●"/>
            </a:pPr>
            <a:r>
              <a:rPr lang="en"/>
              <a:t>Aggregation is a specialized type of association that represents “one-to-many”, “many-to-many” or “whole-part” relations between multiple objects.</a:t>
            </a:r>
            <a:endParaRPr/>
          </a:p>
          <a:p>
            <a:pPr indent="-298450" lvl="0" marL="457200" rtl="0" algn="l">
              <a:lnSpc>
                <a:spcPct val="100000"/>
              </a:lnSpc>
              <a:spcBef>
                <a:spcPts val="0"/>
              </a:spcBef>
              <a:spcAft>
                <a:spcPts val="0"/>
              </a:spcAft>
              <a:buSzPts val="1100"/>
              <a:buChar char="●"/>
            </a:pPr>
            <a:r>
              <a:rPr lang="en"/>
              <a:t>Composition is a specific kind of aggregation, where one object is composed of one or more instances of the other. The distinction between this relation and others is that the component can only exist as a part of the container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Inheritance represents the “is a” relationship between classes (a car is a vehicle), composition represents the “has a” relationship (a car has an engine)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Implementation:</a:t>
            </a:r>
            <a:endParaRPr/>
          </a:p>
          <a:p>
            <a:pPr indent="0" lvl="0" marL="0" rtl="0" algn="l">
              <a:lnSpc>
                <a:spcPct val="100000"/>
              </a:lnSpc>
              <a:spcBef>
                <a:spcPts val="0"/>
              </a:spcBef>
              <a:spcAft>
                <a:spcPts val="0"/>
              </a:spcAft>
              <a:buSzPts val="1100"/>
              <a:buNone/>
            </a:pPr>
            <a:r>
              <a:rPr lang="en"/>
              <a:t>from abc import ABC, abstractmethod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class Animal(ABC):  # Interface (abstract class in Python)</a:t>
            </a:r>
            <a:endParaRPr/>
          </a:p>
          <a:p>
            <a:pPr indent="0" lvl="0" marL="0" rtl="0" algn="l">
              <a:lnSpc>
                <a:spcPct val="100000"/>
              </a:lnSpc>
              <a:spcBef>
                <a:spcPts val="0"/>
              </a:spcBef>
              <a:spcAft>
                <a:spcPts val="0"/>
              </a:spcAft>
              <a:buSzPts val="1100"/>
              <a:buNone/>
            </a:pPr>
            <a:r>
              <a:rPr lang="en"/>
              <a:t>    @abstractmethod</a:t>
            </a:r>
            <a:endParaRPr/>
          </a:p>
          <a:p>
            <a:pPr indent="0" lvl="0" marL="0" rtl="0" algn="l">
              <a:lnSpc>
                <a:spcPct val="100000"/>
              </a:lnSpc>
              <a:spcBef>
                <a:spcPts val="0"/>
              </a:spcBef>
              <a:spcAft>
                <a:spcPts val="0"/>
              </a:spcAft>
              <a:buSzPts val="1100"/>
              <a:buNone/>
            </a:pPr>
            <a:r>
              <a:rPr lang="en"/>
              <a:t>    def speak(self):</a:t>
            </a:r>
            <a:endParaRPr/>
          </a:p>
          <a:p>
            <a:pPr indent="0" lvl="0" marL="0" rtl="0" algn="l">
              <a:lnSpc>
                <a:spcPct val="100000"/>
              </a:lnSpc>
              <a:spcBef>
                <a:spcPts val="0"/>
              </a:spcBef>
              <a:spcAft>
                <a:spcPts val="0"/>
              </a:spcAft>
              <a:buSzPts val="1100"/>
              <a:buNone/>
            </a:pPr>
            <a:r>
              <a:rPr lang="en"/>
              <a:t>        pass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class Dog(Animal):  # Class A implements Interface B</a:t>
            </a:r>
            <a:endParaRPr/>
          </a:p>
          <a:p>
            <a:pPr indent="0" lvl="0" marL="0" rtl="0" algn="l">
              <a:lnSpc>
                <a:spcPct val="100000"/>
              </a:lnSpc>
              <a:spcBef>
                <a:spcPts val="0"/>
              </a:spcBef>
              <a:spcAft>
                <a:spcPts val="0"/>
              </a:spcAft>
              <a:buSzPts val="1100"/>
              <a:buNone/>
            </a:pPr>
            <a:r>
              <a:rPr lang="en"/>
              <a:t>    def speak(self):</a:t>
            </a:r>
            <a:endParaRPr/>
          </a:p>
          <a:p>
            <a:pPr indent="0" lvl="0" marL="0" rtl="0" algn="l">
              <a:lnSpc>
                <a:spcPct val="100000"/>
              </a:lnSpc>
              <a:spcBef>
                <a:spcPts val="0"/>
              </a:spcBef>
              <a:spcAft>
                <a:spcPts val="0"/>
              </a:spcAft>
              <a:buSzPts val="1100"/>
              <a:buNone/>
            </a:pPr>
            <a:r>
              <a:rPr lang="en"/>
              <a:t>        return "Bark"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dog = Dog()</a:t>
            </a:r>
            <a:endParaRPr/>
          </a:p>
          <a:p>
            <a:pPr indent="0" lvl="0" marL="0" rtl="0" algn="l">
              <a:lnSpc>
                <a:spcPct val="100000"/>
              </a:lnSpc>
              <a:spcBef>
                <a:spcPts val="0"/>
              </a:spcBef>
              <a:spcAft>
                <a:spcPts val="0"/>
              </a:spcAft>
              <a:buSzPts val="1100"/>
              <a:buNone/>
            </a:pPr>
            <a:r>
              <a:rPr lang="en"/>
              <a:t>print(dog.speak())  # Outputs: "Bark"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Inheritance:</a:t>
            </a:r>
            <a:br>
              <a:rPr b="1" lang="en"/>
            </a:br>
            <a:r>
              <a:rPr b="0" lang="en"/>
              <a:t>class Vehicle:  # Class B</a:t>
            </a:r>
            <a:endParaRPr/>
          </a:p>
          <a:p>
            <a:pPr indent="0" lvl="0" marL="0" rtl="0" algn="l">
              <a:lnSpc>
                <a:spcPct val="100000"/>
              </a:lnSpc>
              <a:spcBef>
                <a:spcPts val="0"/>
              </a:spcBef>
              <a:spcAft>
                <a:spcPts val="0"/>
              </a:spcAft>
              <a:buSzPts val="1100"/>
              <a:buNone/>
            </a:pPr>
            <a:r>
              <a:rPr b="0" lang="en"/>
              <a:t>    def move(self):</a:t>
            </a:r>
            <a:endParaRPr/>
          </a:p>
          <a:p>
            <a:pPr indent="0" lvl="0" marL="0" rtl="0" algn="l">
              <a:lnSpc>
                <a:spcPct val="100000"/>
              </a:lnSpc>
              <a:spcBef>
                <a:spcPts val="0"/>
              </a:spcBef>
              <a:spcAft>
                <a:spcPts val="0"/>
              </a:spcAft>
              <a:buSzPts val="1100"/>
              <a:buNone/>
            </a:pPr>
            <a:r>
              <a:rPr b="0" lang="en"/>
              <a:t>        return "Vehicle is moving"</a:t>
            </a:r>
            <a:endParaRPr/>
          </a:p>
          <a:p>
            <a:pPr indent="0" lvl="0" marL="0" rtl="0" algn="l">
              <a:lnSpc>
                <a:spcPct val="100000"/>
              </a:lnSpc>
              <a:spcBef>
                <a:spcPts val="0"/>
              </a:spcBef>
              <a:spcAft>
                <a:spcPts val="0"/>
              </a:spcAft>
              <a:buSzPts val="1100"/>
              <a:buNone/>
            </a:pPr>
            <a:r>
              <a:t/>
            </a:r>
            <a:endParaRPr b="0"/>
          </a:p>
          <a:p>
            <a:pPr indent="0" lvl="0" marL="0" rtl="0" algn="l">
              <a:lnSpc>
                <a:spcPct val="100000"/>
              </a:lnSpc>
              <a:spcBef>
                <a:spcPts val="0"/>
              </a:spcBef>
              <a:spcAft>
                <a:spcPts val="0"/>
              </a:spcAft>
              <a:buSzPts val="1100"/>
              <a:buNone/>
            </a:pPr>
            <a:r>
              <a:rPr b="0" lang="en"/>
              <a:t>class Car(Vehicle):  # Class A inherits from B</a:t>
            </a:r>
            <a:endParaRPr/>
          </a:p>
          <a:p>
            <a:pPr indent="0" lvl="0" marL="0" rtl="0" algn="l">
              <a:lnSpc>
                <a:spcPct val="100000"/>
              </a:lnSpc>
              <a:spcBef>
                <a:spcPts val="0"/>
              </a:spcBef>
              <a:spcAft>
                <a:spcPts val="0"/>
              </a:spcAft>
              <a:buSzPts val="1100"/>
              <a:buNone/>
            </a:pPr>
            <a:r>
              <a:rPr b="0" lang="en"/>
              <a:t>    def move(self):</a:t>
            </a:r>
            <a:endParaRPr/>
          </a:p>
          <a:p>
            <a:pPr indent="0" lvl="0" marL="0" rtl="0" algn="l">
              <a:lnSpc>
                <a:spcPct val="100000"/>
              </a:lnSpc>
              <a:spcBef>
                <a:spcPts val="0"/>
              </a:spcBef>
              <a:spcAft>
                <a:spcPts val="0"/>
              </a:spcAft>
              <a:buSzPts val="1100"/>
              <a:buNone/>
            </a:pPr>
            <a:r>
              <a:rPr b="0" lang="en"/>
              <a:t>        return "Car is moving fast"  # Overriding the method</a:t>
            </a:r>
            <a:endParaRPr/>
          </a:p>
          <a:p>
            <a:pPr indent="0" lvl="0" marL="0" rtl="0" algn="l">
              <a:lnSpc>
                <a:spcPct val="100000"/>
              </a:lnSpc>
              <a:spcBef>
                <a:spcPts val="0"/>
              </a:spcBef>
              <a:spcAft>
                <a:spcPts val="0"/>
              </a:spcAft>
              <a:buSzPts val="1100"/>
              <a:buNone/>
            </a:pPr>
            <a:r>
              <a:t/>
            </a:r>
            <a:endParaRPr b="0"/>
          </a:p>
          <a:p>
            <a:pPr indent="0" lvl="0" marL="0" rtl="0" algn="l">
              <a:lnSpc>
                <a:spcPct val="100000"/>
              </a:lnSpc>
              <a:spcBef>
                <a:spcPts val="0"/>
              </a:spcBef>
              <a:spcAft>
                <a:spcPts val="0"/>
              </a:spcAft>
              <a:buSzPts val="1100"/>
              <a:buNone/>
            </a:pPr>
            <a:r>
              <a:rPr b="0" lang="en"/>
              <a:t>car = Car()</a:t>
            </a:r>
            <a:endParaRPr/>
          </a:p>
          <a:p>
            <a:pPr indent="0" lvl="0" marL="0" rtl="0" algn="l">
              <a:lnSpc>
                <a:spcPct val="100000"/>
              </a:lnSpc>
              <a:spcBef>
                <a:spcPts val="0"/>
              </a:spcBef>
              <a:spcAft>
                <a:spcPts val="0"/>
              </a:spcAft>
              <a:buSzPts val="1100"/>
              <a:buNone/>
            </a:pPr>
            <a:r>
              <a:rPr b="0" lang="en"/>
              <a:t>print(car.move())  # Outputs: "Car is moving fast"</a:t>
            </a:r>
            <a:endParaRPr/>
          </a:p>
          <a:p>
            <a:pPr indent="0" lvl="0" marL="0" rtl="0" algn="l">
              <a:lnSpc>
                <a:spcPct val="100000"/>
              </a:lnSpc>
              <a:spcBef>
                <a:spcPts val="0"/>
              </a:spcBef>
              <a:spcAft>
                <a:spcPts val="0"/>
              </a:spcAft>
              <a:buSzPts val="1100"/>
              <a:buNone/>
            </a:pPr>
            <a:r>
              <a:t/>
            </a:r>
            <a:endParaRPr b="1"/>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Code reuse is one of the most common ways to reduce development costs. The intent is pretty obvious: instead of developing something over and over from scratch, why don’t we reuse existing code in new projects? </a:t>
            </a:r>
            <a:endParaRPr/>
          </a:p>
          <a:p>
            <a:pPr indent="0" lvl="0" marL="0" rtl="0" algn="l">
              <a:lnSpc>
                <a:spcPct val="100000"/>
              </a:lnSpc>
              <a:spcBef>
                <a:spcPts val="0"/>
              </a:spcBef>
              <a:spcAft>
                <a:spcPts val="0"/>
              </a:spcAft>
              <a:buSzPts val="1100"/>
              <a:buNone/>
            </a:pPr>
            <a:r>
              <a:rPr lang="en"/>
              <a:t>The idea looks great on paper, but it turns out that making existing code work in a new context usually takes extra effort.</a:t>
            </a:r>
            <a:endParaRPr/>
          </a:p>
          <a:p>
            <a:pPr indent="0" lvl="0" marL="0" rtl="0" algn="l">
              <a:lnSpc>
                <a:spcPct val="100000"/>
              </a:lnSpc>
              <a:spcBef>
                <a:spcPts val="0"/>
              </a:spcBef>
              <a:spcAft>
                <a:spcPts val="0"/>
              </a:spcAft>
              <a:buSzPts val="1100"/>
              <a:buNone/>
            </a:pPr>
            <a:r>
              <a:rPr lang="en"/>
              <a:t>[TA] Due to Tight coupling between components, dependencies on concrete classes instead of interfaces, hardcoded operations—all of this reduces flexibility of the code and makes it harder to reuse it.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At first ask what you expect from the headline “Encapsulate What Varies” ?</a:t>
            </a:r>
            <a:endParaRPr/>
          </a:p>
          <a:p>
            <a:pPr indent="-298450" lvl="0" marL="457200" rtl="0" algn="l">
              <a:lnSpc>
                <a:spcPct val="100000"/>
              </a:lnSpc>
              <a:spcBef>
                <a:spcPts val="0"/>
              </a:spcBef>
              <a:spcAft>
                <a:spcPts val="0"/>
              </a:spcAft>
              <a:buSzPts val="1100"/>
              <a:buChar char="-"/>
            </a:pPr>
            <a:r>
              <a:rPr lang="en"/>
              <a:t>Read definition and explain the problem in the next slide</a:t>
            </a:r>
            <a:br>
              <a:rPr lang="en"/>
            </a:br>
            <a:br>
              <a:rPr lang="en"/>
            </a:br>
            <a:r>
              <a:rPr lang="en"/>
              <a:t>Note this principle will be used in the SOLID ⇒ S → single responsibility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This function calculate total cost for the order and calculate tax</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That is an example for single responsibility 3ala level el functions , in the next slide there is an example 3ala class level</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goal is to </a:t>
            </a:r>
            <a:r>
              <a:rPr b="1" lang="en"/>
              <a:t>decouple your code</a:t>
            </a:r>
            <a:r>
              <a:rPr lang="en"/>
              <a:t> from specific implementations, making it easier to change or extend later.</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Cat depends on concrete class sausage (tightly coupled)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41a71f361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41a71f3611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41a71f361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341a71f3611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41a71f361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341a71f3611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Set of design principles</a:t>
            </a:r>
            <a:r>
              <a:rPr lang="en"/>
              <a:t> specifically tailored to object-oriented programming (OOP).</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meaning it should have only one job or responsibility</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900">
                <a:solidFill>
                  <a:srgbClr val="171717"/>
                </a:solidFill>
                <a:highlight>
                  <a:srgbClr val="FFFFFF"/>
                </a:highlight>
                <a:latin typeface="Roboto"/>
                <a:ea typeface="Roboto"/>
                <a:cs typeface="Roboto"/>
                <a:sym typeface="Roboto"/>
              </a:rPr>
              <a:t>The class has 2 reasons to change:</a:t>
            </a:r>
            <a:endParaRPr sz="1900">
              <a:solidFill>
                <a:srgbClr val="171717"/>
              </a:solidFill>
              <a:highlight>
                <a:srgbClr val="FFFFFF"/>
              </a:highlight>
              <a:latin typeface="Roboto"/>
              <a:ea typeface="Roboto"/>
              <a:cs typeface="Roboto"/>
              <a:sym typeface="Roboto"/>
            </a:endParaRPr>
          </a:p>
          <a:p>
            <a:pPr indent="-349250" lvl="0" marL="457200" rtl="0" algn="l">
              <a:lnSpc>
                <a:spcPct val="115000"/>
              </a:lnSpc>
              <a:spcBef>
                <a:spcPts val="0"/>
              </a:spcBef>
              <a:spcAft>
                <a:spcPts val="0"/>
              </a:spcAft>
              <a:buClr>
                <a:srgbClr val="171717"/>
              </a:buClr>
              <a:buSzPts val="1900"/>
              <a:buFont typeface="Roboto"/>
              <a:buAutoNum type="arabicPeriod"/>
            </a:pPr>
            <a:r>
              <a:rPr lang="en" sz="1900">
                <a:solidFill>
                  <a:srgbClr val="171717"/>
                </a:solidFill>
                <a:highlight>
                  <a:srgbClr val="FFFFFF"/>
                </a:highlight>
                <a:latin typeface="Roboto"/>
                <a:ea typeface="Roboto"/>
                <a:cs typeface="Roboto"/>
                <a:sym typeface="Roboto"/>
              </a:rPr>
              <a:t>if we want to change how we're enrolling in the course</a:t>
            </a:r>
            <a:endParaRPr sz="1900">
              <a:solidFill>
                <a:srgbClr val="171717"/>
              </a:solidFill>
              <a:highlight>
                <a:srgbClr val="FFFFFF"/>
              </a:highlight>
              <a:latin typeface="Roboto"/>
              <a:ea typeface="Roboto"/>
              <a:cs typeface="Roboto"/>
              <a:sym typeface="Roboto"/>
            </a:endParaRPr>
          </a:p>
          <a:p>
            <a:pPr indent="-349250" lvl="0" marL="457200" rtl="0" algn="l">
              <a:lnSpc>
                <a:spcPct val="115000"/>
              </a:lnSpc>
              <a:spcBef>
                <a:spcPts val="0"/>
              </a:spcBef>
              <a:spcAft>
                <a:spcPts val="0"/>
              </a:spcAft>
              <a:buClr>
                <a:srgbClr val="171717"/>
              </a:buClr>
              <a:buSzPts val="1900"/>
              <a:buFont typeface="Roboto"/>
              <a:buAutoNum type="arabicPeriod"/>
            </a:pPr>
            <a:r>
              <a:rPr lang="en" sz="1900">
                <a:solidFill>
                  <a:srgbClr val="171717"/>
                </a:solidFill>
                <a:highlight>
                  <a:srgbClr val="FFFFFF"/>
                </a:highlight>
                <a:latin typeface="Roboto"/>
                <a:ea typeface="Roboto"/>
                <a:cs typeface="Roboto"/>
                <a:sym typeface="Roboto"/>
              </a:rPr>
              <a:t>if we want to change how we notify the user</a:t>
            </a:r>
            <a:endParaRPr sz="1900">
              <a:solidFill>
                <a:srgbClr val="171717"/>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 other words, if class B is a subclass of class A, you should be able to replace A with B without breaking any functionality or introducing unexpected behavior in the client code.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Suppose you have a DatabaseConnection class with a method openConnection(). Derived classes like MySQLConnection and PostgreSQLConnection should implement openConnection() so that any instance of DatabaseConnection can be used interchangeably in code without causing issues.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a:t>
            </a:r>
            <a:r>
              <a:rPr b="1" lang="en"/>
              <a:t>violates the Interface Segregation Principle (ISP)</a:t>
            </a:r>
            <a:r>
              <a:rPr lang="en"/>
              <a:t> because it forces all subclasses (monsters like sharks, bears, eagles, etc.) to implement methods they don't use. This creates unnecessary dependencies and makes the code harder to maintain and extend.</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What if we need to use Panasonic instead of Philips?</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56"/>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56"/>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5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56"/>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4" name="Google Shape;14;p56"/>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57"/>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5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57"/>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cxnSp>
        <p:nvCxnSpPr>
          <p:cNvPr id="22" name="Google Shape;22;p58"/>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p58"/>
          <p:cNvSpPr txBox="1"/>
          <p:nvPr>
            <p:ph type="title"/>
          </p:nvPr>
        </p:nvSpPr>
        <p:spPr>
          <a:xfrm>
            <a:off x="480750" y="1764950"/>
            <a:ext cx="8222100" cy="907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 name="Google Shape;2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9"/>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59"/>
          <p:cNvSpPr txBox="1"/>
          <p:nvPr>
            <p:ph idx="1" type="body"/>
          </p:nvPr>
        </p:nvSpPr>
        <p:spPr>
          <a:xfrm>
            <a:off x="3879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59"/>
          <p:cNvSpPr txBox="1"/>
          <p:nvPr>
            <p:ph idx="2" type="body"/>
          </p:nvPr>
        </p:nvSpPr>
        <p:spPr>
          <a:xfrm>
            <a:off x="47562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61"/>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61"/>
          <p:cNvSpPr txBox="1"/>
          <p:nvPr>
            <p:ph type="title"/>
          </p:nvPr>
        </p:nvSpPr>
        <p:spPr>
          <a:xfrm>
            <a:off x="3879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61"/>
          <p:cNvSpPr txBox="1"/>
          <p:nvPr>
            <p:ph idx="1" type="body"/>
          </p:nvPr>
        </p:nvSpPr>
        <p:spPr>
          <a:xfrm>
            <a:off x="387900" y="1594025"/>
            <a:ext cx="2808000" cy="2681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62"/>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63"/>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63"/>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63"/>
          <p:cNvSpPr txBox="1"/>
          <p:nvPr>
            <p:ph type="title"/>
          </p:nvPr>
        </p:nvSpPr>
        <p:spPr>
          <a:xfrm>
            <a:off x="265500" y="1209075"/>
            <a:ext cx="4045200" cy="1506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6" name="Google Shape;46;p63"/>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6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64"/>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65"/>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65"/>
          <p:cNvSpPr txBox="1"/>
          <p:nvPr>
            <p:ph hasCustomPrompt="1" type="title"/>
          </p:nvPr>
        </p:nvSpPr>
        <p:spPr>
          <a:xfrm>
            <a:off x="387900" y="1152450"/>
            <a:ext cx="83682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65"/>
          <p:cNvSpPr txBox="1"/>
          <p:nvPr>
            <p:ph idx="1" type="body"/>
          </p:nvPr>
        </p:nvSpPr>
        <p:spPr>
          <a:xfrm>
            <a:off x="387900" y="2919450"/>
            <a:ext cx="83682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5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1pPr>
            <a:lvl2pPr lvl="1"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2pPr>
            <a:lvl3pPr lvl="2"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3pPr>
            <a:lvl4pPr lvl="3"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4pPr>
            <a:lvl5pPr lvl="4"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5pPr>
            <a:lvl6pPr lvl="5"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6pPr>
            <a:lvl7pPr lvl="6"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7pPr>
            <a:lvl8pPr lvl="7"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8pPr>
            <a:lvl9pPr lvl="8"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9pPr>
          </a:lstStyle>
          <a:p/>
        </p:txBody>
      </p:sp>
      <p:sp>
        <p:nvSpPr>
          <p:cNvPr id="7" name="Google Shape;7;p5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
        <p:nvSpPr>
          <p:cNvPr id="8" name="Google Shape;8;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2.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7.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000"/>
              <a:buNone/>
            </a:pPr>
            <a:r>
              <a:rPr lang="en"/>
              <a:t>Design Patterns Part-1</a:t>
            </a:r>
            <a:endParaRPr/>
          </a:p>
        </p:txBody>
      </p:sp>
      <p:sp>
        <p:nvSpPr>
          <p:cNvPr id="64" name="Google Shape;64;p1"/>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Table of Contents</a:t>
            </a:r>
            <a:endParaRPr/>
          </a:p>
        </p:txBody>
      </p:sp>
      <p:sp>
        <p:nvSpPr>
          <p:cNvPr id="70" name="Google Shape;70;p2"/>
          <p:cNvSpPr txBox="1"/>
          <p:nvPr>
            <p:ph idx="1" type="body"/>
          </p:nvPr>
        </p:nvSpPr>
        <p:spPr>
          <a:xfrm>
            <a:off x="387900" y="1489825"/>
            <a:ext cx="4184100" cy="3382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Introduction to Design Patterns:</a:t>
            </a:r>
            <a:endParaRPr/>
          </a:p>
          <a:p>
            <a:pPr indent="-342900" lvl="0" marL="914400" rtl="0" algn="l">
              <a:lnSpc>
                <a:spcPct val="115000"/>
              </a:lnSpc>
              <a:spcBef>
                <a:spcPts val="0"/>
              </a:spcBef>
              <a:spcAft>
                <a:spcPts val="0"/>
              </a:spcAft>
              <a:buSzPts val="1800"/>
              <a:buChar char="●"/>
            </a:pPr>
            <a:r>
              <a:rPr lang="en"/>
              <a:t>What's a Design Pattern?</a:t>
            </a:r>
            <a:endParaRPr/>
          </a:p>
          <a:p>
            <a:pPr indent="-342900" lvl="0" marL="914400" rtl="0" algn="l">
              <a:lnSpc>
                <a:spcPct val="115000"/>
              </a:lnSpc>
              <a:spcBef>
                <a:spcPts val="0"/>
              </a:spcBef>
              <a:spcAft>
                <a:spcPts val="0"/>
              </a:spcAft>
              <a:buSzPts val="1800"/>
              <a:buChar char="●"/>
            </a:pPr>
            <a:r>
              <a:rPr lang="en"/>
              <a:t>Why Should I Learn Patterns?</a:t>
            </a:r>
            <a:endParaRPr/>
          </a:p>
          <a:p>
            <a:pPr indent="-342900" lvl="0" marL="914400" rtl="0" algn="l">
              <a:lnSpc>
                <a:spcPct val="115000"/>
              </a:lnSpc>
              <a:spcBef>
                <a:spcPts val="0"/>
              </a:spcBef>
              <a:spcAft>
                <a:spcPts val="0"/>
              </a:spcAft>
              <a:buSzPts val="1800"/>
              <a:buChar char="●"/>
            </a:pPr>
            <a:r>
              <a:rPr lang="en"/>
              <a:t>Types of Design Patterns</a:t>
            </a:r>
            <a:endParaRPr/>
          </a:p>
          <a:p>
            <a:pPr indent="-342900" lvl="0" marL="457200" rtl="0" algn="l">
              <a:lnSpc>
                <a:spcPct val="115000"/>
              </a:lnSpc>
              <a:spcBef>
                <a:spcPts val="0"/>
              </a:spcBef>
              <a:spcAft>
                <a:spcPts val="0"/>
              </a:spcAft>
              <a:buSzPts val="1800"/>
              <a:buChar char="-"/>
            </a:pPr>
            <a:r>
              <a:rPr lang="en"/>
              <a:t>Prerequisites for Learning Design Patterns</a:t>
            </a:r>
            <a:endParaRPr/>
          </a:p>
          <a:p>
            <a:pPr indent="-342900" lvl="0" marL="914400" rtl="0" algn="l">
              <a:lnSpc>
                <a:spcPct val="115000"/>
              </a:lnSpc>
              <a:spcBef>
                <a:spcPts val="0"/>
              </a:spcBef>
              <a:spcAft>
                <a:spcPts val="0"/>
              </a:spcAft>
              <a:buSzPts val="1800"/>
              <a:buChar char="●"/>
            </a:pPr>
            <a:r>
              <a:rPr lang="en"/>
              <a:t>  OOP</a:t>
            </a:r>
            <a:endParaRPr/>
          </a:p>
          <a:p>
            <a:pPr indent="-342900" lvl="0" marL="914400" rtl="0" algn="l">
              <a:lnSpc>
                <a:spcPct val="115000"/>
              </a:lnSpc>
              <a:spcBef>
                <a:spcPts val="0"/>
              </a:spcBef>
              <a:spcAft>
                <a:spcPts val="0"/>
              </a:spcAft>
              <a:buSzPts val="1800"/>
              <a:buChar char="●"/>
            </a:pPr>
            <a:r>
              <a:rPr lang="en"/>
              <a:t>  Software Design Principles</a:t>
            </a:r>
            <a:endParaRPr/>
          </a:p>
          <a:p>
            <a:pPr indent="-342900" lvl="0" marL="914400" rtl="0" algn="l">
              <a:lnSpc>
                <a:spcPct val="115000"/>
              </a:lnSpc>
              <a:spcBef>
                <a:spcPts val="0"/>
              </a:spcBef>
              <a:spcAft>
                <a:spcPts val="0"/>
              </a:spcAft>
              <a:buSzPts val="1800"/>
              <a:buChar char="●"/>
            </a:pPr>
            <a:r>
              <a:rPr lang="en"/>
              <a:t>  SOLID Principles</a:t>
            </a:r>
            <a:endParaRPr/>
          </a:p>
        </p:txBody>
      </p:sp>
      <p:sp>
        <p:nvSpPr>
          <p:cNvPr id="71" name="Google Shape;71;p2"/>
          <p:cNvSpPr txBox="1"/>
          <p:nvPr>
            <p:ph idx="1" type="body"/>
          </p:nvPr>
        </p:nvSpPr>
        <p:spPr>
          <a:xfrm>
            <a:off x="4572000" y="1489825"/>
            <a:ext cx="4184100" cy="3078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Introduction to OOP</a:t>
            </a:r>
            <a:endParaRPr/>
          </a:p>
          <a:p>
            <a:pPr indent="-342900" lvl="0" marL="914400" rtl="0" algn="l">
              <a:lnSpc>
                <a:spcPct val="115000"/>
              </a:lnSpc>
              <a:spcBef>
                <a:spcPts val="0"/>
              </a:spcBef>
              <a:spcAft>
                <a:spcPts val="0"/>
              </a:spcAft>
              <a:buSzPts val="1800"/>
              <a:buChar char="●"/>
            </a:pPr>
            <a:r>
              <a:rPr lang="en"/>
              <a:t>   Basics of OOP</a:t>
            </a:r>
            <a:endParaRPr/>
          </a:p>
          <a:p>
            <a:pPr indent="-342900" lvl="0" marL="914400" rtl="0" algn="l">
              <a:lnSpc>
                <a:spcPct val="115000"/>
              </a:lnSpc>
              <a:spcBef>
                <a:spcPts val="0"/>
              </a:spcBef>
              <a:spcAft>
                <a:spcPts val="0"/>
              </a:spcAft>
              <a:buSzPts val="1800"/>
              <a:buChar char="●"/>
            </a:pPr>
            <a:r>
              <a:rPr lang="en"/>
              <a:t>   Pillars of OOP</a:t>
            </a:r>
            <a:endParaRPr/>
          </a:p>
          <a:p>
            <a:pPr indent="-342900" lvl="0" marL="914400" rtl="0" algn="l">
              <a:lnSpc>
                <a:spcPct val="115000"/>
              </a:lnSpc>
              <a:spcBef>
                <a:spcPts val="0"/>
              </a:spcBef>
              <a:spcAft>
                <a:spcPts val="0"/>
              </a:spcAft>
              <a:buSzPts val="1800"/>
              <a:buChar char="●"/>
            </a:pPr>
            <a:r>
              <a:rPr lang="en"/>
              <a:t>   Relations Between Objects</a:t>
            </a:r>
            <a:endParaRPr/>
          </a:p>
          <a:p>
            <a:pPr indent="-342900" lvl="0" marL="457200" rtl="0" algn="l">
              <a:lnSpc>
                <a:spcPct val="115000"/>
              </a:lnSpc>
              <a:spcBef>
                <a:spcPts val="0"/>
              </a:spcBef>
              <a:spcAft>
                <a:spcPts val="0"/>
              </a:spcAft>
              <a:buSzPts val="1800"/>
              <a:buChar char="-"/>
            </a:pPr>
            <a:r>
              <a:rPr lang="en"/>
              <a:t>Software Design Principles</a:t>
            </a:r>
            <a:endParaRPr/>
          </a:p>
          <a:p>
            <a:pPr indent="-342900" lvl="0" marL="914400" rtl="0" algn="l">
              <a:lnSpc>
                <a:spcPct val="115000"/>
              </a:lnSpc>
              <a:spcBef>
                <a:spcPts val="0"/>
              </a:spcBef>
              <a:spcAft>
                <a:spcPts val="0"/>
              </a:spcAft>
              <a:buSzPts val="1800"/>
              <a:buChar char="●"/>
            </a:pPr>
            <a:r>
              <a:rPr lang="en"/>
              <a:t>Features of Good Design </a:t>
            </a:r>
            <a:endParaRPr/>
          </a:p>
          <a:p>
            <a:pPr indent="-342900" lvl="0" marL="914400" rtl="0" algn="l">
              <a:lnSpc>
                <a:spcPct val="115000"/>
              </a:lnSpc>
              <a:spcBef>
                <a:spcPts val="0"/>
              </a:spcBef>
              <a:spcAft>
                <a:spcPts val="0"/>
              </a:spcAft>
              <a:buSzPts val="1800"/>
              <a:buChar char="●"/>
            </a:pPr>
            <a:r>
              <a:rPr lang="en"/>
              <a:t>Design Principles</a:t>
            </a:r>
            <a:endParaRPr/>
          </a:p>
          <a:p>
            <a:pPr indent="-342900" lvl="0" marL="457200" rtl="0" algn="l">
              <a:lnSpc>
                <a:spcPct val="115000"/>
              </a:lnSpc>
              <a:spcBef>
                <a:spcPts val="0"/>
              </a:spcBef>
              <a:spcAft>
                <a:spcPts val="0"/>
              </a:spcAft>
              <a:buSzPts val="1800"/>
              <a:buChar char="-"/>
            </a:pPr>
            <a:r>
              <a:rPr lang="en"/>
              <a:t>SOLID Principles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Introduction to Design Patterns</a:t>
            </a:r>
            <a:endParaRPr/>
          </a:p>
        </p:txBody>
      </p:sp>
      <p:pic>
        <p:nvPicPr>
          <p:cNvPr id="77" name="Google Shape;77;p3"/>
          <p:cNvPicPr preferRelativeResize="0"/>
          <p:nvPr/>
        </p:nvPicPr>
        <p:blipFill rotWithShape="1">
          <a:blip r:embed="rId3">
            <a:alphaModFix/>
          </a:blip>
          <a:srcRect b="0" l="0" r="0" t="0"/>
          <a:stretch/>
        </p:blipFill>
        <p:spPr>
          <a:xfrm>
            <a:off x="1281200" y="1297375"/>
            <a:ext cx="6581600" cy="3643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What’s a Design Pattern?</a:t>
            </a:r>
            <a:endParaRPr/>
          </a:p>
        </p:txBody>
      </p:sp>
      <p:sp>
        <p:nvSpPr>
          <p:cNvPr id="83" name="Google Shape;83;p4"/>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2300"/>
              <a:t>Design patterns: </a:t>
            </a:r>
            <a:r>
              <a:rPr lang="en" sz="2000"/>
              <a:t>are typical solutions to commonly occurring problems in software design. They are like pre-made blueprints that you can customize to solve a recurring design problem in your code. </a:t>
            </a:r>
            <a:endParaRPr sz="2000"/>
          </a:p>
          <a:p>
            <a:pPr indent="0" lvl="0" marL="0" rtl="0" algn="l">
              <a:lnSpc>
                <a:spcPct val="115000"/>
              </a:lnSpc>
              <a:spcBef>
                <a:spcPts val="1200"/>
              </a:spcBef>
              <a:spcAft>
                <a:spcPts val="0"/>
              </a:spcAft>
              <a:buSzPts val="1800"/>
              <a:buNone/>
            </a:pPr>
            <a:r>
              <a:t/>
            </a:r>
            <a:endParaRPr sz="2000"/>
          </a:p>
          <a:p>
            <a:pPr indent="0" lvl="0" marL="0" rtl="0" algn="ctr">
              <a:lnSpc>
                <a:spcPct val="115000"/>
              </a:lnSpc>
              <a:spcBef>
                <a:spcPts val="0"/>
              </a:spcBef>
              <a:spcAft>
                <a:spcPts val="0"/>
              </a:spcAft>
              <a:buSzPts val="1800"/>
              <a:buNone/>
            </a:pPr>
            <a:r>
              <a:rPr b="1" lang="en" sz="2300"/>
              <a:t>Design Patterns vs Algorithms ??</a:t>
            </a:r>
            <a:endParaRPr sz="3000">
              <a:solidFill>
                <a:srgbClr val="000000"/>
              </a:solidFill>
              <a:latin typeface="Arial"/>
              <a:ea typeface="Arial"/>
              <a:cs typeface="Arial"/>
              <a:sym typeface="Arial"/>
            </a:endParaRPr>
          </a:p>
          <a:p>
            <a:pPr indent="0" lvl="0" marL="0" rtl="0" algn="ctr">
              <a:lnSpc>
                <a:spcPct val="100000"/>
              </a:lnSpc>
              <a:spcBef>
                <a:spcPts val="0"/>
              </a:spcBef>
              <a:spcAft>
                <a:spcPts val="0"/>
              </a:spcAft>
              <a:buSzPts val="1800"/>
              <a:buNone/>
            </a:pPr>
            <a:r>
              <a:rPr lang="en" sz="2000"/>
              <a:t>High-level description of a solution  vs  Clear set of actions to achieve solution</a:t>
            </a:r>
            <a:endParaRPr sz="2000"/>
          </a:p>
          <a:p>
            <a:pPr indent="0" lvl="0" marL="0" rtl="0" algn="l">
              <a:lnSpc>
                <a:spcPct val="115000"/>
              </a:lnSpc>
              <a:spcBef>
                <a:spcPts val="0"/>
              </a:spcBef>
              <a:spcAft>
                <a:spcPts val="1200"/>
              </a:spcAft>
              <a:buSzPts val="1800"/>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marR="0" rtl="0" algn="l">
              <a:lnSpc>
                <a:spcPct val="115000"/>
              </a:lnSpc>
              <a:spcBef>
                <a:spcPts val="0"/>
              </a:spcBef>
              <a:spcAft>
                <a:spcPts val="1200"/>
              </a:spcAft>
              <a:buSzPct val="111111"/>
              <a:buNone/>
            </a:pPr>
            <a:r>
              <a:rPr lang="en"/>
              <a:t>Why Should I Learn Patterns?</a:t>
            </a:r>
            <a:endParaRPr/>
          </a:p>
        </p:txBody>
      </p:sp>
      <p:sp>
        <p:nvSpPr>
          <p:cNvPr id="89" name="Google Shape;89;p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900"/>
              <a:t>You WON’T be able to WORK without them! </a:t>
            </a:r>
            <a:endParaRPr sz="1900"/>
          </a:p>
          <a:p>
            <a:pPr indent="0" lvl="0" marL="0" rtl="0" algn="l">
              <a:lnSpc>
                <a:spcPct val="115000"/>
              </a:lnSpc>
              <a:spcBef>
                <a:spcPts val="1200"/>
              </a:spcBef>
              <a:spcAft>
                <a:spcPts val="0"/>
              </a:spcAft>
              <a:buSzPts val="1800"/>
              <a:buNone/>
            </a:pPr>
            <a:r>
              <a:t/>
            </a:r>
            <a:endParaRPr sz="1900"/>
          </a:p>
          <a:p>
            <a:pPr indent="0" lvl="0" marL="0" rtl="0" algn="l">
              <a:lnSpc>
                <a:spcPct val="115000"/>
              </a:lnSpc>
              <a:spcBef>
                <a:spcPts val="1200"/>
              </a:spcBef>
              <a:spcAft>
                <a:spcPts val="1200"/>
              </a:spcAft>
              <a:buSzPts val="1800"/>
              <a:buNone/>
            </a:pPr>
            <a:r>
              <a:t/>
            </a:r>
            <a:endParaRPr b="1" sz="2000"/>
          </a:p>
        </p:txBody>
      </p:sp>
      <p:pic>
        <p:nvPicPr>
          <p:cNvPr id="90" name="Google Shape;90;p5"/>
          <p:cNvPicPr preferRelativeResize="0"/>
          <p:nvPr/>
        </p:nvPicPr>
        <p:blipFill rotWithShape="1">
          <a:blip r:embed="rId3">
            <a:alphaModFix/>
          </a:blip>
          <a:srcRect b="0" l="0" r="0" t="0"/>
          <a:stretch/>
        </p:blipFill>
        <p:spPr>
          <a:xfrm>
            <a:off x="6479775" y="1144125"/>
            <a:ext cx="2222649" cy="1663850"/>
          </a:xfrm>
          <a:prstGeom prst="rect">
            <a:avLst/>
          </a:prstGeom>
          <a:noFill/>
          <a:ln>
            <a:noFill/>
          </a:ln>
        </p:spPr>
      </p:pic>
      <p:pic>
        <p:nvPicPr>
          <p:cNvPr id="91" name="Google Shape;91;p5"/>
          <p:cNvPicPr preferRelativeResize="0"/>
          <p:nvPr/>
        </p:nvPicPr>
        <p:blipFill rotWithShape="1">
          <a:blip r:embed="rId4">
            <a:alphaModFix/>
          </a:blip>
          <a:srcRect b="0" l="0" r="0" t="0"/>
          <a:stretch/>
        </p:blipFill>
        <p:spPr>
          <a:xfrm>
            <a:off x="6426100" y="2904875"/>
            <a:ext cx="2330001" cy="1663850"/>
          </a:xfrm>
          <a:prstGeom prst="rect">
            <a:avLst/>
          </a:prstGeom>
          <a:noFill/>
          <a:ln>
            <a:noFill/>
          </a:ln>
        </p:spPr>
      </p:pic>
      <p:sp>
        <p:nvSpPr>
          <p:cNvPr id="92" name="Google Shape;92;p5"/>
          <p:cNvSpPr txBox="1"/>
          <p:nvPr>
            <p:ph idx="1" type="body"/>
          </p:nvPr>
        </p:nvSpPr>
        <p:spPr>
          <a:xfrm>
            <a:off x="387900" y="1265525"/>
            <a:ext cx="5716500" cy="3455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t/>
            </a:r>
            <a:endParaRPr sz="1900"/>
          </a:p>
          <a:p>
            <a:pPr indent="0" lvl="0" marL="0" rtl="0" algn="l">
              <a:lnSpc>
                <a:spcPct val="115000"/>
              </a:lnSpc>
              <a:spcBef>
                <a:spcPts val="1200"/>
              </a:spcBef>
              <a:spcAft>
                <a:spcPts val="0"/>
              </a:spcAft>
              <a:buSzPts val="1800"/>
              <a:buNone/>
            </a:pPr>
            <a:r>
              <a:t/>
            </a:r>
            <a:endParaRPr sz="1900"/>
          </a:p>
          <a:p>
            <a:pPr indent="0" lvl="0" marL="0" rtl="0" algn="l">
              <a:lnSpc>
                <a:spcPct val="115000"/>
              </a:lnSpc>
              <a:spcBef>
                <a:spcPts val="1200"/>
              </a:spcBef>
              <a:spcAft>
                <a:spcPts val="0"/>
              </a:spcAft>
              <a:buSzPts val="1800"/>
              <a:buNone/>
            </a:pPr>
            <a:r>
              <a:t/>
            </a:r>
            <a:endParaRPr sz="1900"/>
          </a:p>
          <a:p>
            <a:pPr indent="0" lvl="0" marL="0" rtl="0" algn="l">
              <a:lnSpc>
                <a:spcPct val="115000"/>
              </a:lnSpc>
              <a:spcBef>
                <a:spcPts val="1200"/>
              </a:spcBef>
              <a:spcAft>
                <a:spcPts val="0"/>
              </a:spcAft>
              <a:buSzPts val="1800"/>
              <a:buNone/>
            </a:pPr>
            <a:r>
              <a:rPr lang="en" sz="1900"/>
              <a:t>Truely, you can WORK without it at your </a:t>
            </a:r>
            <a:endParaRPr sz="1900"/>
          </a:p>
          <a:p>
            <a:pPr indent="0" lvl="0" marL="0" rtl="0" algn="l">
              <a:lnSpc>
                <a:spcPct val="115000"/>
              </a:lnSpc>
              <a:spcBef>
                <a:spcPts val="1200"/>
              </a:spcBef>
              <a:spcAft>
                <a:spcPts val="0"/>
              </a:spcAft>
              <a:buSzPts val="1800"/>
              <a:buNone/>
            </a:pPr>
            <a:r>
              <a:rPr lang="en" sz="1900"/>
              <a:t>first years of SW Development career!</a:t>
            </a:r>
            <a:endParaRPr sz="1900"/>
          </a:p>
          <a:p>
            <a:pPr indent="0" lvl="0" marL="0" rtl="0" algn="l">
              <a:lnSpc>
                <a:spcPct val="115000"/>
              </a:lnSpc>
              <a:spcBef>
                <a:spcPts val="1200"/>
              </a:spcBef>
              <a:spcAft>
                <a:spcPts val="0"/>
              </a:spcAft>
              <a:buSzPts val="1800"/>
              <a:buNone/>
            </a:pPr>
            <a:r>
              <a:t/>
            </a:r>
            <a:endParaRPr sz="1900"/>
          </a:p>
          <a:p>
            <a:pPr indent="0" lvl="0" marL="0" rtl="0" algn="l">
              <a:lnSpc>
                <a:spcPct val="115000"/>
              </a:lnSpc>
              <a:spcBef>
                <a:spcPts val="1200"/>
              </a:spcBef>
              <a:spcAft>
                <a:spcPts val="1200"/>
              </a:spcAft>
              <a:buSzPts val="1800"/>
              <a:buNone/>
            </a:pPr>
            <a:r>
              <a:rPr b="1" lang="en" sz="2000"/>
              <a:t>BUT you should learn it as: </a:t>
            </a:r>
            <a:endParaRPr b="1"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100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15000"/>
              </a:lnSpc>
              <a:spcBef>
                <a:spcPts val="0"/>
              </a:spcBef>
              <a:spcAft>
                <a:spcPts val="1200"/>
              </a:spcAft>
              <a:buSzPct val="111111"/>
              <a:buNone/>
            </a:pPr>
            <a:r>
              <a:rPr lang="en"/>
              <a:t>Why Should I Learn Patterns? </a:t>
            </a:r>
            <a:endParaRPr/>
          </a:p>
        </p:txBody>
      </p:sp>
      <p:sp>
        <p:nvSpPr>
          <p:cNvPr id="98" name="Google Shape;98;p6"/>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sz="2000"/>
              <a:t>Design patterns are a toolkit of tried and tested solutions to common problems in software design you should be familiar</a:t>
            </a:r>
            <a:endParaRPr sz="2000"/>
          </a:p>
          <a:p>
            <a:pPr indent="-355600" lvl="0" marL="457200" rtl="0" algn="l">
              <a:lnSpc>
                <a:spcPct val="115000"/>
              </a:lnSpc>
              <a:spcBef>
                <a:spcPts val="0"/>
              </a:spcBef>
              <a:spcAft>
                <a:spcPts val="0"/>
              </a:spcAft>
              <a:buSzPts val="2000"/>
              <a:buChar char="●"/>
            </a:pPr>
            <a:r>
              <a:rPr lang="en" sz="2000"/>
              <a:t>Design patterns define a common language that you and your teammates can use to communicate more efficiently</a:t>
            </a:r>
            <a:endParaRPr sz="2000"/>
          </a:p>
          <a:p>
            <a:pPr indent="0" lvl="0" marL="457200" rtl="0" algn="l">
              <a:lnSpc>
                <a:spcPct val="115000"/>
              </a:lnSpc>
              <a:spcBef>
                <a:spcPts val="1200"/>
              </a:spcBef>
              <a:spcAft>
                <a:spcPts val="0"/>
              </a:spcAft>
              <a:buSzPts val="1800"/>
              <a:buNone/>
            </a:pPr>
            <a:r>
              <a:rPr lang="en" sz="2000"/>
              <a:t>I.e Let’s implement Singleton instead of describing what it does</a:t>
            </a:r>
            <a:endParaRPr sz="2000"/>
          </a:p>
          <a:p>
            <a:pPr indent="0" lvl="0" marL="0" rtl="0" algn="l">
              <a:lnSpc>
                <a:spcPct val="115000"/>
              </a:lnSpc>
              <a:spcBef>
                <a:spcPts val="1200"/>
              </a:spcBef>
              <a:spcAft>
                <a:spcPts val="1200"/>
              </a:spcAft>
              <a:buSzPts val="1800"/>
              <a:buNone/>
            </a:pPr>
            <a:r>
              <a:rPr lang="en" sz="2000"/>
              <a:t>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15000"/>
              </a:lnSpc>
              <a:spcBef>
                <a:spcPts val="0"/>
              </a:spcBef>
              <a:spcAft>
                <a:spcPts val="1200"/>
              </a:spcAft>
              <a:buSzPct val="111111"/>
              <a:buNone/>
            </a:pPr>
            <a:r>
              <a:rPr lang="en"/>
              <a:t>Types of Design Patterns</a:t>
            </a:r>
            <a:endParaRPr/>
          </a:p>
        </p:txBody>
      </p:sp>
      <p:sp>
        <p:nvSpPr>
          <p:cNvPr id="104" name="Google Shape;104;p7"/>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100"/>
              <a:t>Pattern consists of:</a:t>
            </a:r>
            <a:endParaRPr sz="2100"/>
          </a:p>
          <a:p>
            <a:pPr indent="-342900" lvl="0" marL="457200" rtl="0" algn="l">
              <a:lnSpc>
                <a:spcPct val="115000"/>
              </a:lnSpc>
              <a:spcBef>
                <a:spcPts val="1200"/>
              </a:spcBef>
              <a:spcAft>
                <a:spcPts val="0"/>
              </a:spcAft>
              <a:buSzPts val="1800"/>
              <a:buChar char="●"/>
            </a:pPr>
            <a:r>
              <a:rPr b="1" lang="en" sz="2000" u="sng"/>
              <a:t>Intent </a:t>
            </a:r>
            <a:r>
              <a:rPr lang="en"/>
              <a:t>of the pattern briefly describes both the problem and the solution. </a:t>
            </a:r>
            <a:endParaRPr/>
          </a:p>
          <a:p>
            <a:pPr indent="-342900" lvl="0" marL="457200" rtl="0" algn="l">
              <a:lnSpc>
                <a:spcPct val="115000"/>
              </a:lnSpc>
              <a:spcBef>
                <a:spcPts val="0"/>
              </a:spcBef>
              <a:spcAft>
                <a:spcPts val="0"/>
              </a:spcAft>
              <a:buSzPts val="1800"/>
              <a:buChar char="●"/>
            </a:pPr>
            <a:r>
              <a:rPr b="1" lang="en" sz="2000" u="sng"/>
              <a:t>Motivation</a:t>
            </a:r>
            <a:r>
              <a:rPr lang="en"/>
              <a:t> further explains the problem and the solution the pattern makes possible. </a:t>
            </a:r>
            <a:endParaRPr/>
          </a:p>
          <a:p>
            <a:pPr indent="-342900" lvl="0" marL="457200" rtl="0" algn="l">
              <a:lnSpc>
                <a:spcPct val="115000"/>
              </a:lnSpc>
              <a:spcBef>
                <a:spcPts val="0"/>
              </a:spcBef>
              <a:spcAft>
                <a:spcPts val="0"/>
              </a:spcAft>
              <a:buSzPts val="1800"/>
              <a:buChar char="●"/>
            </a:pPr>
            <a:r>
              <a:rPr b="1" lang="en" sz="2000" u="sng"/>
              <a:t>Structure</a:t>
            </a:r>
            <a:r>
              <a:rPr lang="en"/>
              <a:t> shows how the various components (such as classes or objects) in the pattern are related to each other.</a:t>
            </a:r>
            <a:endParaRPr/>
          </a:p>
          <a:p>
            <a:pPr indent="-342900" lvl="0" marL="457200" rtl="0" algn="l">
              <a:lnSpc>
                <a:spcPct val="115000"/>
              </a:lnSpc>
              <a:spcBef>
                <a:spcPts val="0"/>
              </a:spcBef>
              <a:spcAft>
                <a:spcPts val="0"/>
              </a:spcAft>
              <a:buSzPts val="1800"/>
              <a:buChar char="●"/>
            </a:pPr>
            <a:r>
              <a:rPr b="1" lang="en" sz="2000" u="sng"/>
              <a:t>Code example</a:t>
            </a:r>
            <a:r>
              <a:rPr lang="en"/>
              <a:t> in one of the popular programming languages makes it easier to grasp the idea behind the pattern.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15000"/>
              </a:lnSpc>
              <a:spcBef>
                <a:spcPts val="0"/>
              </a:spcBef>
              <a:spcAft>
                <a:spcPts val="1200"/>
              </a:spcAft>
              <a:buSzPct val="111111"/>
              <a:buNone/>
            </a:pPr>
            <a:r>
              <a:rPr lang="en"/>
              <a:t>Types of Design Patterns</a:t>
            </a:r>
            <a:endParaRPr/>
          </a:p>
        </p:txBody>
      </p:sp>
      <p:sp>
        <p:nvSpPr>
          <p:cNvPr id="110" name="Google Shape;110;p8"/>
          <p:cNvSpPr txBox="1"/>
          <p:nvPr>
            <p:ph idx="1" type="body"/>
          </p:nvPr>
        </p:nvSpPr>
        <p:spPr>
          <a:xfrm>
            <a:off x="387900" y="1489825"/>
            <a:ext cx="8368200" cy="346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2000"/>
              <a:t>Creational:</a:t>
            </a:r>
            <a:endParaRPr b="1" sz="2000"/>
          </a:p>
          <a:p>
            <a:pPr indent="-355600" lvl="0" marL="457200" rtl="0" algn="l">
              <a:lnSpc>
                <a:spcPct val="115000"/>
              </a:lnSpc>
              <a:spcBef>
                <a:spcPts val="1200"/>
              </a:spcBef>
              <a:spcAft>
                <a:spcPts val="0"/>
              </a:spcAft>
              <a:buSzPts val="2000"/>
              <a:buChar char="●"/>
            </a:pPr>
            <a:r>
              <a:rPr lang="en" sz="2000"/>
              <a:t>Objects creation mechanisms</a:t>
            </a:r>
            <a:endParaRPr sz="2000"/>
          </a:p>
          <a:p>
            <a:pPr indent="0" lvl="0" marL="0" rtl="0" algn="l">
              <a:lnSpc>
                <a:spcPct val="115000"/>
              </a:lnSpc>
              <a:spcBef>
                <a:spcPts val="1200"/>
              </a:spcBef>
              <a:spcAft>
                <a:spcPts val="0"/>
              </a:spcAft>
              <a:buSzPts val="1800"/>
              <a:buNone/>
            </a:pPr>
            <a:r>
              <a:rPr b="1" lang="en" sz="2000"/>
              <a:t>Structural:</a:t>
            </a:r>
            <a:endParaRPr b="1" sz="2000"/>
          </a:p>
          <a:p>
            <a:pPr indent="-355600" lvl="0" marL="457200" rtl="0" algn="l">
              <a:lnSpc>
                <a:spcPct val="115000"/>
              </a:lnSpc>
              <a:spcBef>
                <a:spcPts val="1200"/>
              </a:spcBef>
              <a:spcAft>
                <a:spcPts val="0"/>
              </a:spcAft>
              <a:buSzPts val="2000"/>
              <a:buChar char="●"/>
            </a:pPr>
            <a:r>
              <a:rPr lang="en" sz="2000"/>
              <a:t>Objects assemble in large structures</a:t>
            </a:r>
            <a:endParaRPr sz="2000"/>
          </a:p>
          <a:p>
            <a:pPr indent="0" lvl="0" marL="0" rtl="0" algn="l">
              <a:lnSpc>
                <a:spcPct val="115000"/>
              </a:lnSpc>
              <a:spcBef>
                <a:spcPts val="1200"/>
              </a:spcBef>
              <a:spcAft>
                <a:spcPts val="0"/>
              </a:spcAft>
              <a:buSzPts val="1800"/>
              <a:buNone/>
            </a:pPr>
            <a:r>
              <a:rPr b="1" lang="en" sz="2000"/>
              <a:t>Behavioral:</a:t>
            </a:r>
            <a:endParaRPr b="1" sz="2000"/>
          </a:p>
          <a:p>
            <a:pPr indent="-355600" lvl="0" marL="457200" rtl="0" algn="l">
              <a:lnSpc>
                <a:spcPct val="115000"/>
              </a:lnSpc>
              <a:spcBef>
                <a:spcPts val="1200"/>
              </a:spcBef>
              <a:spcAft>
                <a:spcPts val="0"/>
              </a:spcAft>
              <a:buSzPts val="2000"/>
              <a:buChar char="●"/>
            </a:pPr>
            <a:r>
              <a:rPr lang="en" sz="2000"/>
              <a:t>Objects communication effectively</a:t>
            </a:r>
            <a:endParaRPr sz="2000"/>
          </a:p>
        </p:txBody>
      </p:sp>
      <p:pic>
        <p:nvPicPr>
          <p:cNvPr id="111" name="Google Shape;111;p8"/>
          <p:cNvPicPr preferRelativeResize="0"/>
          <p:nvPr/>
        </p:nvPicPr>
        <p:blipFill rotWithShape="1">
          <a:blip r:embed="rId3">
            <a:alphaModFix/>
          </a:blip>
          <a:srcRect b="0" l="0" r="0" t="0"/>
          <a:stretch/>
        </p:blipFill>
        <p:spPr>
          <a:xfrm>
            <a:off x="5766325" y="1489813"/>
            <a:ext cx="2381250" cy="2981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15000"/>
              </a:lnSpc>
              <a:spcBef>
                <a:spcPts val="0"/>
              </a:spcBef>
              <a:spcAft>
                <a:spcPts val="1200"/>
              </a:spcAft>
              <a:buSzPct val="111111"/>
              <a:buNone/>
            </a:pPr>
            <a:r>
              <a:rPr lang="en"/>
              <a:t>Prerequisites for Learning Design Patterns</a:t>
            </a:r>
            <a:endParaRPr/>
          </a:p>
        </p:txBody>
      </p:sp>
      <p:sp>
        <p:nvSpPr>
          <p:cNvPr id="117" name="Google Shape;117;p9"/>
          <p:cNvSpPr txBox="1"/>
          <p:nvPr>
            <p:ph idx="1" type="body"/>
          </p:nvPr>
        </p:nvSpPr>
        <p:spPr>
          <a:xfrm>
            <a:off x="387900" y="1489825"/>
            <a:ext cx="8368200" cy="346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200"/>
              <a:t>Since Design Patterns deals with Objects and the best way they are designed and structured!</a:t>
            </a:r>
            <a:endParaRPr sz="2200"/>
          </a:p>
          <a:p>
            <a:pPr indent="0" lvl="0" marL="0" rtl="0" algn="l">
              <a:lnSpc>
                <a:spcPct val="115000"/>
              </a:lnSpc>
              <a:spcBef>
                <a:spcPts val="1200"/>
              </a:spcBef>
              <a:spcAft>
                <a:spcPts val="0"/>
              </a:spcAft>
              <a:buSzPts val="1800"/>
              <a:buNone/>
            </a:pPr>
            <a:r>
              <a:rPr lang="en" sz="2200"/>
              <a:t>We need to learn/remember very well:</a:t>
            </a:r>
            <a:endParaRPr sz="2200"/>
          </a:p>
          <a:p>
            <a:pPr indent="-368300" lvl="0" marL="457200" rtl="0" algn="l">
              <a:lnSpc>
                <a:spcPct val="115000"/>
              </a:lnSpc>
              <a:spcBef>
                <a:spcPts val="1200"/>
              </a:spcBef>
              <a:spcAft>
                <a:spcPts val="0"/>
              </a:spcAft>
              <a:buSzPts val="2200"/>
              <a:buChar char="●"/>
            </a:pPr>
            <a:r>
              <a:rPr lang="en" sz="2200"/>
              <a:t>OOP (Object Oriented Programming)</a:t>
            </a:r>
            <a:endParaRPr sz="2200"/>
          </a:p>
          <a:p>
            <a:pPr indent="-368300" lvl="0" marL="457200" rtl="0" algn="l">
              <a:lnSpc>
                <a:spcPct val="115000"/>
              </a:lnSpc>
              <a:spcBef>
                <a:spcPts val="0"/>
              </a:spcBef>
              <a:spcAft>
                <a:spcPts val="0"/>
              </a:spcAft>
              <a:buSzPts val="2200"/>
              <a:buChar char="●"/>
            </a:pPr>
            <a:r>
              <a:rPr lang="en" sz="2200"/>
              <a:t>Software Design Principles</a:t>
            </a:r>
            <a:endParaRPr sz="2200"/>
          </a:p>
          <a:p>
            <a:pPr indent="-368300" lvl="0" marL="457200" rtl="0" algn="l">
              <a:lnSpc>
                <a:spcPct val="115000"/>
              </a:lnSpc>
              <a:spcBef>
                <a:spcPts val="0"/>
              </a:spcBef>
              <a:spcAft>
                <a:spcPts val="0"/>
              </a:spcAft>
              <a:buSzPts val="2200"/>
              <a:buChar char="●"/>
            </a:pPr>
            <a:r>
              <a:rPr lang="en" sz="2200"/>
              <a:t>SOLID Principles</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Basics of OOP</a:t>
            </a:r>
            <a:endParaRPr/>
          </a:p>
        </p:txBody>
      </p:sp>
      <p:sp>
        <p:nvSpPr>
          <p:cNvPr id="123" name="Google Shape;123;p10"/>
          <p:cNvSpPr txBox="1"/>
          <p:nvPr>
            <p:ph idx="1" type="body"/>
          </p:nvPr>
        </p:nvSpPr>
        <p:spPr>
          <a:xfrm>
            <a:off x="387900" y="1502150"/>
            <a:ext cx="8503800" cy="33156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t/>
            </a:r>
            <a:endParaRPr/>
          </a:p>
          <a:p>
            <a:pPr indent="0" lvl="0" marL="0" rtl="0" algn="l">
              <a:lnSpc>
                <a:spcPct val="115000"/>
              </a:lnSpc>
              <a:spcBef>
                <a:spcPts val="1200"/>
              </a:spcBef>
              <a:spcAft>
                <a:spcPts val="0"/>
              </a:spcAft>
              <a:buSzPct val="108108"/>
              <a:buNone/>
            </a:pPr>
            <a:r>
              <a:t/>
            </a:r>
            <a:endParaRPr/>
          </a:p>
          <a:p>
            <a:pPr indent="0" lvl="0" marL="0" rtl="0" algn="l">
              <a:lnSpc>
                <a:spcPct val="115000"/>
              </a:lnSpc>
              <a:spcBef>
                <a:spcPts val="1200"/>
              </a:spcBef>
              <a:spcAft>
                <a:spcPts val="0"/>
              </a:spcAft>
              <a:buSzPct val="108108"/>
              <a:buNone/>
            </a:pPr>
            <a:r>
              <a:t/>
            </a:r>
            <a:endParaRPr/>
          </a:p>
          <a:p>
            <a:pPr indent="0" lvl="0" marL="0" rtl="0" algn="l">
              <a:lnSpc>
                <a:spcPct val="115000"/>
              </a:lnSpc>
              <a:spcBef>
                <a:spcPts val="1200"/>
              </a:spcBef>
              <a:spcAft>
                <a:spcPts val="0"/>
              </a:spcAft>
              <a:buSzPct val="108108"/>
              <a:buNone/>
            </a:pPr>
            <a:r>
              <a:t/>
            </a:r>
            <a:endParaRPr/>
          </a:p>
          <a:p>
            <a:pPr indent="0" lvl="0" marL="0" rtl="0" algn="l">
              <a:lnSpc>
                <a:spcPct val="115000"/>
              </a:lnSpc>
              <a:spcBef>
                <a:spcPts val="1200"/>
              </a:spcBef>
              <a:spcAft>
                <a:spcPts val="0"/>
              </a:spcAft>
              <a:buSzPct val="108108"/>
              <a:buNone/>
            </a:pPr>
            <a:r>
              <a:t/>
            </a:r>
            <a:endParaRPr/>
          </a:p>
          <a:p>
            <a:pPr indent="0" lvl="0" marL="0" rtl="0" algn="l">
              <a:lnSpc>
                <a:spcPct val="115000"/>
              </a:lnSpc>
              <a:spcBef>
                <a:spcPts val="1200"/>
              </a:spcBef>
              <a:spcAft>
                <a:spcPts val="0"/>
              </a:spcAft>
              <a:buSzPct val="108108"/>
              <a:buNone/>
            </a:pPr>
            <a:r>
              <a:rPr lang="en"/>
              <a:t>		</a:t>
            </a:r>
            <a:endParaRPr/>
          </a:p>
          <a:p>
            <a:pPr indent="457200" lvl="0" marL="0" rtl="0" algn="l">
              <a:lnSpc>
                <a:spcPct val="115000"/>
              </a:lnSpc>
              <a:spcBef>
                <a:spcPts val="1200"/>
              </a:spcBef>
              <a:spcAft>
                <a:spcPts val="1200"/>
              </a:spcAft>
              <a:buSzPct val="108108"/>
              <a:buNone/>
            </a:pPr>
            <a:r>
              <a:rPr lang="en"/>
              <a:t>Classes -&gt; Abstract Contract				Objects -&gt; Instance	</a:t>
            </a:r>
            <a:endParaRPr/>
          </a:p>
        </p:txBody>
      </p:sp>
      <p:pic>
        <p:nvPicPr>
          <p:cNvPr id="124" name="Google Shape;124;p10"/>
          <p:cNvPicPr preferRelativeResize="0"/>
          <p:nvPr/>
        </p:nvPicPr>
        <p:blipFill rotWithShape="1">
          <a:blip r:embed="rId3">
            <a:alphaModFix/>
          </a:blip>
          <a:srcRect b="0" l="0" r="0" t="0"/>
          <a:stretch/>
        </p:blipFill>
        <p:spPr>
          <a:xfrm>
            <a:off x="387900" y="1037643"/>
            <a:ext cx="3986581" cy="2897800"/>
          </a:xfrm>
          <a:prstGeom prst="rect">
            <a:avLst/>
          </a:prstGeom>
          <a:noFill/>
          <a:ln>
            <a:noFill/>
          </a:ln>
        </p:spPr>
      </p:pic>
      <p:pic>
        <p:nvPicPr>
          <p:cNvPr id="125" name="Google Shape;125;p10"/>
          <p:cNvPicPr preferRelativeResize="0"/>
          <p:nvPr/>
        </p:nvPicPr>
        <p:blipFill rotWithShape="1">
          <a:blip r:embed="rId4">
            <a:alphaModFix/>
          </a:blip>
          <a:srcRect b="0" l="0" r="0" t="0"/>
          <a:stretch/>
        </p:blipFill>
        <p:spPr>
          <a:xfrm>
            <a:off x="4896025" y="1037643"/>
            <a:ext cx="3474130" cy="2897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Class hierarchies </a:t>
            </a:r>
            <a:endParaRPr/>
          </a:p>
        </p:txBody>
      </p:sp>
      <p:sp>
        <p:nvSpPr>
          <p:cNvPr id="131" name="Google Shape;131;p1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000"/>
              <a:t>Superclass (Parent class)</a:t>
            </a:r>
            <a:endParaRPr sz="2000"/>
          </a:p>
          <a:p>
            <a:pPr indent="-355600" lvl="0" marL="457200" rtl="0" algn="l">
              <a:lnSpc>
                <a:spcPct val="115000"/>
              </a:lnSpc>
              <a:spcBef>
                <a:spcPts val="1200"/>
              </a:spcBef>
              <a:spcAft>
                <a:spcPts val="0"/>
              </a:spcAft>
              <a:buSzPts val="2000"/>
              <a:buChar char="-"/>
            </a:pPr>
            <a:r>
              <a:rPr lang="en" sz="2000"/>
              <a:t>Subclasses (Child/Derived class)</a:t>
            </a:r>
            <a:endParaRPr sz="2000"/>
          </a:p>
          <a:p>
            <a:pPr indent="0" lvl="0" marL="914400" rtl="0" algn="l">
              <a:lnSpc>
                <a:spcPct val="115000"/>
              </a:lnSpc>
              <a:spcBef>
                <a:spcPts val="1200"/>
              </a:spcBef>
              <a:spcAft>
                <a:spcPts val="0"/>
              </a:spcAft>
              <a:buSzPts val="1800"/>
              <a:buNone/>
            </a:pPr>
            <a:r>
              <a:t/>
            </a:r>
            <a:endParaRPr sz="2000"/>
          </a:p>
          <a:p>
            <a:pPr indent="0" lvl="0" marL="914400" rtl="0" algn="l">
              <a:lnSpc>
                <a:spcPct val="115000"/>
              </a:lnSpc>
              <a:spcBef>
                <a:spcPts val="1200"/>
              </a:spcBef>
              <a:spcAft>
                <a:spcPts val="1200"/>
              </a:spcAft>
              <a:buSzPts val="1800"/>
              <a:buNone/>
            </a:pPr>
            <a:r>
              <a:t/>
            </a:r>
            <a:endParaRPr/>
          </a:p>
        </p:txBody>
      </p:sp>
      <p:pic>
        <p:nvPicPr>
          <p:cNvPr id="132" name="Google Shape;132;p11"/>
          <p:cNvPicPr preferRelativeResize="0"/>
          <p:nvPr/>
        </p:nvPicPr>
        <p:blipFill rotWithShape="1">
          <a:blip r:embed="rId3">
            <a:alphaModFix/>
          </a:blip>
          <a:srcRect b="0" l="0" r="0" t="0"/>
          <a:stretch/>
        </p:blipFill>
        <p:spPr>
          <a:xfrm>
            <a:off x="4731447" y="975547"/>
            <a:ext cx="3728675" cy="3699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Pillars of OOP </a:t>
            </a:r>
            <a:endParaRPr/>
          </a:p>
        </p:txBody>
      </p:sp>
      <p:pic>
        <p:nvPicPr>
          <p:cNvPr id="138" name="Google Shape;138;p12"/>
          <p:cNvPicPr preferRelativeResize="0"/>
          <p:nvPr/>
        </p:nvPicPr>
        <p:blipFill rotWithShape="1">
          <a:blip r:embed="rId3">
            <a:alphaModFix/>
          </a:blip>
          <a:srcRect b="0" l="0" r="0" t="0"/>
          <a:stretch/>
        </p:blipFill>
        <p:spPr>
          <a:xfrm>
            <a:off x="1538625" y="1519426"/>
            <a:ext cx="5893101" cy="3019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Pillar 1: Abstraction</a:t>
            </a:r>
            <a:endParaRPr/>
          </a:p>
        </p:txBody>
      </p:sp>
      <p:sp>
        <p:nvSpPr>
          <p:cNvPr id="144" name="Google Shape;144;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100"/>
              <a:t>It is model of an Object </a:t>
            </a:r>
            <a:endParaRPr sz="2100"/>
          </a:p>
          <a:p>
            <a:pPr indent="0" lvl="0" marL="0" rtl="0" algn="l">
              <a:lnSpc>
                <a:spcPct val="115000"/>
              </a:lnSpc>
              <a:spcBef>
                <a:spcPts val="1200"/>
              </a:spcBef>
              <a:spcAft>
                <a:spcPts val="1200"/>
              </a:spcAft>
              <a:buSzPts val="1800"/>
              <a:buNone/>
            </a:pPr>
            <a:r>
              <a:rPr lang="en" sz="2100"/>
              <a:t>limited to Specific </a:t>
            </a:r>
            <a:r>
              <a:rPr b="1" lang="en" sz="2100" u="sng"/>
              <a:t>context</a:t>
            </a:r>
            <a:r>
              <a:rPr lang="en" sz="2100"/>
              <a:t>.</a:t>
            </a:r>
            <a:endParaRPr sz="2100"/>
          </a:p>
        </p:txBody>
      </p:sp>
      <p:pic>
        <p:nvPicPr>
          <p:cNvPr id="145" name="Google Shape;145;p13"/>
          <p:cNvPicPr preferRelativeResize="0"/>
          <p:nvPr/>
        </p:nvPicPr>
        <p:blipFill rotWithShape="1">
          <a:blip r:embed="rId3">
            <a:alphaModFix/>
          </a:blip>
          <a:srcRect b="0" l="0" r="0" t="0"/>
          <a:stretch/>
        </p:blipFill>
        <p:spPr>
          <a:xfrm>
            <a:off x="4222200" y="1212150"/>
            <a:ext cx="4533900" cy="3409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Pillar 2: Encapsulation</a:t>
            </a:r>
            <a:endParaRPr/>
          </a:p>
        </p:txBody>
      </p:sp>
      <p:sp>
        <p:nvSpPr>
          <p:cNvPr id="151" name="Google Shape;151;p14"/>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2100"/>
              <a:t>Hide the details of implementation. Just give interface to what are needed. </a:t>
            </a:r>
            <a:endParaRPr sz="2100"/>
          </a:p>
        </p:txBody>
      </p:sp>
      <p:pic>
        <p:nvPicPr>
          <p:cNvPr id="152" name="Google Shape;152;p14"/>
          <p:cNvPicPr preferRelativeResize="0"/>
          <p:nvPr/>
        </p:nvPicPr>
        <p:blipFill rotWithShape="1">
          <a:blip r:embed="rId3">
            <a:alphaModFix/>
          </a:blip>
          <a:srcRect b="0" l="0" r="0" t="0"/>
          <a:stretch/>
        </p:blipFill>
        <p:spPr>
          <a:xfrm>
            <a:off x="1916550" y="2324913"/>
            <a:ext cx="5048250" cy="2352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Pillar 3: Inheritance</a:t>
            </a:r>
            <a:endParaRPr/>
          </a:p>
        </p:txBody>
      </p:sp>
      <p:sp>
        <p:nvSpPr>
          <p:cNvPr id="158" name="Google Shape;158;p1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b="1" lang="en" sz="2200" u="sng"/>
              <a:t>Inheritance </a:t>
            </a:r>
            <a:r>
              <a:rPr lang="en" sz="2100"/>
              <a:t>is the ability to build new classes (child classes) on top of existing ones (parent classes). The main benefit of inheritance is code reuse.</a:t>
            </a:r>
            <a:endParaRPr sz="2100"/>
          </a:p>
          <a:p>
            <a:pPr indent="0" lvl="0" marL="0" rtl="0" algn="l">
              <a:lnSpc>
                <a:spcPct val="100000"/>
              </a:lnSpc>
              <a:spcBef>
                <a:spcPts val="0"/>
              </a:spcBef>
              <a:spcAft>
                <a:spcPts val="0"/>
              </a:spcAft>
              <a:buSzPts val="1800"/>
              <a:buNone/>
            </a:pPr>
            <a:r>
              <a:rPr lang="en" sz="2100"/>
              <a:t>BUT, the problem with it, is that subclasses have the same interface as their parent class. SO, you must also implement all abstract methods, even if they don’t make sense.</a:t>
            </a:r>
            <a:endParaRPr sz="2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Pillar 4: Polymorphism</a:t>
            </a:r>
            <a:endParaRPr/>
          </a:p>
        </p:txBody>
      </p:sp>
      <p:sp>
        <p:nvSpPr>
          <p:cNvPr id="164" name="Google Shape;164;p16"/>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2200" u="sng"/>
              <a:t>Polymorphism:</a:t>
            </a:r>
            <a:r>
              <a:rPr lang="en" sz="3000">
                <a:latin typeface="Roboto Slab"/>
                <a:ea typeface="Roboto Slab"/>
                <a:cs typeface="Roboto Slab"/>
                <a:sym typeface="Roboto Slab"/>
              </a:rPr>
              <a:t> </a:t>
            </a:r>
            <a:r>
              <a:rPr lang="en" sz="2200"/>
              <a:t>It is an ability of </a:t>
            </a:r>
            <a:endParaRPr sz="2200"/>
          </a:p>
          <a:p>
            <a:pPr indent="0" lvl="0" marL="0" rtl="0" algn="l">
              <a:lnSpc>
                <a:spcPct val="115000"/>
              </a:lnSpc>
              <a:spcBef>
                <a:spcPts val="1200"/>
              </a:spcBef>
              <a:spcAft>
                <a:spcPts val="0"/>
              </a:spcAft>
              <a:buSzPts val="1800"/>
              <a:buNone/>
            </a:pPr>
            <a:r>
              <a:rPr lang="en" sz="2200"/>
              <a:t>object to behave in multiple</a:t>
            </a:r>
            <a:endParaRPr sz="2200"/>
          </a:p>
          <a:p>
            <a:pPr indent="0" lvl="0" marL="0" rtl="0" algn="l">
              <a:lnSpc>
                <a:spcPct val="115000"/>
              </a:lnSpc>
              <a:spcBef>
                <a:spcPts val="1200"/>
              </a:spcBef>
              <a:spcAft>
                <a:spcPts val="0"/>
              </a:spcAft>
              <a:buSzPts val="1800"/>
              <a:buNone/>
            </a:pPr>
            <a:r>
              <a:rPr lang="en" sz="2200"/>
              <a:t>form. It allows us to perform </a:t>
            </a:r>
            <a:endParaRPr sz="2200"/>
          </a:p>
          <a:p>
            <a:pPr indent="0" lvl="0" marL="0" rtl="0" algn="l">
              <a:lnSpc>
                <a:spcPct val="115000"/>
              </a:lnSpc>
              <a:spcBef>
                <a:spcPts val="1200"/>
              </a:spcBef>
              <a:spcAft>
                <a:spcPts val="1200"/>
              </a:spcAft>
              <a:buSzPts val="1800"/>
              <a:buNone/>
            </a:pPr>
            <a:r>
              <a:rPr lang="en" sz="2200"/>
              <a:t>a single action in different ways.</a:t>
            </a:r>
            <a:endParaRPr sz="2200"/>
          </a:p>
        </p:txBody>
      </p:sp>
      <p:pic>
        <p:nvPicPr>
          <p:cNvPr id="165" name="Google Shape;165;p16"/>
          <p:cNvPicPr preferRelativeResize="0"/>
          <p:nvPr/>
        </p:nvPicPr>
        <p:blipFill rotWithShape="1">
          <a:blip r:embed="rId3">
            <a:alphaModFix/>
          </a:blip>
          <a:srcRect b="0" l="0" r="0" t="0"/>
          <a:stretch/>
        </p:blipFill>
        <p:spPr>
          <a:xfrm>
            <a:off x="5020338" y="1489813"/>
            <a:ext cx="3667125" cy="3209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Relations Between Objects </a:t>
            </a:r>
            <a:endParaRPr/>
          </a:p>
        </p:txBody>
      </p:sp>
      <p:sp>
        <p:nvSpPr>
          <p:cNvPr id="171" name="Google Shape;171;p17"/>
          <p:cNvSpPr txBox="1"/>
          <p:nvPr>
            <p:ph idx="1" type="body"/>
          </p:nvPr>
        </p:nvSpPr>
        <p:spPr>
          <a:xfrm>
            <a:off x="270000" y="1489825"/>
            <a:ext cx="5587500" cy="346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770"/>
              <a:buNone/>
            </a:pPr>
            <a:r>
              <a:rPr lang="en" sz="1660"/>
              <a:t>• </a:t>
            </a:r>
            <a:r>
              <a:rPr lang="en" sz="2080" u="sng"/>
              <a:t>Dependency</a:t>
            </a:r>
            <a:r>
              <a:rPr lang="en" sz="1660"/>
              <a:t>: Class А can be affected by changes in class B. (Car &amp; Fuel Type)</a:t>
            </a:r>
            <a:endParaRPr sz="1660"/>
          </a:p>
          <a:p>
            <a:pPr indent="0" lvl="0" marL="0" rtl="0" algn="l">
              <a:lnSpc>
                <a:spcPct val="115000"/>
              </a:lnSpc>
              <a:spcBef>
                <a:spcPts val="1200"/>
              </a:spcBef>
              <a:spcAft>
                <a:spcPts val="0"/>
              </a:spcAft>
              <a:buSzPts val="770"/>
              <a:buNone/>
            </a:pPr>
            <a:r>
              <a:rPr lang="en" sz="1660"/>
              <a:t>• </a:t>
            </a:r>
            <a:r>
              <a:rPr lang="en" sz="2080" u="sng"/>
              <a:t>Association</a:t>
            </a:r>
            <a:r>
              <a:rPr lang="en" sz="1660"/>
              <a:t>: Object А knows about object B. Class A depends on B. (Car &amp; Driver)</a:t>
            </a:r>
            <a:endParaRPr sz="1660"/>
          </a:p>
          <a:p>
            <a:pPr indent="0" lvl="0" marL="0" rtl="0" algn="l">
              <a:lnSpc>
                <a:spcPct val="115000"/>
              </a:lnSpc>
              <a:spcBef>
                <a:spcPts val="1200"/>
              </a:spcBef>
              <a:spcAft>
                <a:spcPts val="0"/>
              </a:spcAft>
              <a:buSzPts val="770"/>
              <a:buNone/>
            </a:pPr>
            <a:r>
              <a:rPr lang="en" sz="1660"/>
              <a:t>• </a:t>
            </a:r>
            <a:r>
              <a:rPr lang="en" sz="2080" u="sng"/>
              <a:t>Aggregation:</a:t>
            </a:r>
            <a:r>
              <a:rPr lang="en" sz="1660"/>
              <a:t> Object А knows about object B, and consists of B. Class A depends on B. (Library &amp; Books)</a:t>
            </a:r>
            <a:endParaRPr sz="1660"/>
          </a:p>
          <a:p>
            <a:pPr indent="0" lvl="0" marL="0" rtl="0" algn="l">
              <a:lnSpc>
                <a:spcPct val="115000"/>
              </a:lnSpc>
              <a:spcBef>
                <a:spcPts val="1200"/>
              </a:spcBef>
              <a:spcAft>
                <a:spcPts val="1200"/>
              </a:spcAft>
              <a:buSzPts val="770"/>
              <a:buNone/>
            </a:pPr>
            <a:r>
              <a:rPr lang="en" sz="1660"/>
              <a:t>• </a:t>
            </a:r>
            <a:r>
              <a:rPr lang="en" sz="2080" u="sng"/>
              <a:t>Composition</a:t>
            </a:r>
            <a:r>
              <a:rPr lang="en" sz="1660"/>
              <a:t>: Ob</a:t>
            </a:r>
            <a:r>
              <a:rPr lang="en" sz="1660"/>
              <a:t>ject А knows about object B, consists of B, and manages B’s life cycle. Class A depends on B. (Car &amp; Car Body)</a:t>
            </a:r>
            <a:endParaRPr sz="1660"/>
          </a:p>
        </p:txBody>
      </p:sp>
      <p:pic>
        <p:nvPicPr>
          <p:cNvPr id="172" name="Google Shape;172;p17"/>
          <p:cNvPicPr preferRelativeResize="0"/>
          <p:nvPr/>
        </p:nvPicPr>
        <p:blipFill rotWithShape="1">
          <a:blip r:embed="rId3">
            <a:alphaModFix/>
          </a:blip>
          <a:srcRect b="0" l="0" r="0" t="0"/>
          <a:stretch/>
        </p:blipFill>
        <p:spPr>
          <a:xfrm>
            <a:off x="5949650" y="1489825"/>
            <a:ext cx="2934787" cy="899750"/>
          </a:xfrm>
          <a:prstGeom prst="rect">
            <a:avLst/>
          </a:prstGeom>
          <a:noFill/>
          <a:ln>
            <a:noFill/>
          </a:ln>
        </p:spPr>
      </p:pic>
      <p:pic>
        <p:nvPicPr>
          <p:cNvPr id="173" name="Google Shape;173;p17"/>
          <p:cNvPicPr preferRelativeResize="0"/>
          <p:nvPr/>
        </p:nvPicPr>
        <p:blipFill rotWithShape="1">
          <a:blip r:embed="rId4">
            <a:alphaModFix/>
          </a:blip>
          <a:srcRect b="0" l="0" r="0" t="0"/>
          <a:stretch/>
        </p:blipFill>
        <p:spPr>
          <a:xfrm>
            <a:off x="5949648" y="2389573"/>
            <a:ext cx="2934775" cy="856322"/>
          </a:xfrm>
          <a:prstGeom prst="rect">
            <a:avLst/>
          </a:prstGeom>
          <a:noFill/>
          <a:ln>
            <a:noFill/>
          </a:ln>
        </p:spPr>
      </p:pic>
      <p:pic>
        <p:nvPicPr>
          <p:cNvPr id="174" name="Google Shape;174;p17"/>
          <p:cNvPicPr preferRelativeResize="0"/>
          <p:nvPr/>
        </p:nvPicPr>
        <p:blipFill rotWithShape="1">
          <a:blip r:embed="rId5">
            <a:alphaModFix/>
          </a:blip>
          <a:srcRect b="0" l="0" r="0" t="0"/>
          <a:stretch/>
        </p:blipFill>
        <p:spPr>
          <a:xfrm>
            <a:off x="5949650" y="3212700"/>
            <a:ext cx="2934775" cy="922833"/>
          </a:xfrm>
          <a:prstGeom prst="rect">
            <a:avLst/>
          </a:prstGeom>
          <a:noFill/>
          <a:ln>
            <a:noFill/>
          </a:ln>
        </p:spPr>
      </p:pic>
      <p:pic>
        <p:nvPicPr>
          <p:cNvPr id="175" name="Google Shape;175;p17"/>
          <p:cNvPicPr preferRelativeResize="0"/>
          <p:nvPr/>
        </p:nvPicPr>
        <p:blipFill rotWithShape="1">
          <a:blip r:embed="rId6">
            <a:alphaModFix/>
          </a:blip>
          <a:srcRect b="0" l="0" r="0" t="0"/>
          <a:stretch/>
        </p:blipFill>
        <p:spPr>
          <a:xfrm>
            <a:off x="5948475" y="4095750"/>
            <a:ext cx="2934775" cy="856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Relations Between Objects Cont. </a:t>
            </a:r>
            <a:endParaRPr/>
          </a:p>
        </p:txBody>
      </p:sp>
      <p:sp>
        <p:nvSpPr>
          <p:cNvPr id="181" name="Google Shape;181;p18"/>
          <p:cNvSpPr txBox="1"/>
          <p:nvPr>
            <p:ph idx="1" type="body"/>
          </p:nvPr>
        </p:nvSpPr>
        <p:spPr>
          <a:xfrm>
            <a:off x="387900" y="1489825"/>
            <a:ext cx="4063500" cy="3078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 </a:t>
            </a:r>
            <a:r>
              <a:rPr lang="en" sz="2400" u="sng"/>
              <a:t>Implementation</a:t>
            </a:r>
            <a:r>
              <a:rPr lang="en"/>
              <a:t>: Class А defines methods declared in interface B. Objects A can be treated as B.  Class A depends on B. </a:t>
            </a:r>
            <a:endParaRPr/>
          </a:p>
          <a:p>
            <a:pPr indent="0" lvl="0" marL="0" rtl="0" algn="l">
              <a:lnSpc>
                <a:spcPct val="115000"/>
              </a:lnSpc>
              <a:spcBef>
                <a:spcPts val="1200"/>
              </a:spcBef>
              <a:spcAft>
                <a:spcPts val="1200"/>
              </a:spcAft>
              <a:buSzPts val="1800"/>
              <a:buNone/>
            </a:pPr>
            <a:r>
              <a:rPr lang="en"/>
              <a:t>• </a:t>
            </a:r>
            <a:r>
              <a:rPr lang="en" sz="2400" u="sng"/>
              <a:t>Inheritance</a:t>
            </a:r>
            <a:r>
              <a:rPr lang="en"/>
              <a:t>: Class А inherits interface and implementation of class B but can extend it. Objects A can be treated as B. Class A depends on B.</a:t>
            </a:r>
            <a:endParaRPr/>
          </a:p>
        </p:txBody>
      </p:sp>
      <p:pic>
        <p:nvPicPr>
          <p:cNvPr id="182" name="Google Shape;182;p18"/>
          <p:cNvPicPr preferRelativeResize="0"/>
          <p:nvPr/>
        </p:nvPicPr>
        <p:blipFill rotWithShape="1">
          <a:blip r:embed="rId3">
            <a:alphaModFix/>
          </a:blip>
          <a:srcRect b="0" l="0" r="0" t="0"/>
          <a:stretch/>
        </p:blipFill>
        <p:spPr>
          <a:xfrm>
            <a:off x="4527600" y="1240875"/>
            <a:ext cx="4421125" cy="3502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Software Design Principles</a:t>
            </a:r>
            <a:endParaRPr b="1"/>
          </a:p>
        </p:txBody>
      </p:sp>
      <p:sp>
        <p:nvSpPr>
          <p:cNvPr id="188" name="Google Shape;188;p19"/>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500"/>
              <a:t>Features of Good Design:</a:t>
            </a:r>
            <a:endParaRPr sz="2500"/>
          </a:p>
          <a:p>
            <a:pPr indent="-387350" lvl="0" marL="457200" rtl="0" algn="l">
              <a:lnSpc>
                <a:spcPct val="115000"/>
              </a:lnSpc>
              <a:spcBef>
                <a:spcPts val="1200"/>
              </a:spcBef>
              <a:spcAft>
                <a:spcPts val="0"/>
              </a:spcAft>
              <a:buSzPts val="2500"/>
              <a:buChar char="-"/>
            </a:pPr>
            <a:r>
              <a:rPr lang="en" sz="2500"/>
              <a:t>Code reuse </a:t>
            </a:r>
            <a:endParaRPr sz="2500"/>
          </a:p>
          <a:p>
            <a:pPr indent="-387350" lvl="0" marL="457200" rtl="0" algn="l">
              <a:lnSpc>
                <a:spcPct val="115000"/>
              </a:lnSpc>
              <a:spcBef>
                <a:spcPts val="0"/>
              </a:spcBef>
              <a:spcAft>
                <a:spcPts val="0"/>
              </a:spcAft>
              <a:buSzPts val="2500"/>
              <a:buChar char="-"/>
            </a:pPr>
            <a:r>
              <a:rPr lang="en" sz="2500"/>
              <a:t>Extensibility</a:t>
            </a:r>
            <a:endParaRPr sz="2500"/>
          </a:p>
          <a:p>
            <a:pPr indent="0" lvl="0" marL="0" rtl="0" algn="l">
              <a:lnSpc>
                <a:spcPct val="115000"/>
              </a:lnSpc>
              <a:spcBef>
                <a:spcPts val="1200"/>
              </a:spcBef>
              <a:spcAft>
                <a:spcPts val="1200"/>
              </a:spcAft>
              <a:buSzPts val="1800"/>
              <a:buNone/>
            </a:pPr>
            <a:r>
              <a:t/>
            </a:r>
            <a:endParaRPr/>
          </a:p>
        </p:txBody>
      </p:sp>
      <p:pic>
        <p:nvPicPr>
          <p:cNvPr id="189" name="Google Shape;189;p19"/>
          <p:cNvPicPr preferRelativeResize="0"/>
          <p:nvPr/>
        </p:nvPicPr>
        <p:blipFill rotWithShape="1">
          <a:blip r:embed="rId3">
            <a:alphaModFix/>
          </a:blip>
          <a:srcRect b="0" l="0" r="0" t="0"/>
          <a:stretch/>
        </p:blipFill>
        <p:spPr>
          <a:xfrm>
            <a:off x="4703875" y="1708350"/>
            <a:ext cx="4052225" cy="2641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Features of Good Software Design</a:t>
            </a:r>
            <a:endParaRPr/>
          </a:p>
        </p:txBody>
      </p:sp>
      <p:sp>
        <p:nvSpPr>
          <p:cNvPr id="195" name="Google Shape;195;p20"/>
          <p:cNvSpPr txBox="1"/>
          <p:nvPr>
            <p:ph idx="1" type="body"/>
          </p:nvPr>
        </p:nvSpPr>
        <p:spPr>
          <a:xfrm>
            <a:off x="387900" y="1489825"/>
            <a:ext cx="8368200" cy="3315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84705"/>
              <a:buNone/>
            </a:pPr>
            <a:r>
              <a:rPr b="1" lang="en" sz="2500"/>
              <a:t>1. </a:t>
            </a:r>
            <a:r>
              <a:rPr b="1" lang="en" sz="2500" u="sng"/>
              <a:t>Code Reuse:</a:t>
            </a:r>
            <a:endParaRPr b="1" sz="2500" u="sng"/>
          </a:p>
          <a:p>
            <a:pPr indent="0" lvl="0" marL="0" rtl="0" algn="l">
              <a:lnSpc>
                <a:spcPct val="115000"/>
              </a:lnSpc>
              <a:spcBef>
                <a:spcPts val="1200"/>
              </a:spcBef>
              <a:spcAft>
                <a:spcPts val="0"/>
              </a:spcAft>
              <a:buSzPct val="100030"/>
              <a:buNone/>
            </a:pPr>
            <a:r>
              <a:t/>
            </a:r>
            <a:endParaRPr sz="2117"/>
          </a:p>
          <a:p>
            <a:pPr indent="0" lvl="0" marL="0" rtl="0" algn="l">
              <a:lnSpc>
                <a:spcPct val="115000"/>
              </a:lnSpc>
              <a:spcBef>
                <a:spcPts val="1200"/>
              </a:spcBef>
              <a:spcAft>
                <a:spcPts val="0"/>
              </a:spcAft>
              <a:buSzPct val="100030"/>
              <a:buNone/>
            </a:pPr>
            <a:r>
              <a:t/>
            </a:r>
            <a:endParaRPr sz="2117"/>
          </a:p>
          <a:p>
            <a:pPr indent="0" lvl="0" marL="0" rtl="0" algn="l">
              <a:lnSpc>
                <a:spcPct val="115000"/>
              </a:lnSpc>
              <a:spcBef>
                <a:spcPts val="1200"/>
              </a:spcBef>
              <a:spcAft>
                <a:spcPts val="0"/>
              </a:spcAft>
              <a:buSzPct val="100030"/>
              <a:buNone/>
            </a:pPr>
            <a:r>
              <a:t/>
            </a:r>
            <a:endParaRPr sz="2117"/>
          </a:p>
          <a:p>
            <a:pPr indent="0" lvl="0" marL="0" rtl="0" algn="l">
              <a:lnSpc>
                <a:spcPct val="115000"/>
              </a:lnSpc>
              <a:spcBef>
                <a:spcPts val="1200"/>
              </a:spcBef>
              <a:spcAft>
                <a:spcPts val="0"/>
              </a:spcAft>
              <a:buSzPct val="100030"/>
              <a:buNone/>
            </a:pPr>
            <a:r>
              <a:rPr lang="en" sz="2117"/>
              <a:t>It looks easy right?  BUT, it turns out that making existing/shared code work in a new context usually takes extra effort. WHY?</a:t>
            </a:r>
            <a:endParaRPr sz="2117"/>
          </a:p>
          <a:p>
            <a:pPr indent="0" lvl="0" marL="0" rtl="0" algn="l">
              <a:lnSpc>
                <a:spcPct val="115000"/>
              </a:lnSpc>
              <a:spcBef>
                <a:spcPts val="1200"/>
              </a:spcBef>
              <a:spcAft>
                <a:spcPts val="1200"/>
              </a:spcAft>
              <a:buSzPct val="100030"/>
              <a:buNone/>
            </a:pPr>
            <a:r>
              <a:rPr lang="en" sz="2117"/>
              <a:t>Using design patterns is one way to increase flexibility of software components and make them easier to reuse.</a:t>
            </a:r>
            <a:endParaRPr b="1" sz="2500"/>
          </a:p>
        </p:txBody>
      </p:sp>
      <p:pic>
        <p:nvPicPr>
          <p:cNvPr id="196" name="Google Shape;196;p20"/>
          <p:cNvPicPr preferRelativeResize="0"/>
          <p:nvPr/>
        </p:nvPicPr>
        <p:blipFill rotWithShape="1">
          <a:blip r:embed="rId3">
            <a:alphaModFix/>
          </a:blip>
          <a:srcRect b="0" l="0" r="0" t="0"/>
          <a:stretch/>
        </p:blipFill>
        <p:spPr>
          <a:xfrm>
            <a:off x="3470725" y="1415825"/>
            <a:ext cx="4912525" cy="1860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Features of Good Software Design</a:t>
            </a:r>
            <a:endParaRPr/>
          </a:p>
        </p:txBody>
      </p:sp>
      <p:sp>
        <p:nvSpPr>
          <p:cNvPr id="202" name="Google Shape;202;p2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84705"/>
              <a:buNone/>
            </a:pPr>
            <a:r>
              <a:rPr b="1" lang="en" sz="2500"/>
              <a:t>2. </a:t>
            </a:r>
            <a:r>
              <a:rPr b="1" lang="en" sz="2500" u="sng"/>
              <a:t>Extensibility:</a:t>
            </a:r>
            <a:endParaRPr b="1" sz="2500" u="sng"/>
          </a:p>
          <a:p>
            <a:pPr indent="0" lvl="0" marL="0" rtl="0" algn="l">
              <a:lnSpc>
                <a:spcPct val="115000"/>
              </a:lnSpc>
              <a:spcBef>
                <a:spcPts val="1200"/>
              </a:spcBef>
              <a:spcAft>
                <a:spcPts val="0"/>
              </a:spcAft>
              <a:buSzPct val="105882"/>
              <a:buNone/>
            </a:pPr>
            <a:r>
              <a:rPr b="1" lang="en" sz="2000"/>
              <a:t>Change </a:t>
            </a:r>
            <a:r>
              <a:rPr lang="en" sz="2000"/>
              <a:t>is the only constant thing in a programmer’s life.</a:t>
            </a:r>
            <a:endParaRPr/>
          </a:p>
          <a:p>
            <a:pPr indent="0" lvl="0" marL="0" rtl="0" algn="l">
              <a:lnSpc>
                <a:spcPct val="115000"/>
              </a:lnSpc>
              <a:spcBef>
                <a:spcPts val="1200"/>
              </a:spcBef>
              <a:spcAft>
                <a:spcPts val="0"/>
              </a:spcAft>
              <a:buSzPct val="105882"/>
              <a:buNone/>
            </a:pPr>
            <a:r>
              <a:rPr lang="en" sz="2000"/>
              <a:t>We want to extended our program with new functionality without needing to make significant changes to the existing codebase.</a:t>
            </a:r>
            <a:endParaRPr sz="2000"/>
          </a:p>
          <a:p>
            <a:pPr indent="-342900" lvl="0" marL="457200" rtl="0" algn="l">
              <a:lnSpc>
                <a:spcPct val="115000"/>
              </a:lnSpc>
              <a:spcBef>
                <a:spcPts val="1200"/>
              </a:spcBef>
              <a:spcAft>
                <a:spcPts val="0"/>
              </a:spcAft>
              <a:buSzPct val="117647"/>
              <a:buChar char="-"/>
            </a:pPr>
            <a:r>
              <a:rPr lang="en"/>
              <a:t>Bugs</a:t>
            </a:r>
            <a:endParaRPr/>
          </a:p>
          <a:p>
            <a:pPr indent="-342900" lvl="0" marL="457200" rtl="0" algn="l">
              <a:lnSpc>
                <a:spcPct val="115000"/>
              </a:lnSpc>
              <a:spcBef>
                <a:spcPts val="0"/>
              </a:spcBef>
              <a:spcAft>
                <a:spcPts val="0"/>
              </a:spcAft>
              <a:buSzPct val="117647"/>
              <a:buChar char="-"/>
            </a:pPr>
            <a:r>
              <a:rPr lang="en"/>
              <a:t>New features</a:t>
            </a:r>
            <a:endParaRPr/>
          </a:p>
          <a:p>
            <a:pPr indent="-342900" lvl="0" marL="457200" rtl="0" algn="l">
              <a:lnSpc>
                <a:spcPct val="115000"/>
              </a:lnSpc>
              <a:spcBef>
                <a:spcPts val="0"/>
              </a:spcBef>
              <a:spcAft>
                <a:spcPts val="0"/>
              </a:spcAft>
              <a:buSzPct val="117647"/>
              <a:buChar char="-"/>
            </a:pPr>
            <a:r>
              <a:rPr lang="en"/>
              <a:t>Enhancing old features</a:t>
            </a:r>
            <a:endParaRPr/>
          </a:p>
          <a:p>
            <a:pPr indent="0" lvl="0" marL="0" rtl="0" algn="l">
              <a:lnSpc>
                <a:spcPct val="115000"/>
              </a:lnSpc>
              <a:spcBef>
                <a:spcPts val="1200"/>
              </a:spcBef>
              <a:spcAft>
                <a:spcPts val="1200"/>
              </a:spcAft>
              <a:buSzPct val="117647"/>
              <a:buNone/>
            </a:pPr>
            <a:r>
              <a:rPr lang="en"/>
              <a:t>There’s a bright side: if someone asks you to change something in your app, that means someone still cares about it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a:t>
            </a:r>
            <a:endParaRPr/>
          </a:p>
        </p:txBody>
      </p:sp>
      <p:sp>
        <p:nvSpPr>
          <p:cNvPr id="208" name="Google Shape;208;p22"/>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2500"/>
              <a:t>1. Encapsulate What Varies</a:t>
            </a:r>
            <a:endParaRPr b="1" sz="2500"/>
          </a:p>
          <a:p>
            <a:pPr indent="0" lvl="0" marL="0" rtl="0" algn="l">
              <a:lnSpc>
                <a:spcPct val="115000"/>
              </a:lnSpc>
              <a:spcBef>
                <a:spcPts val="1200"/>
              </a:spcBef>
              <a:spcAft>
                <a:spcPts val="0"/>
              </a:spcAft>
              <a:buSzPts val="1800"/>
              <a:buNone/>
            </a:pPr>
            <a:r>
              <a:t/>
            </a:r>
            <a:endParaRPr sz="2100"/>
          </a:p>
          <a:p>
            <a:pPr indent="0" lvl="0" marL="0" rtl="0" algn="l">
              <a:lnSpc>
                <a:spcPct val="115000"/>
              </a:lnSpc>
              <a:spcBef>
                <a:spcPts val="1200"/>
              </a:spcBef>
              <a:spcAft>
                <a:spcPts val="0"/>
              </a:spcAft>
              <a:buSzPts val="1800"/>
              <a:buNone/>
            </a:pPr>
            <a:r>
              <a:t/>
            </a:r>
            <a:endParaRPr b="1" sz="2500"/>
          </a:p>
          <a:p>
            <a:pPr indent="0" lvl="0" marL="0" rtl="0" algn="l">
              <a:lnSpc>
                <a:spcPct val="115000"/>
              </a:lnSpc>
              <a:spcBef>
                <a:spcPts val="1200"/>
              </a:spcBef>
              <a:spcAft>
                <a:spcPts val="1200"/>
              </a:spcAft>
              <a:buSzPts val="1800"/>
              <a:buNone/>
            </a:pPr>
            <a:r>
              <a:t/>
            </a:r>
            <a:endParaRPr b="1" sz="2500"/>
          </a:p>
        </p:txBody>
      </p:sp>
      <p:sp>
        <p:nvSpPr>
          <p:cNvPr id="209" name="Google Shape;209;p22"/>
          <p:cNvSpPr txBox="1"/>
          <p:nvPr/>
        </p:nvSpPr>
        <p:spPr>
          <a:xfrm>
            <a:off x="1574875" y="2335100"/>
            <a:ext cx="6315000" cy="17301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2100"/>
              <a:buFont typeface="Arial"/>
              <a:buNone/>
            </a:pPr>
            <a:br>
              <a:rPr b="0" i="0" lang="en" sz="2100" u="none" cap="none" strike="noStrike">
                <a:solidFill>
                  <a:schemeClr val="dk1"/>
                </a:solidFill>
                <a:latin typeface="Roboto"/>
                <a:ea typeface="Roboto"/>
                <a:cs typeface="Roboto"/>
                <a:sym typeface="Roboto"/>
              </a:rPr>
            </a:br>
            <a:r>
              <a:rPr b="0" i="0" lang="en" sz="2100" u="none" cap="none" strike="noStrike">
                <a:solidFill>
                  <a:schemeClr val="dk1"/>
                </a:solidFill>
                <a:latin typeface="Roboto"/>
                <a:ea typeface="Roboto"/>
                <a:cs typeface="Roboto"/>
                <a:sym typeface="Roboto"/>
              </a:rPr>
              <a:t>Identify the aspects of your application that vary and separate them from what stays the same.</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a:t>
            </a:r>
            <a:endParaRPr/>
          </a:p>
        </p:txBody>
      </p:sp>
      <p:pic>
        <p:nvPicPr>
          <p:cNvPr id="215" name="Google Shape;215;p23"/>
          <p:cNvPicPr preferRelativeResize="0"/>
          <p:nvPr/>
        </p:nvPicPr>
        <p:blipFill rotWithShape="1">
          <a:blip r:embed="rId3">
            <a:alphaModFix/>
          </a:blip>
          <a:srcRect b="0" l="0" r="0" t="0"/>
          <a:stretch/>
        </p:blipFill>
        <p:spPr>
          <a:xfrm>
            <a:off x="461000" y="1549025"/>
            <a:ext cx="4171950" cy="3133725"/>
          </a:xfrm>
          <a:prstGeom prst="rect">
            <a:avLst/>
          </a:prstGeom>
          <a:noFill/>
          <a:ln>
            <a:noFill/>
          </a:ln>
        </p:spPr>
      </p:pic>
      <p:sp>
        <p:nvSpPr>
          <p:cNvPr id="216" name="Google Shape;216;p23"/>
          <p:cNvSpPr txBox="1"/>
          <p:nvPr/>
        </p:nvSpPr>
        <p:spPr>
          <a:xfrm>
            <a:off x="5835525" y="2436200"/>
            <a:ext cx="2207100" cy="83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What is the problem here?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a:t>
            </a:r>
            <a:endParaRPr/>
          </a:p>
        </p:txBody>
      </p:sp>
      <p:pic>
        <p:nvPicPr>
          <p:cNvPr id="222" name="Google Shape;222;p24"/>
          <p:cNvPicPr preferRelativeResize="0"/>
          <p:nvPr/>
        </p:nvPicPr>
        <p:blipFill rotWithShape="1">
          <a:blip r:embed="rId3">
            <a:alphaModFix/>
          </a:blip>
          <a:srcRect b="0" l="0" r="0" t="0"/>
          <a:stretch/>
        </p:blipFill>
        <p:spPr>
          <a:xfrm>
            <a:off x="461000" y="1464850"/>
            <a:ext cx="3451424" cy="3482250"/>
          </a:xfrm>
          <a:prstGeom prst="rect">
            <a:avLst/>
          </a:prstGeom>
          <a:noFill/>
          <a:ln>
            <a:noFill/>
          </a:ln>
        </p:spPr>
      </p:pic>
      <p:sp>
        <p:nvSpPr>
          <p:cNvPr id="223" name="Google Shape;223;p24"/>
          <p:cNvSpPr txBox="1"/>
          <p:nvPr/>
        </p:nvSpPr>
        <p:spPr>
          <a:xfrm>
            <a:off x="5433400" y="2454900"/>
            <a:ext cx="2684100" cy="83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Encapsulation on a method level</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a:t>
            </a:r>
            <a:endParaRPr/>
          </a:p>
        </p:txBody>
      </p:sp>
      <p:sp>
        <p:nvSpPr>
          <p:cNvPr id="229" name="Google Shape;229;p25"/>
          <p:cNvSpPr txBox="1"/>
          <p:nvPr/>
        </p:nvSpPr>
        <p:spPr>
          <a:xfrm>
            <a:off x="5856900" y="2501650"/>
            <a:ext cx="2684100" cy="83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Encapsulation on a class level</a:t>
            </a:r>
            <a:endParaRPr b="0" i="0" sz="1100" u="none" cap="none" strike="noStrike">
              <a:solidFill>
                <a:srgbClr val="000000"/>
              </a:solidFill>
              <a:latin typeface="Arial"/>
              <a:ea typeface="Arial"/>
              <a:cs typeface="Arial"/>
              <a:sym typeface="Arial"/>
            </a:endParaRPr>
          </a:p>
        </p:txBody>
      </p:sp>
      <p:pic>
        <p:nvPicPr>
          <p:cNvPr id="230" name="Google Shape;230;p25"/>
          <p:cNvPicPr preferRelativeResize="0"/>
          <p:nvPr/>
        </p:nvPicPr>
        <p:blipFill rotWithShape="1">
          <a:blip r:embed="rId3">
            <a:alphaModFix/>
          </a:blip>
          <a:srcRect b="0" l="0" r="0" t="0"/>
          <a:stretch/>
        </p:blipFill>
        <p:spPr>
          <a:xfrm>
            <a:off x="495675" y="1436025"/>
            <a:ext cx="4417475" cy="3414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b="1"/>
          </a:p>
        </p:txBody>
      </p:sp>
      <p:sp>
        <p:nvSpPr>
          <p:cNvPr id="236" name="Google Shape;236;p26"/>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500"/>
              <a:t>2. </a:t>
            </a:r>
            <a:r>
              <a:rPr b="1" lang="en" sz="2500"/>
              <a:t>Program to an Interface, not an Implementation</a:t>
            </a:r>
            <a:endParaRPr b="1" sz="2500"/>
          </a:p>
          <a:p>
            <a:pPr indent="0" lvl="0" marL="0" rtl="0" algn="l">
              <a:lnSpc>
                <a:spcPct val="115000"/>
              </a:lnSpc>
              <a:spcBef>
                <a:spcPts val="1200"/>
              </a:spcBef>
              <a:spcAft>
                <a:spcPts val="1200"/>
              </a:spcAft>
              <a:buSzPts val="1800"/>
              <a:buNone/>
            </a:pPr>
            <a:r>
              <a:t/>
            </a:r>
            <a:endParaRPr/>
          </a:p>
        </p:txBody>
      </p:sp>
      <p:sp>
        <p:nvSpPr>
          <p:cNvPr id="237" name="Google Shape;237;p26"/>
          <p:cNvSpPr txBox="1"/>
          <p:nvPr/>
        </p:nvSpPr>
        <p:spPr>
          <a:xfrm>
            <a:off x="1375500" y="2571750"/>
            <a:ext cx="6393000" cy="18144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2100"/>
              <a:buFont typeface="Arial"/>
              <a:buNone/>
            </a:pPr>
            <a:br>
              <a:rPr b="0" i="0" lang="en" sz="2100" u="none" cap="none" strike="noStrike">
                <a:solidFill>
                  <a:schemeClr val="dk1"/>
                </a:solidFill>
                <a:latin typeface="Roboto"/>
                <a:ea typeface="Roboto"/>
                <a:cs typeface="Roboto"/>
                <a:sym typeface="Roboto"/>
              </a:rPr>
            </a:br>
            <a:r>
              <a:rPr b="0" i="0" lang="en" sz="2100" u="none" cap="none" strike="noStrike">
                <a:solidFill>
                  <a:schemeClr val="dk1"/>
                </a:solidFill>
                <a:latin typeface="Roboto"/>
                <a:ea typeface="Roboto"/>
                <a:cs typeface="Roboto"/>
                <a:sym typeface="Roboto"/>
              </a:rPr>
              <a:t>Program to an interface, not an implementation. Depend on abstractions, not on concrete classes.</a:t>
            </a:r>
            <a:endParaRPr b="0" i="0" sz="2100" u="none" cap="none" strike="noStrike">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b="1"/>
          </a:p>
        </p:txBody>
      </p:sp>
      <p:sp>
        <p:nvSpPr>
          <p:cNvPr id="243" name="Google Shape;243;p27"/>
          <p:cNvSpPr txBox="1"/>
          <p:nvPr/>
        </p:nvSpPr>
        <p:spPr>
          <a:xfrm>
            <a:off x="392775" y="1458875"/>
            <a:ext cx="3722100" cy="165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pic>
        <p:nvPicPr>
          <p:cNvPr id="244" name="Google Shape;244;p27"/>
          <p:cNvPicPr preferRelativeResize="0"/>
          <p:nvPr/>
        </p:nvPicPr>
        <p:blipFill rotWithShape="1">
          <a:blip r:embed="rId3">
            <a:alphaModFix/>
          </a:blip>
          <a:srcRect b="0" l="0" r="0" t="0"/>
          <a:stretch/>
        </p:blipFill>
        <p:spPr>
          <a:xfrm>
            <a:off x="5462250" y="88838"/>
            <a:ext cx="3429600" cy="4965825"/>
          </a:xfrm>
          <a:prstGeom prst="rect">
            <a:avLst/>
          </a:prstGeom>
          <a:noFill/>
          <a:ln>
            <a:noFill/>
          </a:ln>
        </p:spPr>
      </p:pic>
      <p:sp>
        <p:nvSpPr>
          <p:cNvPr id="245" name="Google Shape;245;p27"/>
          <p:cNvSpPr txBox="1"/>
          <p:nvPr/>
        </p:nvSpPr>
        <p:spPr>
          <a:xfrm>
            <a:off x="430175" y="2020000"/>
            <a:ext cx="4442100" cy="189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Remember Polymorphism </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b="1"/>
          </a:p>
        </p:txBody>
      </p:sp>
      <p:sp>
        <p:nvSpPr>
          <p:cNvPr id="251" name="Google Shape;251;p28"/>
          <p:cNvSpPr txBox="1"/>
          <p:nvPr/>
        </p:nvSpPr>
        <p:spPr>
          <a:xfrm>
            <a:off x="387900" y="1655275"/>
            <a:ext cx="2992500" cy="1019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What is the problem here?</a:t>
            </a:r>
            <a:endParaRPr b="0" i="0" sz="1800" u="none" cap="none" strike="noStrike">
              <a:solidFill>
                <a:schemeClr val="dk1"/>
              </a:solidFill>
              <a:latin typeface="Roboto"/>
              <a:ea typeface="Roboto"/>
              <a:cs typeface="Roboto"/>
              <a:sym typeface="Roboto"/>
            </a:endParaRPr>
          </a:p>
        </p:txBody>
      </p:sp>
      <p:pic>
        <p:nvPicPr>
          <p:cNvPr id="252" name="Google Shape;252;p28"/>
          <p:cNvPicPr preferRelativeResize="0"/>
          <p:nvPr/>
        </p:nvPicPr>
        <p:blipFill rotWithShape="1">
          <a:blip r:embed="rId3">
            <a:alphaModFix/>
          </a:blip>
          <a:srcRect b="0" l="0" r="0" t="0"/>
          <a:stretch/>
        </p:blipFill>
        <p:spPr>
          <a:xfrm>
            <a:off x="5022300" y="818888"/>
            <a:ext cx="3733800" cy="4048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b="1"/>
          </a:p>
        </p:txBody>
      </p:sp>
      <p:pic>
        <p:nvPicPr>
          <p:cNvPr id="258" name="Google Shape;258;p29"/>
          <p:cNvPicPr preferRelativeResize="0"/>
          <p:nvPr/>
        </p:nvPicPr>
        <p:blipFill rotWithShape="1">
          <a:blip r:embed="rId3">
            <a:alphaModFix/>
          </a:blip>
          <a:srcRect b="0" l="0" r="0" t="0"/>
          <a:stretch/>
        </p:blipFill>
        <p:spPr>
          <a:xfrm>
            <a:off x="6583561" y="126138"/>
            <a:ext cx="1970089" cy="4891225"/>
          </a:xfrm>
          <a:prstGeom prst="rect">
            <a:avLst/>
          </a:prstGeom>
          <a:noFill/>
          <a:ln>
            <a:noFill/>
          </a:ln>
        </p:spPr>
      </p:pic>
      <p:sp>
        <p:nvSpPr>
          <p:cNvPr id="259" name="Google Shape;259;p29"/>
          <p:cNvSpPr txBox="1"/>
          <p:nvPr/>
        </p:nvSpPr>
        <p:spPr>
          <a:xfrm>
            <a:off x="387899" y="1365375"/>
            <a:ext cx="5483511" cy="332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1- Determine what exactly one object needs from the other: which methods does it execute?</a:t>
            </a:r>
            <a:br>
              <a:rPr b="0" i="0" lang="en" sz="1700" u="none" cap="none" strike="noStrike">
                <a:solidFill>
                  <a:schemeClr val="dk1"/>
                </a:solidFill>
                <a:latin typeface="Roboto"/>
                <a:ea typeface="Roboto"/>
                <a:cs typeface="Roboto"/>
                <a:sym typeface="Roboto"/>
              </a:rPr>
            </a:br>
            <a:endParaRPr b="0" i="0" sz="17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2- Describe these methods in a new interface or abstract class.</a:t>
            </a:r>
            <a:br>
              <a:rPr b="0" i="0" lang="en" sz="1700" u="none" cap="none" strike="noStrike">
                <a:solidFill>
                  <a:schemeClr val="dk1"/>
                </a:solidFill>
                <a:latin typeface="Roboto"/>
                <a:ea typeface="Roboto"/>
                <a:cs typeface="Roboto"/>
                <a:sym typeface="Roboto"/>
              </a:rPr>
            </a:br>
            <a:endParaRPr b="0" i="0" sz="17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3- Make the class that is a dependency implement this interface.</a:t>
            </a:r>
            <a:br>
              <a:rPr b="0" i="0" lang="en" sz="1700" u="none" cap="none" strike="noStrike">
                <a:solidFill>
                  <a:schemeClr val="dk1"/>
                </a:solidFill>
                <a:latin typeface="Roboto"/>
                <a:ea typeface="Roboto"/>
                <a:cs typeface="Roboto"/>
                <a:sym typeface="Roboto"/>
              </a:rPr>
            </a:br>
            <a:endParaRPr b="0" i="0" sz="17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Roboto"/>
                <a:ea typeface="Roboto"/>
                <a:cs typeface="Roboto"/>
                <a:sym typeface="Roboto"/>
              </a:rPr>
              <a:t>4- Now make the second class dependent on this interface rather than on the concrete class.</a:t>
            </a:r>
            <a:endParaRPr b="0" i="0" sz="1700" u="none" cap="none" strike="noStrike">
              <a:solidFill>
                <a:schemeClr val="dk1"/>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a:p>
        </p:txBody>
      </p:sp>
      <p:sp>
        <p:nvSpPr>
          <p:cNvPr id="265" name="Google Shape;265;p30"/>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500"/>
              <a:t>3. </a:t>
            </a:r>
            <a:r>
              <a:rPr b="1" lang="en" sz="2500"/>
              <a:t>Favor Composition Over Inheritance</a:t>
            </a:r>
            <a:endParaRPr b="1" sz="2500"/>
          </a:p>
          <a:p>
            <a:pPr indent="0" lvl="0" marL="0" rtl="0" algn="l">
              <a:lnSpc>
                <a:spcPct val="115000"/>
              </a:lnSpc>
              <a:spcBef>
                <a:spcPts val="1200"/>
              </a:spcBef>
              <a:spcAft>
                <a:spcPts val="1200"/>
              </a:spcAft>
              <a:buSzPts val="1800"/>
              <a:buNone/>
            </a:pPr>
            <a:r>
              <a:t/>
            </a:r>
            <a:endParaRPr/>
          </a:p>
        </p:txBody>
      </p:sp>
      <p:sp>
        <p:nvSpPr>
          <p:cNvPr id="266" name="Google Shape;266;p30"/>
          <p:cNvSpPr txBox="1"/>
          <p:nvPr/>
        </p:nvSpPr>
        <p:spPr>
          <a:xfrm>
            <a:off x="1375500" y="2571750"/>
            <a:ext cx="6489300" cy="12720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2100"/>
              <a:buFont typeface="Arial"/>
              <a:buNone/>
            </a:pPr>
            <a:r>
              <a:rPr b="0" i="0" lang="en" sz="2100" u="none" cap="none" strike="noStrike">
                <a:solidFill>
                  <a:schemeClr val="dk1"/>
                </a:solidFill>
                <a:latin typeface="Roboto"/>
                <a:ea typeface="Roboto"/>
                <a:cs typeface="Roboto"/>
                <a:sym typeface="Roboto"/>
              </a:rPr>
              <a:t>Build your classes like Lego blocks, using small pieces that do specific jobs, instead of one big block that tries to do everything.</a:t>
            </a:r>
            <a:endParaRPr b="0" i="0" sz="2100" u="none" cap="none" strike="noStrike">
              <a:solidFill>
                <a:schemeClr val="dk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a:p>
        </p:txBody>
      </p:sp>
      <p:pic>
        <p:nvPicPr>
          <p:cNvPr id="272" name="Google Shape;272;p31"/>
          <p:cNvPicPr preferRelativeResize="0"/>
          <p:nvPr/>
        </p:nvPicPr>
        <p:blipFill rotWithShape="1">
          <a:blip r:embed="rId3">
            <a:alphaModFix/>
          </a:blip>
          <a:srcRect b="0" l="0" r="0" t="0"/>
          <a:stretch/>
        </p:blipFill>
        <p:spPr>
          <a:xfrm>
            <a:off x="354525" y="1362000"/>
            <a:ext cx="4217473" cy="3694575"/>
          </a:xfrm>
          <a:prstGeom prst="rect">
            <a:avLst/>
          </a:prstGeom>
          <a:noFill/>
          <a:ln>
            <a:noFill/>
          </a:ln>
        </p:spPr>
      </p:pic>
      <p:pic>
        <p:nvPicPr>
          <p:cNvPr id="273" name="Google Shape;273;p31"/>
          <p:cNvPicPr preferRelativeResize="0"/>
          <p:nvPr/>
        </p:nvPicPr>
        <p:blipFill rotWithShape="1">
          <a:blip r:embed="rId4">
            <a:alphaModFix/>
          </a:blip>
          <a:srcRect b="0" l="0" r="0" t="0"/>
          <a:stretch/>
        </p:blipFill>
        <p:spPr>
          <a:xfrm>
            <a:off x="5753098" y="1362000"/>
            <a:ext cx="2729326" cy="36945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a:p>
        </p:txBody>
      </p:sp>
      <p:pic>
        <p:nvPicPr>
          <p:cNvPr id="279" name="Google Shape;279;p32"/>
          <p:cNvPicPr preferRelativeResize="0"/>
          <p:nvPr/>
        </p:nvPicPr>
        <p:blipFill rotWithShape="1">
          <a:blip r:embed="rId3">
            <a:alphaModFix/>
          </a:blip>
          <a:srcRect b="0" l="0" r="0" t="0"/>
          <a:stretch/>
        </p:blipFill>
        <p:spPr>
          <a:xfrm>
            <a:off x="451625" y="1333950"/>
            <a:ext cx="3377704" cy="3694575"/>
          </a:xfrm>
          <a:prstGeom prst="rect">
            <a:avLst/>
          </a:prstGeom>
          <a:noFill/>
          <a:ln>
            <a:noFill/>
          </a:ln>
        </p:spPr>
      </p:pic>
      <p:pic>
        <p:nvPicPr>
          <p:cNvPr id="280" name="Google Shape;280;p32"/>
          <p:cNvPicPr preferRelativeResize="0"/>
          <p:nvPr/>
        </p:nvPicPr>
        <p:blipFill rotWithShape="1">
          <a:blip r:embed="rId4">
            <a:alphaModFix/>
          </a:blip>
          <a:srcRect b="8019" l="1" r="192" t="0"/>
          <a:stretch/>
        </p:blipFill>
        <p:spPr>
          <a:xfrm>
            <a:off x="4730404" y="1287150"/>
            <a:ext cx="3961971" cy="33983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a:p>
        </p:txBody>
      </p:sp>
      <p:sp>
        <p:nvSpPr>
          <p:cNvPr id="286" name="Google Shape;286;p33"/>
          <p:cNvSpPr txBox="1"/>
          <p:nvPr/>
        </p:nvSpPr>
        <p:spPr>
          <a:xfrm>
            <a:off x="617225" y="1645925"/>
            <a:ext cx="7472100" cy="275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87" name="Google Shape;287;p33"/>
          <p:cNvSpPr txBox="1"/>
          <p:nvPr/>
        </p:nvSpPr>
        <p:spPr>
          <a:xfrm>
            <a:off x="682675" y="1702025"/>
            <a:ext cx="7905300" cy="2215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chemeClr val="dk1"/>
                </a:solidFill>
                <a:latin typeface="Roboto"/>
                <a:ea typeface="Roboto"/>
                <a:cs typeface="Roboto"/>
                <a:sym typeface="Roboto"/>
              </a:rPr>
              <a:t>Problems</a:t>
            </a:r>
            <a:endParaRPr b="1" i="0" sz="25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1- A subclass can’t reduce the interface of the superclass.</a:t>
            </a:r>
            <a:endParaRPr b="0" i="0" sz="21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1200"/>
              </a:spcAft>
              <a:buClr>
                <a:srgbClr val="000000"/>
              </a:buClr>
              <a:buSzPts val="2100"/>
              <a:buFont typeface="Arial"/>
              <a:buNone/>
            </a:pPr>
            <a:r>
              <a:rPr b="0" i="0" lang="en" sz="2100" u="none" cap="none" strike="noStrike">
                <a:solidFill>
                  <a:schemeClr val="dk1"/>
                </a:solidFill>
                <a:latin typeface="Roboto"/>
                <a:ea typeface="Roboto"/>
                <a:cs typeface="Roboto"/>
                <a:sym typeface="Roboto"/>
              </a:rPr>
              <a:t>2- There are multiple combinations to build class.</a:t>
            </a:r>
            <a:endParaRPr b="0" i="0" sz="2100" u="none" cap="none" strike="noStrike">
              <a:solidFill>
                <a:schemeClr val="dk1"/>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Design Principles Cont. </a:t>
            </a:r>
            <a:endParaRPr/>
          </a:p>
        </p:txBody>
      </p:sp>
      <p:sp>
        <p:nvSpPr>
          <p:cNvPr id="293" name="Google Shape;293;p34"/>
          <p:cNvSpPr txBox="1"/>
          <p:nvPr/>
        </p:nvSpPr>
        <p:spPr>
          <a:xfrm>
            <a:off x="617225" y="1645925"/>
            <a:ext cx="7472100" cy="275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pic>
        <p:nvPicPr>
          <p:cNvPr id="294" name="Google Shape;294;p34"/>
          <p:cNvPicPr preferRelativeResize="0"/>
          <p:nvPr/>
        </p:nvPicPr>
        <p:blipFill rotWithShape="1">
          <a:blip r:embed="rId3">
            <a:alphaModFix/>
          </a:blip>
          <a:srcRect b="0" l="0" r="0" t="0"/>
          <a:stretch/>
        </p:blipFill>
        <p:spPr>
          <a:xfrm>
            <a:off x="2146300" y="1047375"/>
            <a:ext cx="4952450" cy="3716475"/>
          </a:xfrm>
          <a:prstGeom prst="rect">
            <a:avLst/>
          </a:prstGeom>
          <a:noFill/>
          <a:ln>
            <a:noFill/>
          </a:ln>
        </p:spPr>
      </p:pic>
      <p:sp>
        <p:nvSpPr>
          <p:cNvPr id="295" name="Google Shape;295;p34"/>
          <p:cNvSpPr txBox="1"/>
          <p:nvPr/>
        </p:nvSpPr>
        <p:spPr>
          <a:xfrm>
            <a:off x="2218350" y="4038675"/>
            <a:ext cx="4707300" cy="68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Roboto"/>
                <a:ea typeface="Roboto"/>
                <a:cs typeface="Roboto"/>
                <a:sym typeface="Roboto"/>
              </a:rPr>
              <a:t>Composition</a:t>
            </a:r>
            <a:endParaRPr b="1" i="0" sz="2800" u="none" cap="none" strike="noStrike">
              <a:solidFill>
                <a:schemeClr val="dk1"/>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41a71f3611_0_4"/>
          <p:cNvSpPr txBox="1"/>
          <p:nvPr>
            <p:ph type="title"/>
          </p:nvPr>
        </p:nvSpPr>
        <p:spPr>
          <a:xfrm>
            <a:off x="387900" y="1722300"/>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Step 1: </a:t>
            </a:r>
            <a:endParaRPr/>
          </a:p>
          <a:p>
            <a:pPr indent="0" lvl="0" marL="0" rtl="0" algn="l">
              <a:spcBef>
                <a:spcPts val="0"/>
              </a:spcBef>
              <a:spcAft>
                <a:spcPts val="0"/>
              </a:spcAft>
              <a:buNone/>
            </a:pPr>
            <a:r>
              <a:rPr lang="en"/>
              <a:t>Define Behaviors</a:t>
            </a:r>
            <a:endParaRPr b="1" sz="1300">
              <a:solidFill>
                <a:srgbClr val="000000"/>
              </a:solidFill>
              <a:latin typeface="Arial"/>
              <a:ea typeface="Arial"/>
              <a:cs typeface="Arial"/>
              <a:sym typeface="Arial"/>
            </a:endParaRPr>
          </a:p>
        </p:txBody>
      </p:sp>
      <p:pic>
        <p:nvPicPr>
          <p:cNvPr id="301" name="Google Shape;301;g341a71f3611_0_4" title="carbon (42).png"/>
          <p:cNvPicPr preferRelativeResize="0"/>
          <p:nvPr/>
        </p:nvPicPr>
        <p:blipFill>
          <a:blip r:embed="rId3">
            <a:alphaModFix/>
          </a:blip>
          <a:stretch>
            <a:fillRect/>
          </a:stretch>
        </p:blipFill>
        <p:spPr>
          <a:xfrm>
            <a:off x="4013800" y="-471000"/>
            <a:ext cx="5971474" cy="6104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41a71f3611_0_15"/>
          <p:cNvSpPr txBox="1"/>
          <p:nvPr>
            <p:ph type="title"/>
          </p:nvPr>
        </p:nvSpPr>
        <p:spPr>
          <a:xfrm>
            <a:off x="387900" y="21806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Step 2: </a:t>
            </a:r>
            <a:endParaRPr/>
          </a:p>
          <a:p>
            <a:pPr indent="0" lvl="0" marL="0" rtl="0" algn="l">
              <a:spcBef>
                <a:spcPts val="0"/>
              </a:spcBef>
              <a:spcAft>
                <a:spcPts val="0"/>
              </a:spcAft>
              <a:buNone/>
            </a:pPr>
            <a:r>
              <a:rPr lang="en"/>
              <a:t>Define the Monster </a:t>
            </a:r>
            <a:endParaRPr/>
          </a:p>
          <a:p>
            <a:pPr indent="0" lvl="0" marL="0" rtl="0" algn="l">
              <a:spcBef>
                <a:spcPts val="0"/>
              </a:spcBef>
              <a:spcAft>
                <a:spcPts val="0"/>
              </a:spcAft>
              <a:buNone/>
            </a:pPr>
            <a:r>
              <a:rPr lang="en"/>
              <a:t>Class</a:t>
            </a:r>
            <a:endParaRPr/>
          </a:p>
        </p:txBody>
      </p:sp>
      <p:pic>
        <p:nvPicPr>
          <p:cNvPr id="307" name="Google Shape;307;g341a71f3611_0_15" title="carbon (43).png"/>
          <p:cNvPicPr preferRelativeResize="0"/>
          <p:nvPr/>
        </p:nvPicPr>
        <p:blipFill>
          <a:blip r:embed="rId3">
            <a:alphaModFix/>
          </a:blip>
          <a:stretch>
            <a:fillRect/>
          </a:stretch>
        </p:blipFill>
        <p:spPr>
          <a:xfrm>
            <a:off x="3754325" y="-649350"/>
            <a:ext cx="7662601" cy="6444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41a71f3611_0_22"/>
          <p:cNvSpPr txBox="1"/>
          <p:nvPr>
            <p:ph type="title"/>
          </p:nvPr>
        </p:nvSpPr>
        <p:spPr>
          <a:xfrm>
            <a:off x="387900" y="21806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Step 3: </a:t>
            </a:r>
            <a:endParaRPr/>
          </a:p>
          <a:p>
            <a:pPr indent="0" lvl="0" marL="0" rtl="0" algn="l">
              <a:spcBef>
                <a:spcPts val="0"/>
              </a:spcBef>
              <a:spcAft>
                <a:spcPts val="0"/>
              </a:spcAft>
              <a:buNone/>
            </a:pPr>
            <a:r>
              <a:rPr lang="en"/>
              <a:t>Create Monsters </a:t>
            </a:r>
            <a:endParaRPr/>
          </a:p>
          <a:p>
            <a:pPr indent="0" lvl="0" marL="0" rtl="0" algn="l">
              <a:spcBef>
                <a:spcPts val="0"/>
              </a:spcBef>
              <a:spcAft>
                <a:spcPts val="0"/>
              </a:spcAft>
              <a:buNone/>
            </a:pPr>
            <a:r>
              <a:rPr lang="en"/>
              <a:t>&amp; Test</a:t>
            </a:r>
            <a:endParaRPr/>
          </a:p>
        </p:txBody>
      </p:sp>
      <p:pic>
        <p:nvPicPr>
          <p:cNvPr id="313" name="Google Shape;313;g341a71f3611_0_22" title="carbon (44).png"/>
          <p:cNvPicPr preferRelativeResize="0"/>
          <p:nvPr/>
        </p:nvPicPr>
        <p:blipFill>
          <a:blip r:embed="rId3">
            <a:alphaModFix/>
          </a:blip>
          <a:stretch>
            <a:fillRect/>
          </a:stretch>
        </p:blipFill>
        <p:spPr>
          <a:xfrm>
            <a:off x="3656176" y="-525101"/>
            <a:ext cx="6541851" cy="61769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SOLID Principles</a:t>
            </a:r>
            <a:endParaRPr/>
          </a:p>
        </p:txBody>
      </p:sp>
      <p:pic>
        <p:nvPicPr>
          <p:cNvPr id="319" name="Google Shape;319;p36"/>
          <p:cNvPicPr preferRelativeResize="0"/>
          <p:nvPr/>
        </p:nvPicPr>
        <p:blipFill rotWithShape="1">
          <a:blip r:embed="rId3">
            <a:alphaModFix/>
          </a:blip>
          <a:srcRect b="0" l="0" r="0" t="0"/>
          <a:stretch/>
        </p:blipFill>
        <p:spPr>
          <a:xfrm>
            <a:off x="838675" y="568825"/>
            <a:ext cx="7554626" cy="53409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Single Responsibility Principle</a:t>
            </a:r>
            <a:endParaRPr/>
          </a:p>
        </p:txBody>
      </p:sp>
      <p:sp>
        <p:nvSpPr>
          <p:cNvPr id="325" name="Google Shape;325;p37"/>
          <p:cNvSpPr txBox="1"/>
          <p:nvPr/>
        </p:nvSpPr>
        <p:spPr>
          <a:xfrm>
            <a:off x="1327350" y="3404375"/>
            <a:ext cx="6489300" cy="12720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2100"/>
              <a:buFont typeface="Arial"/>
              <a:buNone/>
            </a:pPr>
            <a:br>
              <a:rPr b="0" i="0" lang="en" sz="2100" u="none" cap="none" strike="noStrike">
                <a:solidFill>
                  <a:schemeClr val="dk1"/>
                </a:solidFill>
                <a:latin typeface="Roboto"/>
                <a:ea typeface="Roboto"/>
                <a:cs typeface="Roboto"/>
                <a:sym typeface="Roboto"/>
              </a:rPr>
            </a:br>
            <a:r>
              <a:rPr b="0" i="0" lang="en" sz="2100" u="none" cap="none" strike="noStrike">
                <a:solidFill>
                  <a:schemeClr val="dk1"/>
                </a:solidFill>
                <a:latin typeface="Roboto"/>
                <a:ea typeface="Roboto"/>
                <a:cs typeface="Roboto"/>
                <a:sym typeface="Roboto"/>
              </a:rPr>
              <a:t>A class should have just one reason to change.</a:t>
            </a:r>
            <a:endParaRPr b="0" i="0" sz="2100" u="none" cap="none" strike="noStrike">
              <a:solidFill>
                <a:schemeClr val="dk1"/>
              </a:solidFill>
              <a:latin typeface="Roboto"/>
              <a:ea typeface="Roboto"/>
              <a:cs typeface="Roboto"/>
              <a:sym typeface="Roboto"/>
            </a:endParaRPr>
          </a:p>
        </p:txBody>
      </p:sp>
      <p:sp>
        <p:nvSpPr>
          <p:cNvPr id="326" name="Google Shape;326;p37"/>
          <p:cNvSpPr txBox="1"/>
          <p:nvPr/>
        </p:nvSpPr>
        <p:spPr>
          <a:xfrm>
            <a:off x="1327350" y="1784200"/>
            <a:ext cx="6489300" cy="9801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2100"/>
              <a:buFont typeface="Arial"/>
              <a:buNone/>
            </a:pPr>
            <a:r>
              <a:rPr lang="en" sz="2100">
                <a:solidFill>
                  <a:schemeClr val="dk1"/>
                </a:solidFill>
                <a:latin typeface="Roboto"/>
                <a:ea typeface="Roboto"/>
                <a:cs typeface="Roboto"/>
                <a:sym typeface="Roboto"/>
              </a:rPr>
              <a:t>"A module should be responsible to one, and only one, actor."</a:t>
            </a:r>
            <a:endParaRPr b="0" i="0" sz="2100" u="none" cap="none" strike="noStrike">
              <a:solidFill>
                <a:schemeClr val="dk1"/>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Single Responsibility Principle</a:t>
            </a:r>
            <a:endParaRPr/>
          </a:p>
        </p:txBody>
      </p:sp>
      <p:pic>
        <p:nvPicPr>
          <p:cNvPr id="332" name="Google Shape;332;p38"/>
          <p:cNvPicPr preferRelativeResize="0"/>
          <p:nvPr/>
        </p:nvPicPr>
        <p:blipFill rotWithShape="1">
          <a:blip r:embed="rId3">
            <a:alphaModFix/>
          </a:blip>
          <a:srcRect b="0" l="0" r="0" t="0"/>
          <a:stretch/>
        </p:blipFill>
        <p:spPr>
          <a:xfrm>
            <a:off x="1243925" y="-218475"/>
            <a:ext cx="4620750" cy="5184775"/>
          </a:xfrm>
          <a:prstGeom prst="rect">
            <a:avLst/>
          </a:prstGeom>
          <a:noFill/>
          <a:ln>
            <a:noFill/>
          </a:ln>
        </p:spPr>
      </p:pic>
      <p:sp>
        <p:nvSpPr>
          <p:cNvPr id="333" name="Google Shape;333;p38"/>
          <p:cNvSpPr txBox="1"/>
          <p:nvPr/>
        </p:nvSpPr>
        <p:spPr>
          <a:xfrm>
            <a:off x="5645325" y="2221200"/>
            <a:ext cx="2207100" cy="83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What is the problem here?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Single Responsibility Principle</a:t>
            </a:r>
            <a:endParaRPr/>
          </a:p>
        </p:txBody>
      </p:sp>
      <p:pic>
        <p:nvPicPr>
          <p:cNvPr id="339" name="Google Shape;339;p39"/>
          <p:cNvPicPr preferRelativeResize="0"/>
          <p:nvPr/>
        </p:nvPicPr>
        <p:blipFill rotWithShape="1">
          <a:blip r:embed="rId3">
            <a:alphaModFix/>
          </a:blip>
          <a:srcRect b="0" l="0" r="0" t="0"/>
          <a:stretch/>
        </p:blipFill>
        <p:spPr>
          <a:xfrm>
            <a:off x="2085588" y="1350700"/>
            <a:ext cx="4972832" cy="36945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Open / Closed Principle</a:t>
            </a:r>
            <a:endParaRPr/>
          </a:p>
        </p:txBody>
      </p:sp>
      <p:sp>
        <p:nvSpPr>
          <p:cNvPr id="345" name="Google Shape;345;p40"/>
          <p:cNvSpPr txBox="1"/>
          <p:nvPr/>
        </p:nvSpPr>
        <p:spPr>
          <a:xfrm>
            <a:off x="1432025" y="2177925"/>
            <a:ext cx="6489300" cy="12720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Classes should be open for extension but closed for</a:t>
            </a:r>
            <a:endParaRPr b="0" i="0" sz="2100" u="none" cap="none" strike="noStrike">
              <a:solidFill>
                <a:schemeClr val="dk1"/>
              </a:solidFill>
              <a:latin typeface="Roboto"/>
              <a:ea typeface="Roboto"/>
              <a:cs typeface="Roboto"/>
              <a:sym typeface="Roboto"/>
            </a:endParaRPr>
          </a:p>
          <a:p>
            <a:pPr indent="0" lvl="0" marL="0" marR="0" rtl="0" algn="ctr">
              <a:lnSpc>
                <a:spcPct val="115000"/>
              </a:lnSpc>
              <a:spcBef>
                <a:spcPts val="120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modification.</a:t>
            </a:r>
            <a:endParaRPr b="0" i="0" sz="2100" u="none" cap="none" strike="noStrike">
              <a:solidFill>
                <a:schemeClr val="dk1"/>
              </a:solidFill>
              <a:latin typeface="Roboto"/>
              <a:ea typeface="Roboto"/>
              <a:cs typeface="Roboto"/>
              <a:sym typeface="Roboto"/>
            </a:endParaRPr>
          </a:p>
          <a:p>
            <a:pPr indent="0" lvl="0" marL="0" marR="0" rtl="0" algn="ctr">
              <a:lnSpc>
                <a:spcPct val="115000"/>
              </a:lnSpc>
              <a:spcBef>
                <a:spcPts val="1200"/>
              </a:spcBef>
              <a:spcAft>
                <a:spcPts val="1200"/>
              </a:spcAft>
              <a:buClr>
                <a:srgbClr val="000000"/>
              </a:buClr>
              <a:buSzPts val="2100"/>
              <a:buFont typeface="Arial"/>
              <a:buNone/>
            </a:pPr>
            <a:r>
              <a:t/>
            </a:r>
            <a:endParaRPr b="0" i="0" sz="2100" u="none" cap="none" strike="noStrike">
              <a:solidFill>
                <a:schemeClr val="dk1"/>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Open / Closed Principle</a:t>
            </a:r>
            <a:endParaRPr/>
          </a:p>
        </p:txBody>
      </p:sp>
      <p:pic>
        <p:nvPicPr>
          <p:cNvPr id="351" name="Google Shape;351;p41"/>
          <p:cNvPicPr preferRelativeResize="0"/>
          <p:nvPr/>
        </p:nvPicPr>
        <p:blipFill rotWithShape="1">
          <a:blip r:embed="rId3">
            <a:alphaModFix/>
          </a:blip>
          <a:srcRect b="0" l="0" r="0" t="0"/>
          <a:stretch/>
        </p:blipFill>
        <p:spPr>
          <a:xfrm>
            <a:off x="316575" y="1724500"/>
            <a:ext cx="5810250" cy="2847975"/>
          </a:xfrm>
          <a:prstGeom prst="rect">
            <a:avLst/>
          </a:prstGeom>
          <a:noFill/>
          <a:ln>
            <a:noFill/>
          </a:ln>
        </p:spPr>
      </p:pic>
      <p:sp>
        <p:nvSpPr>
          <p:cNvPr id="352" name="Google Shape;352;p41"/>
          <p:cNvSpPr txBox="1"/>
          <p:nvPr/>
        </p:nvSpPr>
        <p:spPr>
          <a:xfrm>
            <a:off x="6620125" y="2657100"/>
            <a:ext cx="2207100" cy="83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Add discount on order</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Open / Closed Principle</a:t>
            </a:r>
            <a:endParaRPr/>
          </a:p>
        </p:txBody>
      </p:sp>
      <p:pic>
        <p:nvPicPr>
          <p:cNvPr id="358" name="Google Shape;358;p42"/>
          <p:cNvPicPr preferRelativeResize="0"/>
          <p:nvPr/>
        </p:nvPicPr>
        <p:blipFill rotWithShape="1">
          <a:blip r:embed="rId3">
            <a:alphaModFix/>
          </a:blip>
          <a:srcRect b="0" l="0" r="0" t="0"/>
          <a:stretch/>
        </p:blipFill>
        <p:spPr>
          <a:xfrm>
            <a:off x="387900" y="1653150"/>
            <a:ext cx="6400800" cy="3009900"/>
          </a:xfrm>
          <a:prstGeom prst="rect">
            <a:avLst/>
          </a:prstGeom>
          <a:noFill/>
          <a:ln>
            <a:noFill/>
          </a:ln>
        </p:spPr>
      </p:pic>
      <p:sp>
        <p:nvSpPr>
          <p:cNvPr id="359" name="Google Shape;359;p42"/>
          <p:cNvSpPr txBox="1"/>
          <p:nvPr/>
        </p:nvSpPr>
        <p:spPr>
          <a:xfrm>
            <a:off x="6834100" y="2902775"/>
            <a:ext cx="2207100" cy="83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Violate OCP</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Open / Closed Principle</a:t>
            </a:r>
            <a:endParaRPr/>
          </a:p>
        </p:txBody>
      </p:sp>
      <p:sp>
        <p:nvSpPr>
          <p:cNvPr id="365" name="Google Shape;365;p43"/>
          <p:cNvSpPr txBox="1"/>
          <p:nvPr/>
        </p:nvSpPr>
        <p:spPr>
          <a:xfrm>
            <a:off x="6834100" y="2902775"/>
            <a:ext cx="2207100" cy="83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Solution</a:t>
            </a:r>
            <a:endParaRPr b="0" i="0" sz="1100" u="none" cap="none" strike="noStrike">
              <a:solidFill>
                <a:srgbClr val="000000"/>
              </a:solidFill>
              <a:latin typeface="Arial"/>
              <a:ea typeface="Arial"/>
              <a:cs typeface="Arial"/>
              <a:sym typeface="Arial"/>
            </a:endParaRPr>
          </a:p>
        </p:txBody>
      </p:sp>
      <p:pic>
        <p:nvPicPr>
          <p:cNvPr id="366" name="Google Shape;366;p43"/>
          <p:cNvPicPr preferRelativeResize="0"/>
          <p:nvPr/>
        </p:nvPicPr>
        <p:blipFill rotWithShape="1">
          <a:blip r:embed="rId3">
            <a:alphaModFix/>
          </a:blip>
          <a:srcRect b="0" l="0" r="0" t="0"/>
          <a:stretch/>
        </p:blipFill>
        <p:spPr>
          <a:xfrm>
            <a:off x="659600" y="1534275"/>
            <a:ext cx="5743575" cy="3276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Liskov Substitution Principle</a:t>
            </a:r>
            <a:endParaRPr/>
          </a:p>
        </p:txBody>
      </p:sp>
      <p:sp>
        <p:nvSpPr>
          <p:cNvPr id="372" name="Google Shape;372;p44"/>
          <p:cNvSpPr txBox="1"/>
          <p:nvPr/>
        </p:nvSpPr>
        <p:spPr>
          <a:xfrm>
            <a:off x="992475" y="1935750"/>
            <a:ext cx="7582500" cy="18198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When extending a class, remember that you should be</a:t>
            </a:r>
            <a:endParaRPr b="0" i="0" sz="2100" u="none" cap="none" strike="noStrike">
              <a:solidFill>
                <a:schemeClr val="dk1"/>
              </a:solidFill>
              <a:latin typeface="Roboto"/>
              <a:ea typeface="Roboto"/>
              <a:cs typeface="Roboto"/>
              <a:sym typeface="Roboto"/>
            </a:endParaRPr>
          </a:p>
          <a:p>
            <a:pPr indent="0" lvl="0" marL="0" marR="0" rtl="0" algn="ctr">
              <a:lnSpc>
                <a:spcPct val="115000"/>
              </a:lnSpc>
              <a:spcBef>
                <a:spcPts val="120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able to pass objects of the subclass in place of objects of</a:t>
            </a:r>
            <a:endParaRPr b="0" i="0" sz="2100" u="none" cap="none" strike="noStrike">
              <a:solidFill>
                <a:schemeClr val="dk1"/>
              </a:solidFill>
              <a:latin typeface="Roboto"/>
              <a:ea typeface="Roboto"/>
              <a:cs typeface="Roboto"/>
              <a:sym typeface="Roboto"/>
            </a:endParaRPr>
          </a:p>
          <a:p>
            <a:pPr indent="0" lvl="0" marL="0" marR="0" rtl="0" algn="ctr">
              <a:lnSpc>
                <a:spcPct val="115000"/>
              </a:lnSpc>
              <a:spcBef>
                <a:spcPts val="120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the parent class without breaking the client code.</a:t>
            </a:r>
            <a:endParaRPr b="0" i="0" sz="2100" u="none" cap="none" strike="noStrike">
              <a:solidFill>
                <a:schemeClr val="dk1"/>
              </a:solidFill>
              <a:latin typeface="Roboto"/>
              <a:ea typeface="Roboto"/>
              <a:cs typeface="Roboto"/>
              <a:sym typeface="Roboto"/>
            </a:endParaRPr>
          </a:p>
          <a:p>
            <a:pPr indent="0" lvl="0" marL="0" marR="0" rtl="0" algn="ctr">
              <a:lnSpc>
                <a:spcPct val="115000"/>
              </a:lnSpc>
              <a:spcBef>
                <a:spcPts val="1200"/>
              </a:spcBef>
              <a:spcAft>
                <a:spcPts val="1200"/>
              </a:spcAft>
              <a:buClr>
                <a:srgbClr val="000000"/>
              </a:buClr>
              <a:buSzPts val="2100"/>
              <a:buFont typeface="Arial"/>
              <a:buNone/>
            </a:pPr>
            <a:r>
              <a:t/>
            </a:r>
            <a:endParaRPr b="0" i="0" sz="2100" u="none" cap="none" strike="noStrike">
              <a:solidFill>
                <a:schemeClr val="dk1"/>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Liskov Substitution Principle</a:t>
            </a:r>
            <a:endParaRPr/>
          </a:p>
        </p:txBody>
      </p:sp>
      <p:pic>
        <p:nvPicPr>
          <p:cNvPr id="378" name="Google Shape;378;p45"/>
          <p:cNvPicPr preferRelativeResize="0"/>
          <p:nvPr/>
        </p:nvPicPr>
        <p:blipFill rotWithShape="1">
          <a:blip r:embed="rId3">
            <a:alphaModFix/>
          </a:blip>
          <a:srcRect b="0" l="0" r="0" t="0"/>
          <a:stretch/>
        </p:blipFill>
        <p:spPr>
          <a:xfrm>
            <a:off x="850750" y="1319675"/>
            <a:ext cx="3721250" cy="3694575"/>
          </a:xfrm>
          <a:prstGeom prst="rect">
            <a:avLst/>
          </a:prstGeom>
          <a:noFill/>
          <a:ln>
            <a:noFill/>
          </a:ln>
        </p:spPr>
      </p:pic>
      <p:sp>
        <p:nvSpPr>
          <p:cNvPr id="379" name="Google Shape;379;p45"/>
          <p:cNvSpPr txBox="1"/>
          <p:nvPr/>
        </p:nvSpPr>
        <p:spPr>
          <a:xfrm>
            <a:off x="4912175" y="2571750"/>
            <a:ext cx="40332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We can substitute Monster </a:t>
            </a:r>
            <a:br>
              <a:rPr b="0" i="0" lang="en" sz="1800" u="none" cap="none" strike="noStrike">
                <a:solidFill>
                  <a:schemeClr val="dk1"/>
                </a:solidFill>
                <a:latin typeface="Roboto"/>
                <a:ea typeface="Roboto"/>
                <a:cs typeface="Roboto"/>
                <a:sym typeface="Roboto"/>
              </a:rPr>
            </a:br>
            <a:r>
              <a:rPr b="0" i="0" lang="en" sz="1800" u="none" cap="none" strike="noStrike">
                <a:solidFill>
                  <a:schemeClr val="dk1"/>
                </a:solidFill>
                <a:latin typeface="Roboto"/>
                <a:ea typeface="Roboto"/>
                <a:cs typeface="Roboto"/>
                <a:sym typeface="Roboto"/>
              </a:rPr>
              <a:t>(base class) with Eagle (sub class)</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Liskov Substitution Principle</a:t>
            </a:r>
            <a:endParaRPr/>
          </a:p>
        </p:txBody>
      </p:sp>
      <p:sp>
        <p:nvSpPr>
          <p:cNvPr id="385" name="Google Shape;385;p46"/>
          <p:cNvSpPr txBox="1"/>
          <p:nvPr/>
        </p:nvSpPr>
        <p:spPr>
          <a:xfrm>
            <a:off x="4264425" y="2610300"/>
            <a:ext cx="40332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We can’t substitute Monster </a:t>
            </a:r>
            <a:br>
              <a:rPr b="0" i="0" lang="en" sz="1800" u="none" cap="none" strike="noStrike">
                <a:solidFill>
                  <a:schemeClr val="dk1"/>
                </a:solidFill>
                <a:latin typeface="Roboto"/>
                <a:ea typeface="Roboto"/>
                <a:cs typeface="Roboto"/>
                <a:sym typeface="Roboto"/>
              </a:rPr>
            </a:br>
            <a:r>
              <a:rPr b="0" i="0" lang="en" sz="1800" u="none" cap="none" strike="noStrike">
                <a:solidFill>
                  <a:schemeClr val="dk1"/>
                </a:solidFill>
                <a:latin typeface="Roboto"/>
                <a:ea typeface="Roboto"/>
                <a:cs typeface="Roboto"/>
                <a:sym typeface="Roboto"/>
              </a:rPr>
              <a:t>(base class) with Shark (sub class)</a:t>
            </a:r>
            <a:endParaRPr b="0" i="0" sz="1800" u="none" cap="none" strike="noStrike">
              <a:solidFill>
                <a:schemeClr val="dk1"/>
              </a:solidFill>
              <a:latin typeface="Roboto"/>
              <a:ea typeface="Roboto"/>
              <a:cs typeface="Roboto"/>
              <a:sym typeface="Roboto"/>
            </a:endParaRPr>
          </a:p>
        </p:txBody>
      </p:sp>
      <p:pic>
        <p:nvPicPr>
          <p:cNvPr id="386" name="Google Shape;386;p46"/>
          <p:cNvPicPr preferRelativeResize="0"/>
          <p:nvPr/>
        </p:nvPicPr>
        <p:blipFill rotWithShape="1">
          <a:blip r:embed="rId3">
            <a:alphaModFix/>
          </a:blip>
          <a:srcRect b="0" l="0" r="0" t="0"/>
          <a:stretch/>
        </p:blipFill>
        <p:spPr>
          <a:xfrm>
            <a:off x="669050" y="1304225"/>
            <a:ext cx="2880023" cy="369457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Interface Segregation Principle</a:t>
            </a:r>
            <a:endParaRPr/>
          </a:p>
        </p:txBody>
      </p:sp>
      <p:sp>
        <p:nvSpPr>
          <p:cNvPr id="392" name="Google Shape;392;p47"/>
          <p:cNvSpPr txBox="1"/>
          <p:nvPr/>
        </p:nvSpPr>
        <p:spPr>
          <a:xfrm>
            <a:off x="1432025" y="2177925"/>
            <a:ext cx="6518400" cy="10146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Derived class shouldn’t be forced to depend on methods they do not use.</a:t>
            </a:r>
            <a:endParaRPr b="0" i="0" sz="2100" u="none" cap="none" strike="noStrike">
              <a:solidFill>
                <a:schemeClr val="dk1"/>
              </a:solidFill>
              <a:latin typeface="Roboto"/>
              <a:ea typeface="Roboto"/>
              <a:cs typeface="Roboto"/>
              <a:sym typeface="Roboto"/>
            </a:endParaRPr>
          </a:p>
          <a:p>
            <a:pPr indent="0" lvl="0" marL="0" marR="0" rtl="0" algn="ctr">
              <a:lnSpc>
                <a:spcPct val="115000"/>
              </a:lnSpc>
              <a:spcBef>
                <a:spcPts val="1200"/>
              </a:spcBef>
              <a:spcAft>
                <a:spcPts val="1200"/>
              </a:spcAft>
              <a:buClr>
                <a:srgbClr val="000000"/>
              </a:buClr>
              <a:buSzPts val="2100"/>
              <a:buFont typeface="Arial"/>
              <a:buNone/>
            </a:pPr>
            <a:r>
              <a:t/>
            </a:r>
            <a:endParaRPr b="0" i="0" sz="2100" u="none" cap="none" strike="noStrike">
              <a:solidFill>
                <a:schemeClr val="dk1"/>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Interface Segregation Principle</a:t>
            </a:r>
            <a:endParaRPr/>
          </a:p>
        </p:txBody>
      </p:sp>
      <p:sp>
        <p:nvSpPr>
          <p:cNvPr id="398" name="Google Shape;398;p48"/>
          <p:cNvSpPr txBox="1"/>
          <p:nvPr/>
        </p:nvSpPr>
        <p:spPr>
          <a:xfrm>
            <a:off x="387900" y="1710900"/>
            <a:ext cx="5260200" cy="68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Remember Monster example </a:t>
            </a:r>
            <a:endParaRPr b="0" i="0" sz="1800" u="none" cap="none" strike="noStrike">
              <a:solidFill>
                <a:schemeClr val="dk1"/>
              </a:solidFill>
              <a:latin typeface="Roboto"/>
              <a:ea typeface="Roboto"/>
              <a:cs typeface="Roboto"/>
              <a:sym typeface="Roboto"/>
            </a:endParaRPr>
          </a:p>
        </p:txBody>
      </p:sp>
      <p:pic>
        <p:nvPicPr>
          <p:cNvPr id="399" name="Google Shape;399;p48"/>
          <p:cNvPicPr preferRelativeResize="0"/>
          <p:nvPr/>
        </p:nvPicPr>
        <p:blipFill rotWithShape="1">
          <a:blip r:embed="rId3">
            <a:alphaModFix/>
          </a:blip>
          <a:srcRect b="0" l="0" r="0" t="0"/>
          <a:stretch/>
        </p:blipFill>
        <p:spPr>
          <a:xfrm>
            <a:off x="4627475" y="1223375"/>
            <a:ext cx="4184099" cy="3656089"/>
          </a:xfrm>
          <a:prstGeom prst="rect">
            <a:avLst/>
          </a:prstGeom>
          <a:noFill/>
          <a:ln>
            <a:noFill/>
          </a:ln>
        </p:spPr>
      </p:pic>
      <p:sp>
        <p:nvSpPr>
          <p:cNvPr id="400" name="Google Shape;400;p48"/>
          <p:cNvSpPr txBox="1"/>
          <p:nvPr/>
        </p:nvSpPr>
        <p:spPr>
          <a:xfrm>
            <a:off x="387900" y="2571750"/>
            <a:ext cx="3241500" cy="116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you should break down “fat” Interface into more granular and specific ones.</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Dependency Inversion Principle</a:t>
            </a:r>
            <a:endParaRPr/>
          </a:p>
        </p:txBody>
      </p:sp>
      <p:sp>
        <p:nvSpPr>
          <p:cNvPr id="406" name="Google Shape;406;p49"/>
          <p:cNvSpPr txBox="1"/>
          <p:nvPr/>
        </p:nvSpPr>
        <p:spPr>
          <a:xfrm>
            <a:off x="1069575" y="2162525"/>
            <a:ext cx="7104600" cy="1793400"/>
          </a:xfrm>
          <a:prstGeom prst="rect">
            <a:avLst/>
          </a:prstGeom>
          <a:noFill/>
          <a:ln cap="flat" cmpd="sng" w="9525">
            <a:solidFill>
              <a:schemeClr val="dk1"/>
            </a:solidFill>
            <a:prstDash val="lgDash"/>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100"/>
              <a:buFont typeface="Arial"/>
              <a:buNone/>
            </a:pPr>
            <a:r>
              <a:rPr b="0" i="0" lang="en" sz="2100" u="none" cap="none" strike="noStrike">
                <a:solidFill>
                  <a:schemeClr val="dk1"/>
                </a:solidFill>
                <a:latin typeface="Roboto"/>
                <a:ea typeface="Roboto"/>
                <a:cs typeface="Roboto"/>
                <a:sym typeface="Roboto"/>
              </a:rPr>
              <a:t>High-level classes shouldn’t depend on low-level </a:t>
            </a:r>
            <a:br>
              <a:rPr b="0" i="0" lang="en" sz="2100" u="none" cap="none" strike="noStrike">
                <a:solidFill>
                  <a:schemeClr val="dk1"/>
                </a:solidFill>
                <a:latin typeface="Roboto"/>
                <a:ea typeface="Roboto"/>
                <a:cs typeface="Roboto"/>
                <a:sym typeface="Roboto"/>
              </a:rPr>
            </a:br>
            <a:r>
              <a:rPr b="0" i="0" lang="en" sz="2100" u="none" cap="none" strike="noStrike">
                <a:solidFill>
                  <a:schemeClr val="dk1"/>
                </a:solidFill>
                <a:latin typeface="Roboto"/>
                <a:ea typeface="Roboto"/>
                <a:cs typeface="Roboto"/>
                <a:sym typeface="Roboto"/>
              </a:rPr>
              <a:t>classes. Both should depend on abstractions. Abstractions shouldn’t depend on details. </a:t>
            </a:r>
            <a:br>
              <a:rPr b="0" i="0" lang="en" sz="2100" u="none" cap="none" strike="noStrike">
                <a:solidFill>
                  <a:schemeClr val="dk1"/>
                </a:solidFill>
                <a:latin typeface="Roboto"/>
                <a:ea typeface="Roboto"/>
                <a:cs typeface="Roboto"/>
                <a:sym typeface="Roboto"/>
              </a:rPr>
            </a:br>
            <a:r>
              <a:rPr b="0" i="0" lang="en" sz="2100" u="none" cap="none" strike="noStrike">
                <a:solidFill>
                  <a:schemeClr val="dk1"/>
                </a:solidFill>
                <a:latin typeface="Roboto"/>
                <a:ea typeface="Roboto"/>
                <a:cs typeface="Roboto"/>
                <a:sym typeface="Roboto"/>
              </a:rPr>
              <a:t>Details should depend on abstractions.</a:t>
            </a:r>
            <a:endParaRPr b="0" i="0" sz="2100" u="none" cap="none" strike="noStrike">
              <a:solidFill>
                <a:schemeClr val="dk1"/>
              </a:solidFill>
              <a:latin typeface="Roboto"/>
              <a:ea typeface="Roboto"/>
              <a:cs typeface="Roboto"/>
              <a:sym typeface="Roboto"/>
            </a:endParaRPr>
          </a:p>
          <a:p>
            <a:pPr indent="0" lvl="0" marL="0" marR="0" rtl="0" algn="ctr">
              <a:lnSpc>
                <a:spcPct val="115000"/>
              </a:lnSpc>
              <a:spcBef>
                <a:spcPts val="1200"/>
              </a:spcBef>
              <a:spcAft>
                <a:spcPts val="1200"/>
              </a:spcAft>
              <a:buClr>
                <a:srgbClr val="000000"/>
              </a:buClr>
              <a:buSzPts val="2100"/>
              <a:buFont typeface="Arial"/>
              <a:buNone/>
            </a:pPr>
            <a:r>
              <a:t/>
            </a:r>
            <a:endParaRPr b="0" i="0" sz="2100" u="none" cap="none" strike="noStrike">
              <a:solidFill>
                <a:schemeClr val="dk1"/>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Dependency Inversion Principle</a:t>
            </a:r>
            <a:endParaRPr/>
          </a:p>
        </p:txBody>
      </p:sp>
      <p:sp>
        <p:nvSpPr>
          <p:cNvPr id="412" name="Google Shape;412;p50"/>
          <p:cNvSpPr txBox="1"/>
          <p:nvPr/>
        </p:nvSpPr>
        <p:spPr>
          <a:xfrm>
            <a:off x="6909425" y="2571750"/>
            <a:ext cx="19278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Is there a problem here ?</a:t>
            </a:r>
            <a:endParaRPr b="0" i="0" sz="1800" u="none" cap="none" strike="noStrike">
              <a:solidFill>
                <a:schemeClr val="dk1"/>
              </a:solidFill>
              <a:latin typeface="Roboto"/>
              <a:ea typeface="Roboto"/>
              <a:cs typeface="Roboto"/>
              <a:sym typeface="Roboto"/>
            </a:endParaRPr>
          </a:p>
        </p:txBody>
      </p:sp>
      <p:pic>
        <p:nvPicPr>
          <p:cNvPr id="413" name="Google Shape;413;p50" title="carbon (45).png"/>
          <p:cNvPicPr preferRelativeResize="0"/>
          <p:nvPr/>
        </p:nvPicPr>
        <p:blipFill>
          <a:blip r:embed="rId3">
            <a:alphaModFix/>
          </a:blip>
          <a:stretch>
            <a:fillRect/>
          </a:stretch>
        </p:blipFill>
        <p:spPr>
          <a:xfrm>
            <a:off x="-39100" y="701400"/>
            <a:ext cx="6017351" cy="459065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Dependency Inversion Principle</a:t>
            </a:r>
            <a:endParaRPr/>
          </a:p>
        </p:txBody>
      </p:sp>
      <p:sp>
        <p:nvSpPr>
          <p:cNvPr id="419" name="Google Shape;419;p52"/>
          <p:cNvSpPr txBox="1"/>
          <p:nvPr/>
        </p:nvSpPr>
        <p:spPr>
          <a:xfrm>
            <a:off x="6909425" y="2571750"/>
            <a:ext cx="19278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420" name="Google Shape;420;p52"/>
          <p:cNvSpPr/>
          <p:nvPr/>
        </p:nvSpPr>
        <p:spPr>
          <a:xfrm>
            <a:off x="1295500" y="1449750"/>
            <a:ext cx="19665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2000">
                <a:latin typeface="Roboto"/>
                <a:ea typeface="Roboto"/>
                <a:cs typeface="Roboto"/>
                <a:sym typeface="Roboto"/>
              </a:rPr>
              <a:t>Light Switch</a:t>
            </a:r>
            <a:endParaRPr b="1" i="0" sz="2000" u="none" cap="none" strike="noStrike">
              <a:solidFill>
                <a:srgbClr val="000000"/>
              </a:solidFill>
              <a:latin typeface="Roboto"/>
              <a:ea typeface="Roboto"/>
              <a:cs typeface="Roboto"/>
              <a:sym typeface="Roboto"/>
            </a:endParaRPr>
          </a:p>
        </p:txBody>
      </p:sp>
      <p:sp>
        <p:nvSpPr>
          <p:cNvPr id="421" name="Google Shape;421;p52"/>
          <p:cNvSpPr/>
          <p:nvPr/>
        </p:nvSpPr>
        <p:spPr>
          <a:xfrm>
            <a:off x="5712325" y="1449750"/>
            <a:ext cx="19665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2000">
                <a:latin typeface="Roboto"/>
                <a:ea typeface="Roboto"/>
                <a:cs typeface="Roboto"/>
                <a:sym typeface="Roboto"/>
              </a:rPr>
              <a:t>Philips</a:t>
            </a:r>
            <a:endParaRPr b="1" i="0" sz="2000" u="none" cap="none" strike="noStrike">
              <a:solidFill>
                <a:srgbClr val="000000"/>
              </a:solidFill>
              <a:latin typeface="Roboto"/>
              <a:ea typeface="Roboto"/>
              <a:cs typeface="Roboto"/>
              <a:sym typeface="Roboto"/>
            </a:endParaRPr>
          </a:p>
        </p:txBody>
      </p:sp>
      <p:cxnSp>
        <p:nvCxnSpPr>
          <p:cNvPr id="422" name="Google Shape;422;p52"/>
          <p:cNvCxnSpPr>
            <a:stCxn id="420" idx="3"/>
            <a:endCxn id="421" idx="1"/>
          </p:cNvCxnSpPr>
          <p:nvPr/>
        </p:nvCxnSpPr>
        <p:spPr>
          <a:xfrm>
            <a:off x="3262000" y="1970250"/>
            <a:ext cx="2450400" cy="0"/>
          </a:xfrm>
          <a:prstGeom prst="straightConnector1">
            <a:avLst/>
          </a:prstGeom>
          <a:noFill/>
          <a:ln cap="flat" cmpd="sng" w="9525">
            <a:solidFill>
              <a:srgbClr val="B6D7A8"/>
            </a:solidFill>
            <a:prstDash val="solid"/>
            <a:round/>
            <a:headEnd len="sm" w="sm" type="none"/>
            <a:tailEnd len="med" w="med" type="triangle"/>
          </a:ln>
        </p:spPr>
      </p:cxnSp>
      <p:sp>
        <p:nvSpPr>
          <p:cNvPr id="423" name="Google Shape;423;p52"/>
          <p:cNvSpPr/>
          <p:nvPr/>
        </p:nvSpPr>
        <p:spPr>
          <a:xfrm>
            <a:off x="1295500" y="2859100"/>
            <a:ext cx="19665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2000"/>
              <a:buFont typeface="Arial"/>
              <a:buNone/>
            </a:pPr>
            <a:r>
              <a:rPr b="1" lang="en" sz="2000">
                <a:latin typeface="Roboto"/>
                <a:ea typeface="Roboto"/>
                <a:cs typeface="Roboto"/>
                <a:sym typeface="Roboto"/>
              </a:rPr>
              <a:t>Light Switch</a:t>
            </a:r>
            <a:endParaRPr b="1" sz="2000">
              <a:latin typeface="Roboto"/>
              <a:ea typeface="Roboto"/>
              <a:cs typeface="Roboto"/>
              <a:sym typeface="Roboto"/>
            </a:endParaRPr>
          </a:p>
        </p:txBody>
      </p:sp>
      <p:sp>
        <p:nvSpPr>
          <p:cNvPr id="424" name="Google Shape;424;p52"/>
          <p:cNvSpPr/>
          <p:nvPr/>
        </p:nvSpPr>
        <p:spPr>
          <a:xfrm>
            <a:off x="5712325" y="2859100"/>
            <a:ext cx="19665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2000">
                <a:latin typeface="Roboto"/>
                <a:ea typeface="Roboto"/>
                <a:cs typeface="Roboto"/>
                <a:sym typeface="Roboto"/>
              </a:rPr>
              <a:t>Panasonic</a:t>
            </a:r>
            <a:endParaRPr b="1" i="0" sz="2000" u="none" cap="none" strike="noStrike">
              <a:solidFill>
                <a:srgbClr val="000000"/>
              </a:solidFill>
              <a:latin typeface="Roboto"/>
              <a:ea typeface="Roboto"/>
              <a:cs typeface="Roboto"/>
              <a:sym typeface="Roboto"/>
            </a:endParaRPr>
          </a:p>
        </p:txBody>
      </p:sp>
      <p:cxnSp>
        <p:nvCxnSpPr>
          <p:cNvPr id="425" name="Google Shape;425;p52"/>
          <p:cNvCxnSpPr/>
          <p:nvPr/>
        </p:nvCxnSpPr>
        <p:spPr>
          <a:xfrm>
            <a:off x="3262000" y="3379600"/>
            <a:ext cx="2450400" cy="0"/>
          </a:xfrm>
          <a:prstGeom prst="straightConnector1">
            <a:avLst/>
          </a:prstGeom>
          <a:noFill/>
          <a:ln cap="flat" cmpd="sng" w="9525">
            <a:solidFill>
              <a:srgbClr val="B6D7A8"/>
            </a:solidFill>
            <a:prstDash val="solid"/>
            <a:round/>
            <a:headEnd len="sm" w="sm"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Dependency Inversion Principle</a:t>
            </a:r>
            <a:endParaRPr/>
          </a:p>
        </p:txBody>
      </p:sp>
      <p:sp>
        <p:nvSpPr>
          <p:cNvPr id="431" name="Google Shape;431;p53"/>
          <p:cNvSpPr txBox="1"/>
          <p:nvPr/>
        </p:nvSpPr>
        <p:spPr>
          <a:xfrm>
            <a:off x="6909425" y="2571750"/>
            <a:ext cx="19278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432" name="Google Shape;432;p53"/>
          <p:cNvSpPr/>
          <p:nvPr/>
        </p:nvSpPr>
        <p:spPr>
          <a:xfrm>
            <a:off x="840550" y="2535225"/>
            <a:ext cx="19665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2000"/>
              <a:buFont typeface="Arial"/>
              <a:buNone/>
            </a:pPr>
            <a:r>
              <a:rPr b="1" lang="en" sz="2000">
                <a:latin typeface="Roboto"/>
                <a:ea typeface="Roboto"/>
                <a:cs typeface="Roboto"/>
                <a:sym typeface="Roboto"/>
              </a:rPr>
              <a:t>Light Switch</a:t>
            </a:r>
            <a:endParaRPr b="1" sz="2000">
              <a:latin typeface="Roboto"/>
              <a:ea typeface="Roboto"/>
              <a:cs typeface="Roboto"/>
              <a:sym typeface="Roboto"/>
            </a:endParaRPr>
          </a:p>
        </p:txBody>
      </p:sp>
      <p:sp>
        <p:nvSpPr>
          <p:cNvPr id="433" name="Google Shape;433;p53"/>
          <p:cNvSpPr/>
          <p:nvPr/>
        </p:nvSpPr>
        <p:spPr>
          <a:xfrm>
            <a:off x="6583725" y="1550525"/>
            <a:ext cx="19665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2000">
                <a:latin typeface="Roboto"/>
                <a:ea typeface="Roboto"/>
                <a:cs typeface="Roboto"/>
                <a:sym typeface="Roboto"/>
              </a:rPr>
              <a:t>Philips</a:t>
            </a:r>
            <a:endParaRPr b="1" i="0" sz="2000" u="none" cap="none" strike="noStrike">
              <a:solidFill>
                <a:srgbClr val="000000"/>
              </a:solidFill>
              <a:latin typeface="Roboto"/>
              <a:ea typeface="Roboto"/>
              <a:cs typeface="Roboto"/>
              <a:sym typeface="Roboto"/>
            </a:endParaRPr>
          </a:p>
        </p:txBody>
      </p:sp>
      <p:sp>
        <p:nvSpPr>
          <p:cNvPr id="434" name="Google Shape;434;p53"/>
          <p:cNvSpPr/>
          <p:nvPr/>
        </p:nvSpPr>
        <p:spPr>
          <a:xfrm>
            <a:off x="6653125" y="2997925"/>
            <a:ext cx="19665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2000">
                <a:latin typeface="Roboto"/>
                <a:ea typeface="Roboto"/>
                <a:cs typeface="Roboto"/>
                <a:sym typeface="Roboto"/>
              </a:rPr>
              <a:t>Panasonic</a:t>
            </a:r>
            <a:endParaRPr b="1" i="0" sz="2000" u="none" cap="none" strike="noStrike">
              <a:solidFill>
                <a:srgbClr val="000000"/>
              </a:solidFill>
              <a:latin typeface="Roboto"/>
              <a:ea typeface="Roboto"/>
              <a:cs typeface="Roboto"/>
              <a:sym typeface="Roboto"/>
            </a:endParaRPr>
          </a:p>
        </p:txBody>
      </p:sp>
      <p:sp>
        <p:nvSpPr>
          <p:cNvPr id="435" name="Google Shape;435;p53"/>
          <p:cNvSpPr/>
          <p:nvPr/>
        </p:nvSpPr>
        <p:spPr>
          <a:xfrm>
            <a:off x="3812363" y="2535225"/>
            <a:ext cx="1966500" cy="104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2000">
                <a:latin typeface="Roboto"/>
                <a:ea typeface="Roboto"/>
                <a:cs typeface="Roboto"/>
                <a:sym typeface="Roboto"/>
              </a:rPr>
              <a:t>Light</a:t>
            </a:r>
            <a:endParaRPr b="1" i="0" sz="2000" u="none" cap="none" strike="noStrike">
              <a:solidFill>
                <a:srgbClr val="000000"/>
              </a:solidFill>
              <a:latin typeface="Roboto"/>
              <a:ea typeface="Roboto"/>
              <a:cs typeface="Roboto"/>
              <a:sym typeface="Roboto"/>
            </a:endParaRPr>
          </a:p>
        </p:txBody>
      </p:sp>
      <p:cxnSp>
        <p:nvCxnSpPr>
          <p:cNvPr id="436" name="Google Shape;436;p53"/>
          <p:cNvCxnSpPr>
            <a:endCxn id="435" idx="1"/>
          </p:cNvCxnSpPr>
          <p:nvPr/>
        </p:nvCxnSpPr>
        <p:spPr>
          <a:xfrm>
            <a:off x="2745263" y="3055725"/>
            <a:ext cx="1067100" cy="0"/>
          </a:xfrm>
          <a:prstGeom prst="straightConnector1">
            <a:avLst/>
          </a:prstGeom>
          <a:noFill/>
          <a:ln cap="flat" cmpd="sng" w="9525">
            <a:solidFill>
              <a:srgbClr val="B6D7A8"/>
            </a:solidFill>
            <a:prstDash val="solid"/>
            <a:round/>
            <a:headEnd len="sm" w="sm" type="none"/>
            <a:tailEnd len="med" w="med" type="triangle"/>
          </a:ln>
        </p:spPr>
      </p:cxnSp>
      <p:cxnSp>
        <p:nvCxnSpPr>
          <p:cNvPr id="437" name="Google Shape;437;p53"/>
          <p:cNvCxnSpPr>
            <a:stCxn id="433" idx="1"/>
            <a:endCxn id="435" idx="3"/>
          </p:cNvCxnSpPr>
          <p:nvPr/>
        </p:nvCxnSpPr>
        <p:spPr>
          <a:xfrm flipH="1">
            <a:off x="5778825" y="2071025"/>
            <a:ext cx="804900" cy="984600"/>
          </a:xfrm>
          <a:prstGeom prst="straightConnector1">
            <a:avLst/>
          </a:prstGeom>
          <a:noFill/>
          <a:ln cap="flat" cmpd="sng" w="9525">
            <a:solidFill>
              <a:srgbClr val="B6D7A8"/>
            </a:solidFill>
            <a:prstDash val="solid"/>
            <a:round/>
            <a:headEnd len="sm" w="sm" type="none"/>
            <a:tailEnd len="med" w="med" type="triangle"/>
          </a:ln>
        </p:spPr>
      </p:cxnSp>
      <p:cxnSp>
        <p:nvCxnSpPr>
          <p:cNvPr id="438" name="Google Shape;438;p53"/>
          <p:cNvCxnSpPr>
            <a:stCxn id="434" idx="1"/>
            <a:endCxn id="435" idx="3"/>
          </p:cNvCxnSpPr>
          <p:nvPr/>
        </p:nvCxnSpPr>
        <p:spPr>
          <a:xfrm rot="10800000">
            <a:off x="5778925" y="3055825"/>
            <a:ext cx="874200" cy="462600"/>
          </a:xfrm>
          <a:prstGeom prst="straightConnector1">
            <a:avLst/>
          </a:prstGeom>
          <a:noFill/>
          <a:ln cap="flat" cmpd="sng" w="9525">
            <a:solidFill>
              <a:srgbClr val="B6D7A8"/>
            </a:solidFill>
            <a:prstDash val="solid"/>
            <a:round/>
            <a:headEnd len="sm" w="sm"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Dependency Inversion Principle</a:t>
            </a:r>
            <a:endParaRPr/>
          </a:p>
        </p:txBody>
      </p:sp>
      <p:pic>
        <p:nvPicPr>
          <p:cNvPr id="444" name="Google Shape;444;p54" title="carbon (46).png"/>
          <p:cNvPicPr preferRelativeResize="0"/>
          <p:nvPr/>
        </p:nvPicPr>
        <p:blipFill>
          <a:blip r:embed="rId3">
            <a:alphaModFix/>
          </a:blip>
          <a:stretch>
            <a:fillRect/>
          </a:stretch>
        </p:blipFill>
        <p:spPr>
          <a:xfrm>
            <a:off x="106800" y="1054567"/>
            <a:ext cx="5043174" cy="4241333"/>
          </a:xfrm>
          <a:prstGeom prst="rect">
            <a:avLst/>
          </a:prstGeom>
          <a:noFill/>
          <a:ln>
            <a:noFill/>
          </a:ln>
        </p:spPr>
      </p:pic>
      <p:pic>
        <p:nvPicPr>
          <p:cNvPr id="445" name="Google Shape;445;p54" title="carbon (47).png"/>
          <p:cNvPicPr preferRelativeResize="0"/>
          <p:nvPr/>
        </p:nvPicPr>
        <p:blipFill>
          <a:blip r:embed="rId4">
            <a:alphaModFix/>
          </a:blip>
          <a:stretch>
            <a:fillRect/>
          </a:stretch>
        </p:blipFill>
        <p:spPr>
          <a:xfrm>
            <a:off x="4381275" y="988676"/>
            <a:ext cx="5043176" cy="312826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