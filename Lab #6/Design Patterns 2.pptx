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Raleway"/>
      <p:regular r:id="rId46"/>
      <p:bold r:id="rId47"/>
      <p:italic r:id="rId48"/>
      <p:boldItalic r:id="rId49"/>
    </p:embeddedFont>
    <p:embeddedFont>
      <p:font typeface="Roboto"/>
      <p:regular r:id="rId50"/>
      <p:bold r:id="rId51"/>
      <p:italic r:id="rId52"/>
      <p:boldItalic r:id="rId53"/>
    </p:embeddedFont>
    <p:embeddedFont>
      <p:font typeface="Lat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8" roundtripDataSignature="AMtx7mjOiEdaZp3uI3Q22ogvSaxwFLVS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aleway-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italic.fntdata"/><Relationship Id="rId47" Type="http://schemas.openxmlformats.org/officeDocument/2006/relationships/font" Target="fonts/Raleway-bold.fntdata"/><Relationship Id="rId49"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55" Type="http://schemas.openxmlformats.org/officeDocument/2006/relationships/font" Target="fonts/Lato-bold.fntdata"/><Relationship Id="rId10" Type="http://schemas.openxmlformats.org/officeDocument/2006/relationships/slide" Target="slides/slide5.xml"/><Relationship Id="rId54" Type="http://schemas.openxmlformats.org/officeDocument/2006/relationships/font" Target="fonts/Lato-regular.fntdata"/><Relationship Id="rId13" Type="http://schemas.openxmlformats.org/officeDocument/2006/relationships/slide" Target="slides/slide8.xml"/><Relationship Id="rId57" Type="http://schemas.openxmlformats.org/officeDocument/2006/relationships/font" Target="fonts/Lato-boldItalic.fntdata"/><Relationship Id="rId12" Type="http://schemas.openxmlformats.org/officeDocument/2006/relationships/slide" Target="slides/slide7.xml"/><Relationship Id="rId56"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Don’t explain any of them in details..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What’s the problem here??</a:t>
            </a:r>
            <a:br>
              <a:rPr lang="en"/>
            </a:br>
            <a:r>
              <a:rPr lang="en"/>
              <a:t>Each function calculates a discount but duplicates similar code for printing, calculating, and returning the total. If any logic in the discount calculation or output formatting changes, we need to update each function individually, increasing maintenance effort and the chance of errors.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The code of the problem. What can we do to make sure that there is only one boiler??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The code of the solution:</a:t>
            </a:r>
            <a:endParaRPr/>
          </a:p>
          <a:p>
            <a:pPr indent="0" lvl="0" marL="158750" rtl="0" algn="l">
              <a:lnSpc>
                <a:spcPct val="100000"/>
              </a:lnSpc>
              <a:spcBef>
                <a:spcPts val="0"/>
              </a:spcBef>
              <a:spcAft>
                <a:spcPts val="0"/>
              </a:spcAft>
              <a:buSzPts val="1100"/>
              <a:buNone/>
            </a:pPr>
            <a:r>
              <a:rPr lang="en"/>
              <a:t>The @classmethod decorator tells Python that get_instance is a </a:t>
            </a:r>
            <a:r>
              <a:rPr b="1" lang="en"/>
              <a:t>class method</a:t>
            </a:r>
            <a:r>
              <a:rPr lang="en"/>
              <a:t> rather than a </a:t>
            </a:r>
            <a:r>
              <a:rPr b="1" lang="en"/>
              <a:t>regular instance method</a:t>
            </a:r>
            <a:r>
              <a:rPr lang="en"/>
              <a:t>. This will allow get_instance to be called from the class itself.</a:t>
            </a:r>
            <a:br>
              <a:rPr lang="en"/>
            </a:br>
            <a:r>
              <a:rPr lang="en"/>
              <a:t>This is not available in all language, so, the Singleton design pattern is implemented differently for each language, but the premise remains the same.</a:t>
            </a:r>
            <a:endParaRPr/>
          </a:p>
          <a:p>
            <a:pPr indent="0" lvl="0" marL="158750" rtl="0" algn="l">
              <a:lnSpc>
                <a:spcPct val="100000"/>
              </a:lnSpc>
              <a:spcBef>
                <a:spcPts val="0"/>
              </a:spcBef>
              <a:spcAft>
                <a:spcPts val="0"/>
              </a:spcAft>
              <a:buSzPts val="1100"/>
              <a:buNone/>
            </a:pPr>
            <a:r>
              <a:rPr lang="en"/>
              <a:t>In </a:t>
            </a:r>
            <a:r>
              <a:rPr b="1" lang="en"/>
              <a:t>C++</a:t>
            </a:r>
            <a:r>
              <a:rPr lang="en"/>
              <a:t>, we use a static instance pointer within the class itself and a private constructor to prevent multiple instances. In </a:t>
            </a:r>
            <a:r>
              <a:rPr b="1" lang="en"/>
              <a:t>JavaScript</a:t>
            </a:r>
            <a:r>
              <a:rPr lang="en"/>
              <a:t>, we check within the constructor if an instance exists (using ChocolateBoiler.instance) and return that instance if it does.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41a5989f1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41a5989f1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Recall:</a:t>
            </a:r>
            <a:endParaRPr/>
          </a:p>
          <a:p>
            <a:pPr indent="0" lvl="0" marL="0" rtl="0" algn="l">
              <a:lnSpc>
                <a:spcPct val="100000"/>
              </a:lnSpc>
              <a:spcBef>
                <a:spcPts val="0"/>
              </a:spcBef>
              <a:spcAft>
                <a:spcPts val="0"/>
              </a:spcAft>
              <a:buSzPts val="1100"/>
              <a:buNone/>
            </a:pPr>
            <a:r>
              <a:rPr lang="en"/>
              <a:t>S stands for single responsibility principle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One such solution (bad). We have a lot of combinations!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Another solution (also bad). What if we want to change the prices of add-ons or add different add-ons?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The code of the solution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
              <a:t>The code of the solution</a:t>
            </a:r>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
              <a:t>The code of the solution</a:t>
            </a:r>
            <a:endParaRPr/>
          </a:p>
          <a:p>
            <a:pPr indent="0" lvl="0" marL="15875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Recall:</a:t>
            </a:r>
            <a:endParaRPr/>
          </a:p>
          <a:p>
            <a:pPr indent="0" lvl="0" marL="0" rtl="0" algn="l">
              <a:lnSpc>
                <a:spcPct val="100000"/>
              </a:lnSpc>
              <a:spcBef>
                <a:spcPts val="0"/>
              </a:spcBef>
              <a:spcAft>
                <a:spcPts val="0"/>
              </a:spcAft>
              <a:buSzPts val="1100"/>
              <a:buNone/>
            </a:pPr>
            <a:r>
              <a:rPr lang="en"/>
              <a:t>S stands for single responsibility principle</a:t>
            </a:r>
            <a:endParaRPr/>
          </a:p>
          <a:p>
            <a:pPr indent="0" lvl="0" marL="0" rtl="0" algn="l">
              <a:lnSpc>
                <a:spcPct val="100000"/>
              </a:lnSpc>
              <a:spcBef>
                <a:spcPts val="0"/>
              </a:spcBef>
              <a:spcAft>
                <a:spcPts val="0"/>
              </a:spcAft>
              <a:buSzPts val="1100"/>
              <a:buNone/>
            </a:pPr>
            <a:r>
              <a:rPr lang="en"/>
              <a:t>O stands for open/closed principle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One such solution (bad). This solution introduces tight coupling, where each display class is directly tied to WeatherData. Adding or removing displays requires modifying WeatherData.</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6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
              <a:t>The code of the solution</a:t>
            </a:r>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
              <a:t>The code of the solution</a:t>
            </a:r>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
              <a:t>The code of the solution</a:t>
            </a:r>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
              <a:t>The code of the solution</a:t>
            </a:r>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Recall:</a:t>
            </a:r>
            <a:endParaRPr/>
          </a:p>
          <a:p>
            <a:pPr indent="0" lvl="0" marL="0" rtl="0" algn="l">
              <a:lnSpc>
                <a:spcPct val="100000"/>
              </a:lnSpc>
              <a:spcBef>
                <a:spcPts val="0"/>
              </a:spcBef>
              <a:spcAft>
                <a:spcPts val="0"/>
              </a:spcAft>
              <a:buSzPts val="1100"/>
              <a:buNone/>
            </a:pPr>
            <a:r>
              <a:rPr lang="en"/>
              <a:t>O stands for open/closed principle</a:t>
            </a:r>
            <a:endParaRPr/>
          </a:p>
          <a:p>
            <a:pPr indent="0" lvl="0" marL="0" rtl="0" algn="l">
              <a:lnSpc>
                <a:spcPct val="100000"/>
              </a:lnSpc>
              <a:spcBef>
                <a:spcPts val="0"/>
              </a:spcBef>
              <a:spcAft>
                <a:spcPts val="0"/>
              </a:spcAft>
              <a:buSzPts val="1100"/>
              <a:buNone/>
            </a:pPr>
            <a:r>
              <a:rPr lang="en"/>
              <a:t>D stands for dependency inversion principle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33"/>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33"/>
          <p:cNvGrpSpPr/>
          <p:nvPr/>
        </p:nvGrpSpPr>
        <p:grpSpPr>
          <a:xfrm>
            <a:off x="830392" y="1191256"/>
            <a:ext cx="745763" cy="45826"/>
            <a:chOff x="4580561" y="2589004"/>
            <a:chExt cx="1064464" cy="25200"/>
          </a:xfrm>
        </p:grpSpPr>
        <p:sp>
          <p:nvSpPr>
            <p:cNvPr id="12" name="Google Shape;12;p3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3"/>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33"/>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7" name="Shape 17"/>
        <p:cNvGrpSpPr/>
        <p:nvPr/>
      </p:nvGrpSpPr>
      <p:grpSpPr>
        <a:xfrm>
          <a:off x="0" y="0"/>
          <a:ext cx="0" cy="0"/>
          <a:chOff x="0" y="0"/>
          <a:chExt cx="0" cy="0"/>
        </a:xfrm>
      </p:grpSpPr>
      <p:grpSp>
        <p:nvGrpSpPr>
          <p:cNvPr id="18" name="Google Shape;18;p34"/>
          <p:cNvGrpSpPr/>
          <p:nvPr/>
        </p:nvGrpSpPr>
        <p:grpSpPr>
          <a:xfrm>
            <a:off x="830392" y="4169130"/>
            <a:ext cx="745763" cy="45826"/>
            <a:chOff x="4580561" y="2589004"/>
            <a:chExt cx="1064464" cy="25200"/>
          </a:xfrm>
        </p:grpSpPr>
        <p:sp>
          <p:nvSpPr>
            <p:cNvPr id="19" name="Google Shape;19;p3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34"/>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22" name="Google Shape;22;p34"/>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23" name="Google Shape;23;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3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6" name="Google Shape;26;p35"/>
          <p:cNvGrpSpPr/>
          <p:nvPr/>
        </p:nvGrpSpPr>
        <p:grpSpPr>
          <a:xfrm>
            <a:off x="830392" y="1191256"/>
            <a:ext cx="745763" cy="45826"/>
            <a:chOff x="4580561" y="2589004"/>
            <a:chExt cx="1064464" cy="25200"/>
          </a:xfrm>
        </p:grpSpPr>
        <p:sp>
          <p:nvSpPr>
            <p:cNvPr id="27" name="Google Shape;27;p3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3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0" name="Google Shape;30;p3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1" name="Google Shape;31;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3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36"/>
          <p:cNvGrpSpPr/>
          <p:nvPr/>
        </p:nvGrpSpPr>
        <p:grpSpPr>
          <a:xfrm>
            <a:off x="830392" y="1191256"/>
            <a:ext cx="745763" cy="45826"/>
            <a:chOff x="4580561" y="2589004"/>
            <a:chExt cx="1064464" cy="25200"/>
          </a:xfrm>
        </p:grpSpPr>
        <p:sp>
          <p:nvSpPr>
            <p:cNvPr id="35" name="Google Shape;35;p3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3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3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1" name="Shape 41"/>
        <p:cNvGrpSpPr/>
        <p:nvPr/>
      </p:nvGrpSpPr>
      <p:grpSpPr>
        <a:xfrm>
          <a:off x="0" y="0"/>
          <a:ext cx="0" cy="0"/>
          <a:chOff x="0" y="0"/>
          <a:chExt cx="0" cy="0"/>
        </a:xfrm>
      </p:grpSpPr>
      <p:grpSp>
        <p:nvGrpSpPr>
          <p:cNvPr id="42" name="Google Shape;42;p39"/>
          <p:cNvGrpSpPr/>
          <p:nvPr/>
        </p:nvGrpSpPr>
        <p:grpSpPr>
          <a:xfrm>
            <a:off x="830392" y="1191256"/>
            <a:ext cx="745763" cy="45826"/>
            <a:chOff x="4580561" y="2589004"/>
            <a:chExt cx="1064464" cy="25200"/>
          </a:xfrm>
        </p:grpSpPr>
        <p:sp>
          <p:nvSpPr>
            <p:cNvPr id="43" name="Google Shape;43;p39"/>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39"/>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39"/>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46" name="Google Shape;46;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 name="Shape 47"/>
        <p:cNvGrpSpPr/>
        <p:nvPr/>
      </p:nvGrpSpPr>
      <p:grpSpPr>
        <a:xfrm>
          <a:off x="0" y="0"/>
          <a:ext cx="0" cy="0"/>
          <a:chOff x="0" y="0"/>
          <a:chExt cx="0" cy="0"/>
        </a:xfrm>
      </p:grpSpPr>
      <p:sp>
        <p:nvSpPr>
          <p:cNvPr id="48" name="Google Shape;48;p4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40"/>
          <p:cNvGrpSpPr/>
          <p:nvPr/>
        </p:nvGrpSpPr>
        <p:grpSpPr>
          <a:xfrm>
            <a:off x="830392" y="1191256"/>
            <a:ext cx="745763" cy="45826"/>
            <a:chOff x="4580561" y="2589004"/>
            <a:chExt cx="1064464" cy="25200"/>
          </a:xfrm>
        </p:grpSpPr>
        <p:sp>
          <p:nvSpPr>
            <p:cNvPr id="50" name="Google Shape;50;p4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4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4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40"/>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40"/>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4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41"/>
          <p:cNvGrpSpPr/>
          <p:nvPr/>
        </p:nvGrpSpPr>
        <p:grpSpPr>
          <a:xfrm>
            <a:off x="830392" y="1191256"/>
            <a:ext cx="745763" cy="45826"/>
            <a:chOff x="4580561" y="2589004"/>
            <a:chExt cx="1064464" cy="25200"/>
          </a:xfrm>
        </p:grpSpPr>
        <p:sp>
          <p:nvSpPr>
            <p:cNvPr id="59" name="Google Shape;59;p4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4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4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42"/>
          <p:cNvGrpSpPr/>
          <p:nvPr/>
        </p:nvGrpSpPr>
        <p:grpSpPr>
          <a:xfrm>
            <a:off x="830392" y="4169130"/>
            <a:ext cx="745763" cy="45826"/>
            <a:chOff x="4580561" y="2589004"/>
            <a:chExt cx="1064464" cy="25200"/>
          </a:xfrm>
        </p:grpSpPr>
        <p:sp>
          <p:nvSpPr>
            <p:cNvPr id="66" name="Google Shape;66;p4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4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4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4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43"/>
          <p:cNvGrpSpPr/>
          <p:nvPr/>
        </p:nvGrpSpPr>
        <p:grpSpPr>
          <a:xfrm>
            <a:off x="830392" y="1191256"/>
            <a:ext cx="745763" cy="45826"/>
            <a:chOff x="4580561" y="2589004"/>
            <a:chExt cx="1064464" cy="25200"/>
          </a:xfrm>
        </p:grpSpPr>
        <p:sp>
          <p:nvSpPr>
            <p:cNvPr id="73" name="Google Shape;73;p4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4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4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4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4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n"/>
              <a:t>Design Patterns 2</a:t>
            </a:r>
            <a:endParaRPr/>
          </a:p>
        </p:txBody>
      </p:sp>
      <p:sp>
        <p:nvSpPr>
          <p:cNvPr id="84" name="Google Shape;84;p1"/>
          <p:cNvSpPr txBox="1"/>
          <p:nvPr>
            <p:ph idx="1" type="subTitle"/>
          </p:nvPr>
        </p:nvSpPr>
        <p:spPr>
          <a:xfrm>
            <a:off x="684500" y="3179350"/>
            <a:ext cx="7688100" cy="1219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n"/>
              <a:t>Reference: Heads First Design Patterns book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729450" y="733950"/>
            <a:ext cx="7688400" cy="1244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DP-1 (Recall) </a:t>
            </a:r>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ph idx="1" type="body"/>
          </p:nvPr>
        </p:nvSpPr>
        <p:spPr>
          <a:xfrm>
            <a:off x="387900" y="1489825"/>
            <a:ext cx="8368200" cy="346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 sz="2000">
                <a:solidFill>
                  <a:schemeClr val="dk2"/>
                </a:solidFill>
              </a:rPr>
              <a:t>Creational:</a:t>
            </a:r>
            <a:endParaRPr b="1" sz="2000">
              <a:solidFill>
                <a:schemeClr val="dk2"/>
              </a:solidFill>
            </a:endParaRPr>
          </a:p>
          <a:p>
            <a:pPr indent="-355600" lvl="0" marL="457200" rtl="0" algn="l">
              <a:lnSpc>
                <a:spcPct val="115000"/>
              </a:lnSpc>
              <a:spcBef>
                <a:spcPts val="1200"/>
              </a:spcBef>
              <a:spcAft>
                <a:spcPts val="0"/>
              </a:spcAft>
              <a:buClr>
                <a:schemeClr val="dk2"/>
              </a:buClr>
              <a:buSzPts val="2000"/>
              <a:buChar char="●"/>
            </a:pPr>
            <a:r>
              <a:rPr lang="en" sz="2000">
                <a:solidFill>
                  <a:schemeClr val="dk2"/>
                </a:solidFill>
              </a:rPr>
              <a:t>Objects creation mechanisms</a:t>
            </a:r>
            <a:endParaRPr sz="2000">
              <a:solidFill>
                <a:schemeClr val="dk2"/>
              </a:solidFill>
            </a:endParaRPr>
          </a:p>
          <a:p>
            <a:pPr indent="0" lvl="0" marL="0" rtl="0" algn="l">
              <a:lnSpc>
                <a:spcPct val="115000"/>
              </a:lnSpc>
              <a:spcBef>
                <a:spcPts val="1200"/>
              </a:spcBef>
              <a:spcAft>
                <a:spcPts val="0"/>
              </a:spcAft>
              <a:buSzPts val="1300"/>
              <a:buNone/>
            </a:pPr>
            <a:r>
              <a:rPr b="1" lang="en" sz="2000">
                <a:solidFill>
                  <a:schemeClr val="dk2"/>
                </a:solidFill>
              </a:rPr>
              <a:t>Structural:</a:t>
            </a:r>
            <a:endParaRPr b="1" sz="2000">
              <a:solidFill>
                <a:schemeClr val="dk2"/>
              </a:solidFill>
            </a:endParaRPr>
          </a:p>
          <a:p>
            <a:pPr indent="-355600" lvl="0" marL="457200" rtl="0" algn="l">
              <a:lnSpc>
                <a:spcPct val="115000"/>
              </a:lnSpc>
              <a:spcBef>
                <a:spcPts val="1200"/>
              </a:spcBef>
              <a:spcAft>
                <a:spcPts val="0"/>
              </a:spcAft>
              <a:buClr>
                <a:schemeClr val="dk2"/>
              </a:buClr>
              <a:buSzPts val="2000"/>
              <a:buChar char="●"/>
            </a:pPr>
            <a:r>
              <a:rPr lang="en" sz="2000">
                <a:solidFill>
                  <a:schemeClr val="dk2"/>
                </a:solidFill>
              </a:rPr>
              <a:t>Objects assemble in large structures</a:t>
            </a:r>
            <a:endParaRPr sz="2000">
              <a:solidFill>
                <a:schemeClr val="dk2"/>
              </a:solidFill>
            </a:endParaRPr>
          </a:p>
          <a:p>
            <a:pPr indent="0" lvl="0" marL="0" rtl="0" algn="l">
              <a:lnSpc>
                <a:spcPct val="115000"/>
              </a:lnSpc>
              <a:spcBef>
                <a:spcPts val="1200"/>
              </a:spcBef>
              <a:spcAft>
                <a:spcPts val="0"/>
              </a:spcAft>
              <a:buSzPts val="1300"/>
              <a:buNone/>
            </a:pPr>
            <a:r>
              <a:rPr b="1" lang="en" sz="2000">
                <a:solidFill>
                  <a:schemeClr val="dk2"/>
                </a:solidFill>
              </a:rPr>
              <a:t>Behavioral:</a:t>
            </a:r>
            <a:endParaRPr b="1" sz="2000">
              <a:solidFill>
                <a:schemeClr val="dk2"/>
              </a:solidFill>
            </a:endParaRPr>
          </a:p>
          <a:p>
            <a:pPr indent="-355600" lvl="0" marL="457200" rtl="0" algn="l">
              <a:lnSpc>
                <a:spcPct val="115000"/>
              </a:lnSpc>
              <a:spcBef>
                <a:spcPts val="1200"/>
              </a:spcBef>
              <a:spcAft>
                <a:spcPts val="0"/>
              </a:spcAft>
              <a:buClr>
                <a:schemeClr val="dk2"/>
              </a:buClr>
              <a:buSzPts val="2000"/>
              <a:buChar char="●"/>
            </a:pPr>
            <a:r>
              <a:rPr lang="en" sz="2000">
                <a:solidFill>
                  <a:schemeClr val="dk2"/>
                </a:solidFill>
              </a:rPr>
              <a:t>Objects communication effectively</a:t>
            </a:r>
            <a:endParaRPr sz="2000">
              <a:solidFill>
                <a:schemeClr val="dk2"/>
              </a:solidFill>
            </a:endParaRPr>
          </a:p>
        </p:txBody>
      </p:sp>
      <p:pic>
        <p:nvPicPr>
          <p:cNvPr id="95" name="Google Shape;95;p3"/>
          <p:cNvPicPr preferRelativeResize="0"/>
          <p:nvPr/>
        </p:nvPicPr>
        <p:blipFill rotWithShape="1">
          <a:blip r:embed="rId3">
            <a:alphaModFix/>
          </a:blip>
          <a:srcRect b="0" l="0" r="0" t="0"/>
          <a:stretch/>
        </p:blipFill>
        <p:spPr>
          <a:xfrm>
            <a:off x="5766325" y="1489813"/>
            <a:ext cx="2381250" cy="2981325"/>
          </a:xfrm>
          <a:prstGeom prst="rect">
            <a:avLst/>
          </a:prstGeom>
          <a:noFill/>
          <a:ln>
            <a:noFill/>
          </a:ln>
        </p:spPr>
      </p:pic>
      <p:sp>
        <p:nvSpPr>
          <p:cNvPr id="96" name="Google Shape;96;p3"/>
          <p:cNvSpPr txBox="1"/>
          <p:nvPr>
            <p:ph type="title"/>
          </p:nvPr>
        </p:nvSpPr>
        <p:spPr>
          <a:xfrm>
            <a:off x="577050" y="6455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SzPct val="111111"/>
              <a:buNone/>
            </a:pPr>
            <a:r>
              <a:rPr lang="en"/>
              <a:t>Types of Design Patterns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Class hierarchies </a:t>
            </a:r>
            <a:endParaRPr/>
          </a:p>
        </p:txBody>
      </p:sp>
      <p:sp>
        <p:nvSpPr>
          <p:cNvPr id="102" name="Google Shape;102;p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 sz="2000">
                <a:solidFill>
                  <a:schemeClr val="dk2"/>
                </a:solidFill>
              </a:rPr>
              <a:t>Superclass (interface class)</a:t>
            </a:r>
            <a:endParaRPr sz="2000">
              <a:solidFill>
                <a:schemeClr val="dk2"/>
              </a:solidFill>
            </a:endParaRPr>
          </a:p>
          <a:p>
            <a:pPr indent="-355600" lvl="0" marL="457200" rtl="0" algn="l">
              <a:lnSpc>
                <a:spcPct val="115000"/>
              </a:lnSpc>
              <a:spcBef>
                <a:spcPts val="1200"/>
              </a:spcBef>
              <a:spcAft>
                <a:spcPts val="0"/>
              </a:spcAft>
              <a:buClr>
                <a:schemeClr val="dk2"/>
              </a:buClr>
              <a:buSzPts val="2000"/>
              <a:buChar char="-"/>
            </a:pPr>
            <a:r>
              <a:rPr lang="en" sz="2000">
                <a:solidFill>
                  <a:schemeClr val="dk2"/>
                </a:solidFill>
              </a:rPr>
              <a:t>Subclasses (concrete class)</a:t>
            </a:r>
            <a:endParaRPr sz="2000">
              <a:solidFill>
                <a:schemeClr val="dk2"/>
              </a:solidFill>
            </a:endParaRPr>
          </a:p>
          <a:p>
            <a:pPr indent="0" lvl="0" marL="914400" rtl="0" algn="l">
              <a:lnSpc>
                <a:spcPct val="115000"/>
              </a:lnSpc>
              <a:spcBef>
                <a:spcPts val="1200"/>
              </a:spcBef>
              <a:spcAft>
                <a:spcPts val="0"/>
              </a:spcAft>
              <a:buSzPts val="1300"/>
              <a:buNone/>
            </a:pPr>
            <a:r>
              <a:t/>
            </a:r>
            <a:endParaRPr sz="2000">
              <a:solidFill>
                <a:schemeClr val="dk2"/>
              </a:solidFill>
            </a:endParaRPr>
          </a:p>
          <a:p>
            <a:pPr indent="0" lvl="0" marL="914400" rtl="0" algn="l">
              <a:lnSpc>
                <a:spcPct val="115000"/>
              </a:lnSpc>
              <a:spcBef>
                <a:spcPts val="1200"/>
              </a:spcBef>
              <a:spcAft>
                <a:spcPts val="1200"/>
              </a:spcAft>
              <a:buSzPts val="1300"/>
              <a:buNone/>
            </a:pPr>
            <a:r>
              <a:t/>
            </a:r>
            <a:endParaRPr>
              <a:solidFill>
                <a:schemeClr val="dk2"/>
              </a:solidFill>
            </a:endParaRPr>
          </a:p>
        </p:txBody>
      </p:sp>
      <p:pic>
        <p:nvPicPr>
          <p:cNvPr id="103" name="Google Shape;103;p4"/>
          <p:cNvPicPr preferRelativeResize="0"/>
          <p:nvPr/>
        </p:nvPicPr>
        <p:blipFill rotWithShape="1">
          <a:blip r:embed="rId3">
            <a:alphaModFix/>
          </a:blip>
          <a:srcRect b="0" l="0" r="0" t="0"/>
          <a:stretch/>
        </p:blipFill>
        <p:spPr>
          <a:xfrm>
            <a:off x="4731447" y="975547"/>
            <a:ext cx="3728675" cy="3699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2600"/>
              <a:buNone/>
            </a:pPr>
            <a:r>
              <a:rPr lang="en"/>
              <a:t>Design Principles (Cont.) </a:t>
            </a:r>
            <a:endParaRPr/>
          </a:p>
        </p:txBody>
      </p:sp>
      <p:sp>
        <p:nvSpPr>
          <p:cNvPr id="109" name="Google Shape;109;p22"/>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 sz="2500"/>
              <a:t>4. Don’t Repeat Yourself (DRY)</a:t>
            </a:r>
            <a:endParaRPr b="1" sz="2500"/>
          </a:p>
          <a:p>
            <a:pPr indent="0" lvl="0" marL="0" rtl="0" algn="l">
              <a:lnSpc>
                <a:spcPct val="115000"/>
              </a:lnSpc>
              <a:spcBef>
                <a:spcPts val="1200"/>
              </a:spcBef>
              <a:spcAft>
                <a:spcPts val="0"/>
              </a:spcAft>
              <a:buSzPts val="1300"/>
              <a:buNone/>
            </a:pPr>
            <a:r>
              <a:t/>
            </a:r>
            <a:endParaRPr sz="2100"/>
          </a:p>
          <a:p>
            <a:pPr indent="0" lvl="0" marL="0" rtl="0" algn="l">
              <a:lnSpc>
                <a:spcPct val="115000"/>
              </a:lnSpc>
              <a:spcBef>
                <a:spcPts val="1200"/>
              </a:spcBef>
              <a:spcAft>
                <a:spcPts val="0"/>
              </a:spcAft>
              <a:buSzPts val="1300"/>
              <a:buNone/>
            </a:pPr>
            <a:r>
              <a:t/>
            </a:r>
            <a:endParaRPr b="1" sz="2500"/>
          </a:p>
          <a:p>
            <a:pPr indent="0" lvl="0" marL="0" rtl="0" algn="l">
              <a:lnSpc>
                <a:spcPct val="115000"/>
              </a:lnSpc>
              <a:spcBef>
                <a:spcPts val="1200"/>
              </a:spcBef>
              <a:spcAft>
                <a:spcPts val="1200"/>
              </a:spcAft>
              <a:buSzPts val="1300"/>
              <a:buNone/>
            </a:pPr>
            <a:r>
              <a:t/>
            </a:r>
            <a:endParaRPr b="1" sz="2500"/>
          </a:p>
        </p:txBody>
      </p:sp>
      <p:sp>
        <p:nvSpPr>
          <p:cNvPr id="110" name="Google Shape;110;p22"/>
          <p:cNvSpPr txBox="1"/>
          <p:nvPr/>
        </p:nvSpPr>
        <p:spPr>
          <a:xfrm>
            <a:off x="1574875" y="2335100"/>
            <a:ext cx="6315000" cy="17301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2100"/>
              <a:buFont typeface="Arial"/>
              <a:buNone/>
            </a:pPr>
            <a:r>
              <a:rPr b="0" i="0" lang="en" sz="2100" u="none" cap="none" strike="noStrike">
                <a:solidFill>
                  <a:schemeClr val="dk1"/>
                </a:solidFill>
                <a:latin typeface="Roboto"/>
                <a:ea typeface="Roboto"/>
                <a:cs typeface="Roboto"/>
                <a:sym typeface="Roboto"/>
              </a:rPr>
              <a:t>Emphasizes reducing code duplication. Encourage developers to avoid writing the same code in multiple places and instead abstracting repeated logic into functions, modules, or classes.</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44"/>
          <p:cNvPicPr preferRelativeResize="0"/>
          <p:nvPr/>
        </p:nvPicPr>
        <p:blipFill rotWithShape="1">
          <a:blip r:embed="rId3">
            <a:alphaModFix/>
          </a:blip>
          <a:srcRect b="24994" l="0" r="-856" t="0"/>
          <a:stretch/>
        </p:blipFill>
        <p:spPr>
          <a:xfrm>
            <a:off x="-1" y="0"/>
            <a:ext cx="9222377" cy="4066903"/>
          </a:xfrm>
          <a:prstGeom prst="rect">
            <a:avLst/>
          </a:prstGeom>
          <a:noFill/>
          <a:ln>
            <a:noFill/>
          </a:ln>
        </p:spPr>
      </p:pic>
      <p:pic>
        <p:nvPicPr>
          <p:cNvPr id="116" name="Google Shape;116;p44"/>
          <p:cNvPicPr preferRelativeResize="0"/>
          <p:nvPr/>
        </p:nvPicPr>
        <p:blipFill rotWithShape="1">
          <a:blip r:embed="rId3">
            <a:alphaModFix/>
          </a:blip>
          <a:srcRect b="0" l="1" r="-856" t="83048"/>
          <a:stretch/>
        </p:blipFill>
        <p:spPr>
          <a:xfrm>
            <a:off x="1" y="4066903"/>
            <a:ext cx="9222376" cy="107659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45"/>
          <p:cNvPicPr preferRelativeResize="0"/>
          <p:nvPr/>
        </p:nvPicPr>
        <p:blipFill rotWithShape="1">
          <a:blip r:embed="rId3">
            <a:alphaModFix/>
          </a:blip>
          <a:srcRect b="34138" l="0" r="0" t="0"/>
          <a:stretch/>
        </p:blipFill>
        <p:spPr>
          <a:xfrm>
            <a:off x="0" y="1"/>
            <a:ext cx="9144000" cy="3614056"/>
          </a:xfrm>
          <a:prstGeom prst="rect">
            <a:avLst/>
          </a:prstGeom>
          <a:noFill/>
          <a:ln>
            <a:noFill/>
          </a:ln>
        </p:spPr>
      </p:pic>
      <p:pic>
        <p:nvPicPr>
          <p:cNvPr id="122" name="Google Shape;122;p45"/>
          <p:cNvPicPr preferRelativeResize="0"/>
          <p:nvPr/>
        </p:nvPicPr>
        <p:blipFill rotWithShape="1">
          <a:blip r:embed="rId3">
            <a:alphaModFix/>
          </a:blip>
          <a:srcRect b="0" l="0" r="0" t="75174"/>
          <a:stretch/>
        </p:blipFill>
        <p:spPr>
          <a:xfrm>
            <a:off x="1" y="3614057"/>
            <a:ext cx="9144000" cy="15294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559950" y="733950"/>
            <a:ext cx="7857900" cy="1244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Chocolate Factory Problem</a:t>
            </a:r>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551650" y="6455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Problem Description</a:t>
            </a:r>
            <a:endParaRPr/>
          </a:p>
        </p:txBody>
      </p:sp>
      <p:sp>
        <p:nvSpPr>
          <p:cNvPr id="133" name="Google Shape;133;p6"/>
          <p:cNvSpPr txBox="1"/>
          <p:nvPr>
            <p:ph idx="4294967295" type="body"/>
          </p:nvPr>
        </p:nvSpPr>
        <p:spPr>
          <a:xfrm>
            <a:off x="729450" y="1503675"/>
            <a:ext cx="7688700" cy="3128700"/>
          </a:xfrm>
          <a:prstGeom prst="rect">
            <a:avLst/>
          </a:prstGeom>
          <a:noFill/>
          <a:ln>
            <a:noFill/>
          </a:ln>
        </p:spPr>
        <p:txBody>
          <a:bodyPr anchorCtr="0" anchor="t" bIns="91425" lIns="91425" spcFirstLastPara="1" rIns="91425" wrap="square" tIns="91425">
            <a:normAutofit/>
          </a:bodyPr>
          <a:lstStyle/>
          <a:p>
            <a:pPr indent="0" lvl="0" marL="133350" rtl="0" algn="l">
              <a:lnSpc>
                <a:spcPct val="115000"/>
              </a:lnSpc>
              <a:spcBef>
                <a:spcPts val="0"/>
              </a:spcBef>
              <a:spcAft>
                <a:spcPts val="0"/>
              </a:spcAft>
              <a:buClr>
                <a:schemeClr val="dk2"/>
              </a:buClr>
              <a:buSzPts val="1500"/>
              <a:buNone/>
            </a:pPr>
            <a:r>
              <a:rPr lang="en" sz="1500">
                <a:solidFill>
                  <a:schemeClr val="dk2"/>
                </a:solidFill>
              </a:rPr>
              <a:t>Imagine a chocolate factory where a boiler is used to melt chocolate and milk. The factory’s system has a boiler class that controls when the boiler is filled, emptied, and boiled. The problem is that there can only be one boiler filled with chocolate and milk at any time, and once filled, it shouldn't be filled again until it’s empty. However, the current implementation doesn’t prevent multiple instances, and if the system accidentally creates two boiler instances, they could both end up filled, causing production errors.</a:t>
            </a:r>
            <a:endParaRPr sz="15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46"/>
          <p:cNvPicPr preferRelativeResize="0"/>
          <p:nvPr/>
        </p:nvPicPr>
        <p:blipFill rotWithShape="1">
          <a:blip r:embed="rId3">
            <a:alphaModFix/>
          </a:blip>
          <a:srcRect b="0" l="0" r="0" t="0"/>
          <a:stretch/>
        </p:blipFill>
        <p:spPr>
          <a:xfrm>
            <a:off x="1725806" y="0"/>
            <a:ext cx="5692387"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47"/>
          <p:cNvPicPr preferRelativeResize="0"/>
          <p:nvPr/>
        </p:nvPicPr>
        <p:blipFill rotWithShape="1">
          <a:blip r:embed="rId3">
            <a:alphaModFix/>
          </a:blip>
          <a:srcRect b="0" l="0" r="0" t="0"/>
          <a:stretch/>
        </p:blipFill>
        <p:spPr>
          <a:xfrm>
            <a:off x="0" y="0"/>
            <a:ext cx="4327820" cy="5143500"/>
          </a:xfrm>
          <a:prstGeom prst="rect">
            <a:avLst/>
          </a:prstGeom>
          <a:noFill/>
          <a:ln>
            <a:noFill/>
          </a:ln>
        </p:spPr>
      </p:pic>
      <p:pic>
        <p:nvPicPr>
          <p:cNvPr id="144" name="Google Shape;144;p47"/>
          <p:cNvPicPr preferRelativeResize="0"/>
          <p:nvPr/>
        </p:nvPicPr>
        <p:blipFill rotWithShape="1">
          <a:blip r:embed="rId4">
            <a:alphaModFix/>
          </a:blip>
          <a:srcRect b="0" l="0" r="0" t="0"/>
          <a:stretch/>
        </p:blipFill>
        <p:spPr>
          <a:xfrm>
            <a:off x="4474300" y="1247775"/>
            <a:ext cx="4669700" cy="2647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g341a5989f12_0_0" title="carbon (40).png"/>
          <p:cNvPicPr preferRelativeResize="0"/>
          <p:nvPr/>
        </p:nvPicPr>
        <p:blipFill>
          <a:blip r:embed="rId3">
            <a:alphaModFix/>
          </a:blip>
          <a:stretch>
            <a:fillRect/>
          </a:stretch>
        </p:blipFill>
        <p:spPr>
          <a:xfrm>
            <a:off x="1596650" y="0"/>
            <a:ext cx="5844727" cy="3250000"/>
          </a:xfrm>
          <a:prstGeom prst="rect">
            <a:avLst/>
          </a:prstGeom>
          <a:noFill/>
          <a:ln>
            <a:noFill/>
          </a:ln>
        </p:spPr>
      </p:pic>
      <p:pic>
        <p:nvPicPr>
          <p:cNvPr id="150" name="Google Shape;150;g341a5989f12_0_0" title="carbon (41).png"/>
          <p:cNvPicPr preferRelativeResize="0"/>
          <p:nvPr/>
        </p:nvPicPr>
        <p:blipFill>
          <a:blip r:embed="rId4">
            <a:alphaModFix/>
          </a:blip>
          <a:stretch>
            <a:fillRect/>
          </a:stretch>
        </p:blipFill>
        <p:spPr>
          <a:xfrm>
            <a:off x="1457575" y="2441878"/>
            <a:ext cx="6122875" cy="30827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48"/>
          <p:cNvSpPr txBox="1"/>
          <p:nvPr>
            <p:ph type="title"/>
          </p:nvPr>
        </p:nvSpPr>
        <p:spPr>
          <a:xfrm>
            <a:off x="551650" y="6455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Singleton</a:t>
            </a:r>
            <a:endParaRPr/>
          </a:p>
        </p:txBody>
      </p:sp>
      <p:sp>
        <p:nvSpPr>
          <p:cNvPr id="156" name="Google Shape;156;p48"/>
          <p:cNvSpPr txBox="1"/>
          <p:nvPr>
            <p:ph idx="4294967295" type="body"/>
          </p:nvPr>
        </p:nvSpPr>
        <p:spPr>
          <a:xfrm>
            <a:off x="729450" y="1503675"/>
            <a:ext cx="7688700" cy="3128700"/>
          </a:xfrm>
          <a:prstGeom prst="rect">
            <a:avLst/>
          </a:prstGeom>
          <a:noFill/>
          <a:ln>
            <a:noFill/>
          </a:ln>
        </p:spPr>
        <p:txBody>
          <a:bodyPr anchorCtr="0" anchor="t" bIns="91425" lIns="91425" spcFirstLastPara="1" rIns="91425" wrap="square" tIns="91425">
            <a:normAutofit lnSpcReduction="10000"/>
          </a:bodyPr>
          <a:lstStyle/>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A class with only one instance.</a:t>
            </a:r>
            <a:endParaRPr/>
          </a:p>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This instance is used across the whole project.</a:t>
            </a:r>
            <a:endParaRPr/>
          </a:p>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It can be used in so many use cases:</a:t>
            </a:r>
            <a:endParaRPr sz="1500">
              <a:solidFill>
                <a:schemeClr val="dk2"/>
              </a:solidFill>
            </a:endParaRPr>
          </a:p>
          <a:p>
            <a:pPr indent="-323850" lvl="1" marL="914400" rtl="0" algn="l">
              <a:lnSpc>
                <a:spcPct val="115000"/>
              </a:lnSpc>
              <a:spcBef>
                <a:spcPts val="0"/>
              </a:spcBef>
              <a:spcAft>
                <a:spcPts val="0"/>
              </a:spcAft>
              <a:buClr>
                <a:schemeClr val="dk2"/>
              </a:buClr>
              <a:buSzPts val="1500"/>
              <a:buAutoNum type="alphaLcPeriod"/>
            </a:pPr>
            <a:r>
              <a:rPr lang="en" sz="1500">
                <a:solidFill>
                  <a:schemeClr val="dk2"/>
                </a:solidFill>
              </a:rPr>
              <a:t>Logging</a:t>
            </a:r>
            <a:endParaRPr sz="1500">
              <a:solidFill>
                <a:schemeClr val="dk2"/>
              </a:solidFill>
            </a:endParaRPr>
          </a:p>
          <a:p>
            <a:pPr indent="-323850" lvl="1" marL="914400" rtl="0" algn="l">
              <a:lnSpc>
                <a:spcPct val="115000"/>
              </a:lnSpc>
              <a:spcBef>
                <a:spcPts val="0"/>
              </a:spcBef>
              <a:spcAft>
                <a:spcPts val="0"/>
              </a:spcAft>
              <a:buClr>
                <a:schemeClr val="dk2"/>
              </a:buClr>
              <a:buSzPts val="1500"/>
              <a:buAutoNum type="alphaLcPeriod"/>
            </a:pPr>
            <a:r>
              <a:rPr lang="en" sz="1500">
                <a:solidFill>
                  <a:schemeClr val="dk2"/>
                </a:solidFill>
              </a:rPr>
              <a:t>DB </a:t>
            </a:r>
            <a:endParaRPr sz="1500">
              <a:solidFill>
                <a:schemeClr val="dk2"/>
              </a:solidFill>
            </a:endParaRPr>
          </a:p>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Global variables vs Singleton</a:t>
            </a:r>
            <a:endParaRPr sz="1500">
              <a:solidFill>
                <a:schemeClr val="dk2"/>
              </a:solidFill>
            </a:endParaRPr>
          </a:p>
          <a:p>
            <a:pPr indent="-323850" lvl="1" marL="914400" rtl="0" algn="l">
              <a:lnSpc>
                <a:spcPct val="115000"/>
              </a:lnSpc>
              <a:spcBef>
                <a:spcPts val="0"/>
              </a:spcBef>
              <a:spcAft>
                <a:spcPts val="0"/>
              </a:spcAft>
              <a:buClr>
                <a:schemeClr val="dk2"/>
              </a:buClr>
              <a:buSzPts val="1500"/>
              <a:buAutoNum type="alphaLcPeriod"/>
            </a:pPr>
            <a:r>
              <a:rPr lang="en" sz="1500">
                <a:solidFill>
                  <a:schemeClr val="dk2"/>
                </a:solidFill>
              </a:rPr>
              <a:t>Globals are always instantiated even if we did not use them (wasting resources) while singleton is instantiated only when we use them in the code.</a:t>
            </a:r>
            <a:endParaRPr sz="1500">
              <a:solidFill>
                <a:schemeClr val="dk2"/>
              </a:solidFill>
            </a:endParaRPr>
          </a:p>
          <a:p>
            <a:pPr indent="-323850" lvl="1" marL="914400" rtl="0" algn="l">
              <a:lnSpc>
                <a:spcPct val="115000"/>
              </a:lnSpc>
              <a:spcBef>
                <a:spcPts val="0"/>
              </a:spcBef>
              <a:spcAft>
                <a:spcPts val="0"/>
              </a:spcAft>
              <a:buClr>
                <a:schemeClr val="dk2"/>
              </a:buClr>
              <a:buSzPts val="1500"/>
              <a:buAutoNum type="alphaLcPeriod"/>
            </a:pPr>
            <a:r>
              <a:rPr lang="en" sz="1500">
                <a:solidFill>
                  <a:schemeClr val="dk2"/>
                </a:solidFill>
              </a:rPr>
              <a:t>Singleton makes sure that no developer can instantiate more than one instance while global variables can be modified.</a:t>
            </a:r>
            <a:endParaRPr/>
          </a:p>
          <a:p>
            <a:pPr indent="-323850" lvl="1" marL="914400" rtl="0" algn="l">
              <a:lnSpc>
                <a:spcPct val="115000"/>
              </a:lnSpc>
              <a:spcBef>
                <a:spcPts val="0"/>
              </a:spcBef>
              <a:spcAft>
                <a:spcPts val="0"/>
              </a:spcAft>
              <a:buClr>
                <a:schemeClr val="dk2"/>
              </a:buClr>
              <a:buSzPts val="1500"/>
              <a:buAutoNum type="alphaLcPeriod"/>
            </a:pPr>
            <a:r>
              <a:rPr lang="en" sz="1500">
                <a:solidFill>
                  <a:schemeClr val="dk2"/>
                </a:solidFill>
              </a:rPr>
              <a:t>Global variables can’t handle inheritance.</a:t>
            </a:r>
            <a:endParaRPr sz="1500">
              <a:solidFill>
                <a:schemeClr val="dk2"/>
              </a:solidFill>
            </a:endParaRPr>
          </a:p>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Singleton is a </a:t>
            </a:r>
            <a:r>
              <a:rPr b="1" lang="en" sz="1500">
                <a:solidFill>
                  <a:schemeClr val="dk2"/>
                </a:solidFill>
              </a:rPr>
              <a:t>Creational</a:t>
            </a:r>
            <a:r>
              <a:rPr lang="en" sz="1500">
                <a:solidFill>
                  <a:schemeClr val="dk2"/>
                </a:solidFill>
              </a:rPr>
              <a:t> Design pattern</a:t>
            </a:r>
            <a:endParaRPr sz="15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9"/>
          <p:cNvSpPr txBox="1"/>
          <p:nvPr>
            <p:ph type="title"/>
          </p:nvPr>
        </p:nvSpPr>
        <p:spPr>
          <a:xfrm>
            <a:off x="551650" y="6455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Design Principles Followed By Singleton</a:t>
            </a:r>
            <a:endParaRPr/>
          </a:p>
        </p:txBody>
      </p:sp>
      <p:sp>
        <p:nvSpPr>
          <p:cNvPr id="162" name="Google Shape;162;p49"/>
          <p:cNvSpPr txBox="1"/>
          <p:nvPr>
            <p:ph idx="4294967295" type="body"/>
          </p:nvPr>
        </p:nvSpPr>
        <p:spPr>
          <a:xfrm>
            <a:off x="729450" y="1503675"/>
            <a:ext cx="7688700" cy="31287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Encapsulate What Varies</a:t>
            </a:r>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The Singleton pattern encapsulates the process of instantiation, making it part of the class itself.</a:t>
            </a:r>
            <a:endParaRPr/>
          </a:p>
          <a:p>
            <a:pPr indent="-323850" lvl="1" marL="914400" rtl="0" algn="l">
              <a:lnSpc>
                <a:spcPct val="115000"/>
              </a:lnSpc>
              <a:spcBef>
                <a:spcPts val="0"/>
              </a:spcBef>
              <a:spcAft>
                <a:spcPts val="0"/>
              </a:spcAft>
              <a:buClr>
                <a:schemeClr val="dk2"/>
              </a:buClr>
              <a:buSzPts val="1500"/>
              <a:buFont typeface="Lato"/>
              <a:buAutoNum type="alphaLcPeriod"/>
            </a:pPr>
            <a:r>
              <a:rPr lang="en" sz="1300">
                <a:solidFill>
                  <a:schemeClr val="dk2"/>
                </a:solidFill>
              </a:rPr>
              <a:t>This encapsulation ensures that users of the class don’t have to worry about how many instances there are or how they’re managed. </a:t>
            </a:r>
            <a:endParaRPr/>
          </a:p>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S in SOLID:</a:t>
            </a:r>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The Singleton class has a single responsibility — to manage its unique instance.</a:t>
            </a:r>
            <a:endParaRPr sz="13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0"/>
          <p:cNvSpPr txBox="1"/>
          <p:nvPr>
            <p:ph type="title"/>
          </p:nvPr>
        </p:nvSpPr>
        <p:spPr>
          <a:xfrm>
            <a:off x="559950" y="733950"/>
            <a:ext cx="7857900" cy="1244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Starbuzz Coffee Problem</a:t>
            </a:r>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1"/>
          <p:cNvSpPr txBox="1"/>
          <p:nvPr>
            <p:ph type="title"/>
          </p:nvPr>
        </p:nvSpPr>
        <p:spPr>
          <a:xfrm>
            <a:off x="551650" y="6455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Problem Description</a:t>
            </a:r>
            <a:endParaRPr/>
          </a:p>
        </p:txBody>
      </p:sp>
      <p:sp>
        <p:nvSpPr>
          <p:cNvPr id="173" name="Google Shape;173;p51"/>
          <p:cNvSpPr txBox="1"/>
          <p:nvPr>
            <p:ph idx="4294967295" type="body"/>
          </p:nvPr>
        </p:nvSpPr>
        <p:spPr>
          <a:xfrm>
            <a:off x="729450" y="1503675"/>
            <a:ext cx="7688700" cy="3128700"/>
          </a:xfrm>
          <a:prstGeom prst="rect">
            <a:avLst/>
          </a:prstGeom>
          <a:noFill/>
          <a:ln>
            <a:noFill/>
          </a:ln>
        </p:spPr>
        <p:txBody>
          <a:bodyPr anchorCtr="0" anchor="t" bIns="91425" lIns="91425" spcFirstLastPara="1" rIns="91425" wrap="square" tIns="91425">
            <a:normAutofit/>
          </a:bodyPr>
          <a:lstStyle/>
          <a:p>
            <a:pPr indent="0" lvl="0" marL="133350" rtl="0" algn="l">
              <a:lnSpc>
                <a:spcPct val="115000"/>
              </a:lnSpc>
              <a:spcBef>
                <a:spcPts val="0"/>
              </a:spcBef>
              <a:spcAft>
                <a:spcPts val="0"/>
              </a:spcAft>
              <a:buClr>
                <a:schemeClr val="dk2"/>
              </a:buClr>
              <a:buSzPts val="1500"/>
              <a:buNone/>
            </a:pPr>
            <a:r>
              <a:rPr lang="en" sz="1500">
                <a:solidFill>
                  <a:schemeClr val="dk2"/>
                </a:solidFill>
              </a:rPr>
              <a:t>Imagine you’re building a system for a coffee shop. The coffee shop offers different types of coffee (e.g., Espresso, House Blend) with a variety of add-ons like milk, soy, mocha, and whipped cream. Each add-on has an additional cost.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52"/>
          <p:cNvPicPr preferRelativeResize="0"/>
          <p:nvPr/>
        </p:nvPicPr>
        <p:blipFill rotWithShape="1">
          <a:blip r:embed="rId3">
            <a:alphaModFix/>
          </a:blip>
          <a:srcRect b="0" l="0" r="30412" t="0"/>
          <a:stretch/>
        </p:blipFill>
        <p:spPr>
          <a:xfrm>
            <a:off x="0" y="0"/>
            <a:ext cx="3953691" cy="5143500"/>
          </a:xfrm>
          <a:prstGeom prst="rect">
            <a:avLst/>
          </a:prstGeom>
          <a:noFill/>
          <a:ln>
            <a:noFill/>
          </a:ln>
        </p:spPr>
      </p:pic>
      <p:pic>
        <p:nvPicPr>
          <p:cNvPr id="179" name="Google Shape;179;p52"/>
          <p:cNvPicPr preferRelativeResize="0"/>
          <p:nvPr/>
        </p:nvPicPr>
        <p:blipFill rotWithShape="1">
          <a:blip r:embed="rId4">
            <a:alphaModFix/>
          </a:blip>
          <a:srcRect b="36000" l="0" r="0" t="0"/>
          <a:stretch/>
        </p:blipFill>
        <p:spPr>
          <a:xfrm>
            <a:off x="4058194" y="-1"/>
            <a:ext cx="5085806" cy="3344092"/>
          </a:xfrm>
          <a:prstGeom prst="rect">
            <a:avLst/>
          </a:prstGeom>
          <a:noFill/>
          <a:ln>
            <a:noFill/>
          </a:ln>
        </p:spPr>
      </p:pic>
      <p:pic>
        <p:nvPicPr>
          <p:cNvPr id="180" name="Google Shape;180;p52"/>
          <p:cNvPicPr preferRelativeResize="0"/>
          <p:nvPr/>
        </p:nvPicPr>
        <p:blipFill rotWithShape="1">
          <a:blip r:embed="rId4">
            <a:alphaModFix/>
          </a:blip>
          <a:srcRect b="0" l="0" r="0" t="70255"/>
          <a:stretch/>
        </p:blipFill>
        <p:spPr>
          <a:xfrm>
            <a:off x="4058194" y="3343699"/>
            <a:ext cx="5085806" cy="17998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53"/>
          <p:cNvPicPr preferRelativeResize="0"/>
          <p:nvPr/>
        </p:nvPicPr>
        <p:blipFill rotWithShape="1">
          <a:blip r:embed="rId3">
            <a:alphaModFix/>
          </a:blip>
          <a:srcRect b="0" l="0" r="0" t="0"/>
          <a:stretch/>
        </p:blipFill>
        <p:spPr>
          <a:xfrm>
            <a:off x="0" y="0"/>
            <a:ext cx="4319451" cy="5143500"/>
          </a:xfrm>
          <a:prstGeom prst="rect">
            <a:avLst/>
          </a:prstGeom>
          <a:noFill/>
          <a:ln>
            <a:noFill/>
          </a:ln>
        </p:spPr>
      </p:pic>
      <p:pic>
        <p:nvPicPr>
          <p:cNvPr id="186" name="Google Shape;186;p53"/>
          <p:cNvPicPr preferRelativeResize="0"/>
          <p:nvPr/>
        </p:nvPicPr>
        <p:blipFill rotWithShape="1">
          <a:blip r:embed="rId4">
            <a:alphaModFix/>
          </a:blip>
          <a:srcRect b="53270" l="0" r="0" t="0"/>
          <a:stretch/>
        </p:blipFill>
        <p:spPr>
          <a:xfrm>
            <a:off x="4502332" y="-1"/>
            <a:ext cx="4641668" cy="2638697"/>
          </a:xfrm>
          <a:prstGeom prst="rect">
            <a:avLst/>
          </a:prstGeom>
          <a:noFill/>
          <a:ln>
            <a:noFill/>
          </a:ln>
        </p:spPr>
      </p:pic>
      <p:pic>
        <p:nvPicPr>
          <p:cNvPr id="187" name="Google Shape;187;p53"/>
          <p:cNvPicPr preferRelativeResize="0"/>
          <p:nvPr/>
        </p:nvPicPr>
        <p:blipFill rotWithShape="1">
          <a:blip r:embed="rId4">
            <a:alphaModFix/>
          </a:blip>
          <a:srcRect b="0" l="0" r="0" t="52824"/>
          <a:stretch/>
        </p:blipFill>
        <p:spPr>
          <a:xfrm>
            <a:off x="4502332" y="2638696"/>
            <a:ext cx="4641668" cy="25048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54"/>
          <p:cNvPicPr preferRelativeResize="0"/>
          <p:nvPr/>
        </p:nvPicPr>
        <p:blipFill rotWithShape="1">
          <a:blip r:embed="rId3">
            <a:alphaModFix/>
          </a:blip>
          <a:srcRect b="0" l="0" r="0" t="0"/>
          <a:stretch/>
        </p:blipFill>
        <p:spPr>
          <a:xfrm>
            <a:off x="0" y="1"/>
            <a:ext cx="9144000" cy="2571750"/>
          </a:xfrm>
          <a:prstGeom prst="rect">
            <a:avLst/>
          </a:prstGeom>
          <a:noFill/>
          <a:ln>
            <a:noFill/>
          </a:ln>
        </p:spPr>
      </p:pic>
      <p:pic>
        <p:nvPicPr>
          <p:cNvPr id="193" name="Google Shape;193;p54"/>
          <p:cNvPicPr preferRelativeResize="0"/>
          <p:nvPr/>
        </p:nvPicPr>
        <p:blipFill rotWithShape="1">
          <a:blip r:embed="rId4">
            <a:alphaModFix/>
          </a:blip>
          <a:srcRect b="0" l="0" r="0" t="0"/>
          <a:stretch/>
        </p:blipFill>
        <p:spPr>
          <a:xfrm>
            <a:off x="0" y="2438400"/>
            <a:ext cx="9144000" cy="2705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55"/>
          <p:cNvPicPr preferRelativeResize="0"/>
          <p:nvPr/>
        </p:nvPicPr>
        <p:blipFill rotWithShape="1">
          <a:blip r:embed="rId3">
            <a:alphaModFix/>
          </a:blip>
          <a:srcRect b="0" l="0" r="0" t="0"/>
          <a:stretch/>
        </p:blipFill>
        <p:spPr>
          <a:xfrm>
            <a:off x="0" y="449652"/>
            <a:ext cx="9144000" cy="424419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56"/>
          <p:cNvPicPr preferRelativeResize="0"/>
          <p:nvPr/>
        </p:nvPicPr>
        <p:blipFill rotWithShape="1">
          <a:blip r:embed="rId3">
            <a:alphaModFix/>
          </a:blip>
          <a:srcRect b="0" l="0" r="0" t="0"/>
          <a:stretch/>
        </p:blipFill>
        <p:spPr>
          <a:xfrm>
            <a:off x="505046" y="0"/>
            <a:ext cx="8133907"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57"/>
          <p:cNvPicPr preferRelativeResize="0"/>
          <p:nvPr/>
        </p:nvPicPr>
        <p:blipFill rotWithShape="1">
          <a:blip r:embed="rId3">
            <a:alphaModFix/>
          </a:blip>
          <a:srcRect b="0" l="0" r="0" t="0"/>
          <a:stretch/>
        </p:blipFill>
        <p:spPr>
          <a:xfrm>
            <a:off x="914400" y="204787"/>
            <a:ext cx="6486525" cy="4733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58"/>
          <p:cNvPicPr preferRelativeResize="0"/>
          <p:nvPr/>
        </p:nvPicPr>
        <p:blipFill rotWithShape="1">
          <a:blip r:embed="rId3">
            <a:alphaModFix/>
          </a:blip>
          <a:srcRect b="0" l="0" r="0" t="0"/>
          <a:stretch/>
        </p:blipFill>
        <p:spPr>
          <a:xfrm>
            <a:off x="-49828" y="0"/>
            <a:ext cx="4621828" cy="5143500"/>
          </a:xfrm>
          <a:prstGeom prst="rect">
            <a:avLst/>
          </a:prstGeom>
          <a:noFill/>
          <a:ln>
            <a:noFill/>
          </a:ln>
        </p:spPr>
      </p:pic>
      <p:pic>
        <p:nvPicPr>
          <p:cNvPr id="214" name="Google Shape;214;p58"/>
          <p:cNvPicPr preferRelativeResize="0"/>
          <p:nvPr/>
        </p:nvPicPr>
        <p:blipFill rotWithShape="1">
          <a:blip r:embed="rId4">
            <a:alphaModFix/>
          </a:blip>
          <a:srcRect b="0" l="0" r="0" t="0"/>
          <a:stretch/>
        </p:blipFill>
        <p:spPr>
          <a:xfrm>
            <a:off x="4606018" y="307385"/>
            <a:ext cx="4537982" cy="413398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59"/>
          <p:cNvPicPr preferRelativeResize="0"/>
          <p:nvPr/>
        </p:nvPicPr>
        <p:blipFill rotWithShape="1">
          <a:blip r:embed="rId3">
            <a:alphaModFix/>
          </a:blip>
          <a:srcRect b="0" l="0" r="0" t="7474"/>
          <a:stretch/>
        </p:blipFill>
        <p:spPr>
          <a:xfrm>
            <a:off x="1212192" y="1036320"/>
            <a:ext cx="6719616" cy="32838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60"/>
          <p:cNvSpPr txBox="1"/>
          <p:nvPr>
            <p:ph type="title"/>
          </p:nvPr>
        </p:nvSpPr>
        <p:spPr>
          <a:xfrm>
            <a:off x="551650" y="6455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Decorator</a:t>
            </a:r>
            <a:endParaRPr/>
          </a:p>
        </p:txBody>
      </p:sp>
      <p:sp>
        <p:nvSpPr>
          <p:cNvPr id="225" name="Google Shape;225;p60"/>
          <p:cNvSpPr txBox="1"/>
          <p:nvPr>
            <p:ph idx="4294967295" type="body"/>
          </p:nvPr>
        </p:nvSpPr>
        <p:spPr>
          <a:xfrm>
            <a:off x="729450" y="1503675"/>
            <a:ext cx="7688700" cy="31287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Behavior is added to individual objects, dynamically, without affecting the behavior of other objects from the same class.</a:t>
            </a:r>
            <a:endParaRPr/>
          </a:p>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It can be used in so many use cases:</a:t>
            </a:r>
            <a:endParaRPr/>
          </a:p>
          <a:p>
            <a:pPr indent="-323850" lvl="1" marL="914400" rtl="0" algn="l">
              <a:lnSpc>
                <a:spcPct val="115000"/>
              </a:lnSpc>
              <a:spcBef>
                <a:spcPts val="0"/>
              </a:spcBef>
              <a:spcAft>
                <a:spcPts val="0"/>
              </a:spcAft>
              <a:buClr>
                <a:schemeClr val="dk2"/>
              </a:buClr>
              <a:buSzPts val="1500"/>
              <a:buAutoNum type="alphaLcPeriod"/>
            </a:pPr>
            <a:r>
              <a:rPr lang="en" sz="1500">
                <a:solidFill>
                  <a:schemeClr val="dk2"/>
                </a:solidFill>
              </a:rPr>
              <a:t>Coffee shop orders</a:t>
            </a:r>
            <a:endParaRPr/>
          </a:p>
          <a:p>
            <a:pPr indent="-323850" lvl="1" marL="914400" rtl="0" algn="l">
              <a:lnSpc>
                <a:spcPct val="115000"/>
              </a:lnSpc>
              <a:spcBef>
                <a:spcPts val="0"/>
              </a:spcBef>
              <a:spcAft>
                <a:spcPts val="0"/>
              </a:spcAft>
              <a:buClr>
                <a:schemeClr val="dk2"/>
              </a:buClr>
              <a:buSzPts val="1500"/>
              <a:buAutoNum type="alphaLcPeriod"/>
            </a:pPr>
            <a:r>
              <a:rPr lang="en" sz="1500">
                <a:solidFill>
                  <a:schemeClr val="dk2"/>
                </a:solidFill>
              </a:rPr>
              <a:t>UI Components (adding visual elements to base UI component) </a:t>
            </a:r>
            <a:endParaRPr/>
          </a:p>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Combination Classes vs Conditions vs Decorator</a:t>
            </a:r>
            <a:endParaRPr/>
          </a:p>
          <a:p>
            <a:pPr indent="-323850" lvl="1" marL="914400" rtl="0" algn="l">
              <a:lnSpc>
                <a:spcPct val="115000"/>
              </a:lnSpc>
              <a:spcBef>
                <a:spcPts val="0"/>
              </a:spcBef>
              <a:spcAft>
                <a:spcPts val="0"/>
              </a:spcAft>
              <a:buClr>
                <a:schemeClr val="dk2"/>
              </a:buClr>
              <a:buSzPts val="1500"/>
              <a:buAutoNum type="alphaLcPeriod"/>
            </a:pPr>
            <a:r>
              <a:rPr lang="en" sz="1500">
                <a:solidFill>
                  <a:schemeClr val="dk2"/>
                </a:solidFill>
              </a:rPr>
              <a:t>Instead of creating multiple subclasses for each combination, the decorator pattern allows combining features at runtime</a:t>
            </a:r>
            <a:endParaRPr/>
          </a:p>
          <a:p>
            <a:pPr indent="-323850" lvl="1" marL="914400" rtl="0" algn="l">
              <a:lnSpc>
                <a:spcPct val="115000"/>
              </a:lnSpc>
              <a:spcBef>
                <a:spcPts val="0"/>
              </a:spcBef>
              <a:spcAft>
                <a:spcPts val="0"/>
              </a:spcAft>
              <a:buClr>
                <a:schemeClr val="dk2"/>
              </a:buClr>
              <a:buSzPts val="1500"/>
              <a:buAutoNum type="alphaLcPeriod"/>
            </a:pPr>
            <a:r>
              <a:rPr lang="en" sz="1500">
                <a:solidFill>
                  <a:schemeClr val="dk2"/>
                </a:solidFill>
              </a:rPr>
              <a:t>Rather than adding flags or conditions within a single class, each decorator handles a specific feature, maintaining separation of concerns</a:t>
            </a:r>
            <a:endParaRPr/>
          </a:p>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Decorator is a </a:t>
            </a:r>
            <a:r>
              <a:rPr b="1" lang="en" sz="1500">
                <a:solidFill>
                  <a:schemeClr val="dk2"/>
                </a:solidFill>
              </a:rPr>
              <a:t>Structural</a:t>
            </a:r>
            <a:r>
              <a:rPr lang="en" sz="1500">
                <a:solidFill>
                  <a:schemeClr val="dk2"/>
                </a:solidFill>
              </a:rPr>
              <a:t> Design pattern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61"/>
          <p:cNvSpPr txBox="1"/>
          <p:nvPr>
            <p:ph type="title"/>
          </p:nvPr>
        </p:nvSpPr>
        <p:spPr>
          <a:xfrm>
            <a:off x="551650" y="6455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Design Principles Followed By Decorator</a:t>
            </a:r>
            <a:endParaRPr/>
          </a:p>
        </p:txBody>
      </p:sp>
      <p:sp>
        <p:nvSpPr>
          <p:cNvPr id="231" name="Google Shape;231;p61"/>
          <p:cNvSpPr txBox="1"/>
          <p:nvPr>
            <p:ph idx="4294967295" type="body"/>
          </p:nvPr>
        </p:nvSpPr>
        <p:spPr>
          <a:xfrm>
            <a:off x="729450" y="1271451"/>
            <a:ext cx="7688700" cy="353568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Encapsulate What Varies</a:t>
            </a:r>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Each decorator encapsulates a specific additional behavior or feature (e.g., milk, soy, mocha in the coffee example) separately from the main object.</a:t>
            </a:r>
            <a:endParaRPr/>
          </a:p>
          <a:p>
            <a:pPr indent="-323850" lvl="0" marL="457200" rtl="0" algn="l">
              <a:lnSpc>
                <a:spcPct val="115000"/>
              </a:lnSpc>
              <a:spcBef>
                <a:spcPts val="0"/>
              </a:spcBef>
              <a:spcAft>
                <a:spcPts val="0"/>
              </a:spcAft>
              <a:buClr>
                <a:schemeClr val="dk2"/>
              </a:buClr>
              <a:buSzPts val="1500"/>
              <a:buFont typeface="Lato"/>
              <a:buAutoNum type="arabicPeriod"/>
            </a:pPr>
            <a:r>
              <a:rPr lang="en" sz="1500">
                <a:solidFill>
                  <a:schemeClr val="dk2"/>
                </a:solidFill>
              </a:rPr>
              <a:t>Favor Composition Over Inheritance:</a:t>
            </a:r>
            <a:endParaRPr sz="1500">
              <a:solidFill>
                <a:schemeClr val="dk2"/>
              </a:solidFill>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Instead of creating subclasses for each combination, each decorator class is composed with the base object (the Beverage) and wraps it to add new functionality. This makes it easier to create flexible, dynamic combinations at runtime.</a:t>
            </a:r>
            <a:endParaRPr/>
          </a:p>
          <a:p>
            <a:pPr indent="-323850" lvl="0" marL="457200" rtl="0" algn="l">
              <a:lnSpc>
                <a:spcPct val="115000"/>
              </a:lnSpc>
              <a:spcBef>
                <a:spcPts val="0"/>
              </a:spcBef>
              <a:spcAft>
                <a:spcPts val="0"/>
              </a:spcAft>
              <a:buClr>
                <a:schemeClr val="dk2"/>
              </a:buClr>
              <a:buSzPts val="1500"/>
              <a:buFont typeface="Lato"/>
              <a:buAutoNum type="arabicPeriod"/>
            </a:pPr>
            <a:r>
              <a:rPr lang="en" sz="1500">
                <a:solidFill>
                  <a:schemeClr val="dk2"/>
                </a:solidFill>
              </a:rPr>
              <a:t>S in SOLID:</a:t>
            </a:r>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Each decorator class has a single responsibility (e.g., adding milk or soy), keeping the classes small and focused on one task.</a:t>
            </a:r>
            <a:endParaRPr/>
          </a:p>
          <a:p>
            <a:pPr indent="-323850" lvl="0" marL="457200" rtl="0" algn="l">
              <a:lnSpc>
                <a:spcPct val="115000"/>
              </a:lnSpc>
              <a:spcBef>
                <a:spcPts val="0"/>
              </a:spcBef>
              <a:spcAft>
                <a:spcPts val="0"/>
              </a:spcAft>
              <a:buClr>
                <a:schemeClr val="dk2"/>
              </a:buClr>
              <a:buSzPts val="1500"/>
              <a:buFont typeface="Lato"/>
              <a:buAutoNum type="arabicPeriod"/>
            </a:pPr>
            <a:r>
              <a:rPr lang="en" sz="1500">
                <a:solidFill>
                  <a:schemeClr val="dk2"/>
                </a:solidFill>
              </a:rPr>
              <a:t>O in SOLID:</a:t>
            </a:r>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The base Beverage class remains closed for modification (no need to change it for new add-ons) but open for extension through new decorators.</a:t>
            </a:r>
            <a:endParaRPr sz="13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62"/>
          <p:cNvSpPr txBox="1"/>
          <p:nvPr>
            <p:ph type="title"/>
          </p:nvPr>
        </p:nvSpPr>
        <p:spPr>
          <a:xfrm>
            <a:off x="559950" y="733950"/>
            <a:ext cx="7857900" cy="1244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Weather Station Problem</a:t>
            </a:r>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63"/>
          <p:cNvSpPr txBox="1"/>
          <p:nvPr>
            <p:ph type="title"/>
          </p:nvPr>
        </p:nvSpPr>
        <p:spPr>
          <a:xfrm>
            <a:off x="551650" y="6455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Problem Description</a:t>
            </a:r>
            <a:endParaRPr/>
          </a:p>
        </p:txBody>
      </p:sp>
      <p:sp>
        <p:nvSpPr>
          <p:cNvPr id="242" name="Google Shape;242;p63"/>
          <p:cNvSpPr txBox="1"/>
          <p:nvPr>
            <p:ph idx="4294967295" type="body"/>
          </p:nvPr>
        </p:nvSpPr>
        <p:spPr>
          <a:xfrm>
            <a:off x="729450" y="1503675"/>
            <a:ext cx="7688700" cy="3128700"/>
          </a:xfrm>
          <a:prstGeom prst="rect">
            <a:avLst/>
          </a:prstGeom>
          <a:noFill/>
          <a:ln>
            <a:noFill/>
          </a:ln>
        </p:spPr>
        <p:txBody>
          <a:bodyPr anchorCtr="0" anchor="t" bIns="91425" lIns="91425" spcFirstLastPara="1" rIns="91425" wrap="square" tIns="91425">
            <a:normAutofit/>
          </a:bodyPr>
          <a:lstStyle/>
          <a:p>
            <a:pPr indent="0" lvl="0" marL="133350" rtl="0" algn="l">
              <a:lnSpc>
                <a:spcPct val="115000"/>
              </a:lnSpc>
              <a:spcBef>
                <a:spcPts val="0"/>
              </a:spcBef>
              <a:spcAft>
                <a:spcPts val="0"/>
              </a:spcAft>
              <a:buClr>
                <a:schemeClr val="dk2"/>
              </a:buClr>
              <a:buSzPts val="1500"/>
              <a:buNone/>
            </a:pPr>
            <a:r>
              <a:rPr lang="en" sz="1500">
                <a:solidFill>
                  <a:schemeClr val="dk2"/>
                </a:solidFill>
              </a:rPr>
              <a:t>Imagine you’re building a Weather Station application that monitors and displays real-time weather data (like temperature, humidity, and pressure). Initially, you only have one display screen showing this data, so it’s manageable.</a:t>
            </a:r>
            <a:endParaRPr/>
          </a:p>
          <a:p>
            <a:pPr indent="0" lvl="0" marL="133350" rtl="0" algn="l">
              <a:lnSpc>
                <a:spcPct val="115000"/>
              </a:lnSpc>
              <a:spcBef>
                <a:spcPts val="0"/>
              </a:spcBef>
              <a:spcAft>
                <a:spcPts val="0"/>
              </a:spcAft>
              <a:buClr>
                <a:schemeClr val="dk2"/>
              </a:buClr>
              <a:buSzPts val="1500"/>
              <a:buNone/>
            </a:pPr>
            <a:r>
              <a:t/>
            </a:r>
            <a:endParaRPr sz="1500">
              <a:solidFill>
                <a:schemeClr val="dk2"/>
              </a:solidFill>
            </a:endParaRPr>
          </a:p>
          <a:p>
            <a:pPr indent="0" lvl="0" marL="133350" rtl="0" algn="l">
              <a:lnSpc>
                <a:spcPct val="115000"/>
              </a:lnSpc>
              <a:spcBef>
                <a:spcPts val="0"/>
              </a:spcBef>
              <a:spcAft>
                <a:spcPts val="0"/>
              </a:spcAft>
              <a:buClr>
                <a:schemeClr val="dk2"/>
              </a:buClr>
              <a:buSzPts val="1500"/>
              <a:buNone/>
            </a:pPr>
            <a:r>
              <a:rPr lang="en" sz="1500">
                <a:solidFill>
                  <a:schemeClr val="dk2"/>
                </a:solidFill>
              </a:rPr>
              <a:t>Now, the requirements have changed:</a:t>
            </a:r>
            <a:endParaRPr/>
          </a:p>
          <a:p>
            <a:pPr indent="-285750" lvl="0" marL="419100" rtl="0" algn="l">
              <a:lnSpc>
                <a:spcPct val="115000"/>
              </a:lnSpc>
              <a:spcBef>
                <a:spcPts val="0"/>
              </a:spcBef>
              <a:spcAft>
                <a:spcPts val="0"/>
              </a:spcAft>
              <a:buClr>
                <a:schemeClr val="dk2"/>
              </a:buClr>
              <a:buSzPts val="1500"/>
              <a:buChar char="●"/>
            </a:pPr>
            <a:r>
              <a:rPr lang="en" sz="1500">
                <a:solidFill>
                  <a:schemeClr val="dk2"/>
                </a:solidFill>
              </a:rPr>
              <a:t>You need multiple displays, each showing different views, like a Current Conditions Display, a Statistics Display, and a Forecast Display.</a:t>
            </a:r>
            <a:endParaRPr/>
          </a:p>
          <a:p>
            <a:pPr indent="-285750" lvl="0" marL="419100" rtl="0" algn="l">
              <a:lnSpc>
                <a:spcPct val="115000"/>
              </a:lnSpc>
              <a:spcBef>
                <a:spcPts val="0"/>
              </a:spcBef>
              <a:spcAft>
                <a:spcPts val="0"/>
              </a:spcAft>
              <a:buClr>
                <a:schemeClr val="dk2"/>
              </a:buClr>
              <a:buSzPts val="1500"/>
              <a:buChar char="●"/>
            </a:pPr>
            <a:r>
              <a:rPr lang="en" sz="1500">
                <a:solidFill>
                  <a:schemeClr val="dk2"/>
                </a:solidFill>
              </a:rPr>
              <a:t>Each display needs to update immediately when the weather changes.</a:t>
            </a:r>
            <a:endParaRPr/>
          </a:p>
          <a:p>
            <a:pPr indent="-285750" lvl="0" marL="419100" rtl="0" algn="l">
              <a:lnSpc>
                <a:spcPct val="115000"/>
              </a:lnSpc>
              <a:spcBef>
                <a:spcPts val="0"/>
              </a:spcBef>
              <a:spcAft>
                <a:spcPts val="0"/>
              </a:spcAft>
              <a:buClr>
                <a:schemeClr val="dk2"/>
              </a:buClr>
              <a:buSzPts val="1500"/>
              <a:buChar char="●"/>
            </a:pPr>
            <a:r>
              <a:rPr lang="en" sz="1500">
                <a:solidFill>
                  <a:schemeClr val="dk2"/>
                </a:solidFill>
              </a:rPr>
              <a:t>The system must be scalable, allowing new types of displays to be added later.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6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6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66"/>
          <p:cNvPicPr preferRelativeResize="0"/>
          <p:nvPr/>
        </p:nvPicPr>
        <p:blipFill rotWithShape="1">
          <a:blip r:embed="rId3">
            <a:alphaModFix/>
          </a:blip>
          <a:srcRect b="0" l="0" r="0" t="0"/>
          <a:stretch/>
        </p:blipFill>
        <p:spPr>
          <a:xfrm>
            <a:off x="0" y="695053"/>
            <a:ext cx="9144000" cy="375339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67"/>
          <p:cNvPicPr preferRelativeResize="0"/>
          <p:nvPr/>
        </p:nvPicPr>
        <p:blipFill rotWithShape="1">
          <a:blip r:embed="rId3">
            <a:alphaModFix/>
          </a:blip>
          <a:srcRect b="0" l="0" r="0" t="13207"/>
          <a:stretch/>
        </p:blipFill>
        <p:spPr>
          <a:xfrm>
            <a:off x="1452243" y="339634"/>
            <a:ext cx="6239514" cy="446423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68"/>
          <p:cNvPicPr preferRelativeResize="0"/>
          <p:nvPr/>
        </p:nvPicPr>
        <p:blipFill rotWithShape="1">
          <a:blip r:embed="rId3">
            <a:alphaModFix/>
          </a:blip>
          <a:srcRect b="0" l="0" r="0" t="0"/>
          <a:stretch/>
        </p:blipFill>
        <p:spPr>
          <a:xfrm>
            <a:off x="1380977" y="0"/>
            <a:ext cx="6382045" cy="5143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69"/>
          <p:cNvPicPr preferRelativeResize="0"/>
          <p:nvPr/>
        </p:nvPicPr>
        <p:blipFill rotWithShape="1">
          <a:blip r:embed="rId3">
            <a:alphaModFix/>
          </a:blip>
          <a:srcRect b="0" l="0" r="0" t="0"/>
          <a:stretch/>
        </p:blipFill>
        <p:spPr>
          <a:xfrm>
            <a:off x="1399180" y="488700"/>
            <a:ext cx="6345639" cy="41660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70"/>
          <p:cNvPicPr preferRelativeResize="0"/>
          <p:nvPr/>
        </p:nvPicPr>
        <p:blipFill rotWithShape="1">
          <a:blip r:embed="rId3">
            <a:alphaModFix/>
          </a:blip>
          <a:srcRect b="0" l="0" r="0" t="0"/>
          <a:stretch/>
        </p:blipFill>
        <p:spPr>
          <a:xfrm>
            <a:off x="1253052" y="0"/>
            <a:ext cx="6637895" cy="5143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7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72"/>
          <p:cNvPicPr preferRelativeResize="0"/>
          <p:nvPr/>
        </p:nvPicPr>
        <p:blipFill rotWithShape="1">
          <a:blip r:embed="rId3">
            <a:alphaModFix/>
          </a:blip>
          <a:srcRect b="0" l="0" r="0" t="0"/>
          <a:stretch/>
        </p:blipFill>
        <p:spPr>
          <a:xfrm>
            <a:off x="1462087" y="728662"/>
            <a:ext cx="6219825" cy="36861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73"/>
          <p:cNvSpPr txBox="1"/>
          <p:nvPr>
            <p:ph type="title"/>
          </p:nvPr>
        </p:nvSpPr>
        <p:spPr>
          <a:xfrm>
            <a:off x="551650" y="6455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Observer</a:t>
            </a:r>
            <a:endParaRPr/>
          </a:p>
        </p:txBody>
      </p:sp>
      <p:sp>
        <p:nvSpPr>
          <p:cNvPr id="293" name="Google Shape;293;p73"/>
          <p:cNvSpPr txBox="1"/>
          <p:nvPr>
            <p:ph idx="4294967295" type="body"/>
          </p:nvPr>
        </p:nvSpPr>
        <p:spPr>
          <a:xfrm>
            <a:off x="729450" y="1503675"/>
            <a:ext cx="7688700" cy="3128700"/>
          </a:xfrm>
          <a:prstGeom prst="rect">
            <a:avLst/>
          </a:prstGeom>
          <a:noFill/>
          <a:ln>
            <a:noFill/>
          </a:ln>
        </p:spPr>
        <p:txBody>
          <a:bodyPr anchorCtr="0" anchor="t" bIns="91425" lIns="91425" spcFirstLastPara="1" rIns="91425" wrap="square" tIns="91425">
            <a:normAutofit fontScale="92500" lnSpcReduction="20000"/>
          </a:bodyPr>
          <a:lstStyle/>
          <a:p>
            <a:pPr indent="-323850" lvl="0" marL="457200" rtl="0" algn="l">
              <a:lnSpc>
                <a:spcPct val="115000"/>
              </a:lnSpc>
              <a:spcBef>
                <a:spcPts val="0"/>
              </a:spcBef>
              <a:spcAft>
                <a:spcPts val="0"/>
              </a:spcAft>
              <a:buClr>
                <a:schemeClr val="dk2"/>
              </a:buClr>
              <a:buSzPct val="101351"/>
              <a:buAutoNum type="arabicPeriod"/>
            </a:pPr>
            <a:r>
              <a:rPr lang="en" sz="1600">
                <a:solidFill>
                  <a:schemeClr val="dk2"/>
                </a:solidFill>
              </a:rPr>
              <a:t>An object (subject) maintains a list of dependent objects (observers) and notifies them of any changes, usually by calling one of their methods.</a:t>
            </a:r>
            <a:endParaRPr/>
          </a:p>
          <a:p>
            <a:pPr indent="-323850" lvl="0" marL="457200" rtl="0" algn="l">
              <a:lnSpc>
                <a:spcPct val="115000"/>
              </a:lnSpc>
              <a:spcBef>
                <a:spcPts val="0"/>
              </a:spcBef>
              <a:spcAft>
                <a:spcPts val="0"/>
              </a:spcAft>
              <a:buClr>
                <a:schemeClr val="dk2"/>
              </a:buClr>
              <a:buSzPct val="101351"/>
              <a:buFont typeface="Lato"/>
              <a:buAutoNum type="arabicPeriod"/>
            </a:pPr>
            <a:r>
              <a:rPr lang="en" sz="1600">
                <a:solidFill>
                  <a:schemeClr val="dk2"/>
                </a:solidFill>
              </a:rPr>
              <a:t>It can be used in so many use cases:</a:t>
            </a:r>
            <a:endParaRPr/>
          </a:p>
          <a:p>
            <a:pPr indent="-323850" lvl="1" marL="914400" rtl="0" algn="l">
              <a:lnSpc>
                <a:spcPct val="115000"/>
              </a:lnSpc>
              <a:spcBef>
                <a:spcPts val="0"/>
              </a:spcBef>
              <a:spcAft>
                <a:spcPts val="0"/>
              </a:spcAft>
              <a:buClr>
                <a:schemeClr val="dk2"/>
              </a:buClr>
              <a:buSzPct val="101351"/>
              <a:buAutoNum type="alphaLcPeriod"/>
            </a:pPr>
            <a:r>
              <a:rPr lang="en" sz="1600">
                <a:solidFill>
                  <a:schemeClr val="dk2"/>
                </a:solidFill>
              </a:rPr>
              <a:t>Applications like weather stations or stock tickers where data changes frequently</a:t>
            </a:r>
            <a:endParaRPr/>
          </a:p>
          <a:p>
            <a:pPr indent="-323850" lvl="1" marL="914400" rtl="0" algn="l">
              <a:lnSpc>
                <a:spcPct val="115000"/>
              </a:lnSpc>
              <a:spcBef>
                <a:spcPts val="0"/>
              </a:spcBef>
              <a:spcAft>
                <a:spcPts val="0"/>
              </a:spcAft>
              <a:buClr>
                <a:schemeClr val="dk2"/>
              </a:buClr>
              <a:buSzPct val="101351"/>
              <a:buAutoNum type="alphaLcPeriod"/>
            </a:pPr>
            <a:r>
              <a:rPr lang="en" sz="1600">
                <a:solidFill>
                  <a:schemeClr val="dk2"/>
                </a:solidFill>
              </a:rPr>
              <a:t>Alerts, or push notifications where users need updates without polling for data</a:t>
            </a:r>
            <a:endParaRPr/>
          </a:p>
          <a:p>
            <a:pPr indent="-323850" lvl="0" marL="457200" rtl="0" algn="l">
              <a:lnSpc>
                <a:spcPct val="115000"/>
              </a:lnSpc>
              <a:spcBef>
                <a:spcPts val="0"/>
              </a:spcBef>
              <a:spcAft>
                <a:spcPts val="0"/>
              </a:spcAft>
              <a:buClr>
                <a:schemeClr val="dk2"/>
              </a:buClr>
              <a:buSzPct val="101351"/>
              <a:buFont typeface="Lato"/>
              <a:buAutoNum type="arabicPeriod"/>
            </a:pPr>
            <a:r>
              <a:rPr lang="en" sz="1600">
                <a:solidFill>
                  <a:schemeClr val="dk2"/>
                </a:solidFill>
              </a:rPr>
              <a:t>Direct Approach vs Observer</a:t>
            </a:r>
            <a:endParaRPr/>
          </a:p>
          <a:p>
            <a:pPr indent="-323850" lvl="1" marL="914400" rtl="0" algn="l">
              <a:lnSpc>
                <a:spcPct val="115000"/>
              </a:lnSpc>
              <a:spcBef>
                <a:spcPts val="0"/>
              </a:spcBef>
              <a:spcAft>
                <a:spcPts val="0"/>
              </a:spcAft>
              <a:buClr>
                <a:schemeClr val="dk2"/>
              </a:buClr>
              <a:buSzPct val="101351"/>
              <a:buAutoNum type="alphaLcPeriod"/>
            </a:pPr>
            <a:r>
              <a:rPr lang="en" sz="1600">
                <a:solidFill>
                  <a:schemeClr val="dk2"/>
                </a:solidFill>
              </a:rPr>
              <a:t>Direct approach leads to tight coupling, any addition/removal in one of the classes that need to be modified will cause changes to the class supplying the data.</a:t>
            </a:r>
            <a:endParaRPr/>
          </a:p>
          <a:p>
            <a:pPr indent="-323850" lvl="1" marL="914400" rtl="0" algn="l">
              <a:lnSpc>
                <a:spcPct val="115000"/>
              </a:lnSpc>
              <a:spcBef>
                <a:spcPts val="0"/>
              </a:spcBef>
              <a:spcAft>
                <a:spcPts val="0"/>
              </a:spcAft>
              <a:buClr>
                <a:schemeClr val="dk2"/>
              </a:buClr>
              <a:buSzPct val="101351"/>
              <a:buAutoNum type="alphaLcPeriod"/>
            </a:pPr>
            <a:r>
              <a:rPr lang="en" sz="1600">
                <a:solidFill>
                  <a:schemeClr val="dk2"/>
                </a:solidFill>
              </a:rPr>
              <a:t>Observers and the subject don’t need to know each other’s details. You can add/remove observers without modifying the subject.</a:t>
            </a:r>
            <a:endParaRPr/>
          </a:p>
          <a:p>
            <a:pPr indent="-323850" lvl="0" marL="457200" rtl="0" algn="l">
              <a:lnSpc>
                <a:spcPct val="115000"/>
              </a:lnSpc>
              <a:spcBef>
                <a:spcPts val="0"/>
              </a:spcBef>
              <a:spcAft>
                <a:spcPts val="0"/>
              </a:spcAft>
              <a:buClr>
                <a:schemeClr val="dk2"/>
              </a:buClr>
              <a:buSzPct val="101351"/>
              <a:buFont typeface="Lato"/>
              <a:buAutoNum type="arabicPeriod"/>
            </a:pPr>
            <a:r>
              <a:rPr lang="en" sz="1600">
                <a:solidFill>
                  <a:schemeClr val="dk2"/>
                </a:solidFill>
              </a:rPr>
              <a:t>Decorator is a </a:t>
            </a:r>
            <a:r>
              <a:rPr b="1" lang="en" sz="1600">
                <a:solidFill>
                  <a:schemeClr val="dk2"/>
                </a:solidFill>
              </a:rPr>
              <a:t>Behavioral</a:t>
            </a:r>
            <a:r>
              <a:rPr lang="en" sz="1600">
                <a:solidFill>
                  <a:schemeClr val="dk2"/>
                </a:solidFill>
              </a:rPr>
              <a:t> Design pattern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74"/>
          <p:cNvSpPr txBox="1"/>
          <p:nvPr>
            <p:ph type="title"/>
          </p:nvPr>
        </p:nvSpPr>
        <p:spPr>
          <a:xfrm>
            <a:off x="551650" y="6455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Design Principles Followed By Observer</a:t>
            </a:r>
            <a:endParaRPr/>
          </a:p>
        </p:txBody>
      </p:sp>
      <p:sp>
        <p:nvSpPr>
          <p:cNvPr id="299" name="Google Shape;299;p74"/>
          <p:cNvSpPr txBox="1"/>
          <p:nvPr>
            <p:ph idx="4294967295" type="body"/>
          </p:nvPr>
        </p:nvSpPr>
        <p:spPr>
          <a:xfrm>
            <a:off x="729450" y="1271451"/>
            <a:ext cx="7688700" cy="3535680"/>
          </a:xfrm>
          <a:prstGeom prst="rect">
            <a:avLst/>
          </a:prstGeom>
          <a:noFill/>
          <a:ln>
            <a:noFill/>
          </a:ln>
        </p:spPr>
        <p:txBody>
          <a:bodyPr anchorCtr="0" anchor="t" bIns="91425" lIns="91425" spcFirstLastPara="1" rIns="91425" wrap="square" tIns="91425">
            <a:normAutofit lnSpcReduction="10000"/>
          </a:bodyPr>
          <a:lstStyle/>
          <a:p>
            <a:pPr indent="-323850" lvl="0" marL="457200" rtl="0" algn="l">
              <a:lnSpc>
                <a:spcPct val="115000"/>
              </a:lnSpc>
              <a:spcBef>
                <a:spcPts val="0"/>
              </a:spcBef>
              <a:spcAft>
                <a:spcPts val="0"/>
              </a:spcAft>
              <a:buClr>
                <a:schemeClr val="dk2"/>
              </a:buClr>
              <a:buSzPts val="1500"/>
              <a:buAutoNum type="arabicPeriod"/>
            </a:pPr>
            <a:r>
              <a:rPr lang="en" sz="1500">
                <a:solidFill>
                  <a:schemeClr val="dk2"/>
                </a:solidFill>
              </a:rPr>
              <a:t>Encapsulate What Varies</a:t>
            </a:r>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The Observer pattern encapsulates the changing set of observers. The WeatherData subject doesn't need to know how many observers there are or how they operate. It simply notifies all observers when data changes, allowing for flexibility in adding, removing, or changing observers without modifying the WeatherData itself.</a:t>
            </a:r>
            <a:endParaRPr/>
          </a:p>
          <a:p>
            <a:pPr indent="-342900" lvl="0" marL="476250" rtl="0" algn="l">
              <a:lnSpc>
                <a:spcPct val="115000"/>
              </a:lnSpc>
              <a:spcBef>
                <a:spcPts val="0"/>
              </a:spcBef>
              <a:spcAft>
                <a:spcPts val="0"/>
              </a:spcAft>
              <a:buClr>
                <a:schemeClr val="dk2"/>
              </a:buClr>
              <a:buSzPts val="1500"/>
              <a:buFont typeface="Arial"/>
              <a:buAutoNum type="arabicPeriod"/>
            </a:pPr>
            <a:r>
              <a:rPr lang="en" sz="1500">
                <a:solidFill>
                  <a:schemeClr val="dk2"/>
                </a:solidFill>
              </a:rPr>
              <a:t>Program to an Interface, Not an Implementation:</a:t>
            </a:r>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Observers interact with the WeatherData through a common interface (Observer), not through concrete classes. This allows any new display (observer) class to be added as long as it implements the Observer interface, without modifying the WeatherData class.</a:t>
            </a:r>
            <a:endParaRPr/>
          </a:p>
          <a:p>
            <a:pPr indent="-323850" lvl="0" marL="457200" rtl="0" algn="l">
              <a:lnSpc>
                <a:spcPct val="115000"/>
              </a:lnSpc>
              <a:spcBef>
                <a:spcPts val="0"/>
              </a:spcBef>
              <a:spcAft>
                <a:spcPts val="0"/>
              </a:spcAft>
              <a:buClr>
                <a:schemeClr val="dk2"/>
              </a:buClr>
              <a:buSzPts val="1500"/>
              <a:buFont typeface="Lato"/>
              <a:buAutoNum type="arabicPeriod"/>
            </a:pPr>
            <a:r>
              <a:rPr lang="en" sz="1500">
                <a:solidFill>
                  <a:schemeClr val="dk2"/>
                </a:solidFill>
              </a:rPr>
              <a:t>O in SOLID:</a:t>
            </a:r>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WeatherData is open for extension (adding new observers) but closed for modification (no need to change its code to accommodate new observers).</a:t>
            </a:r>
            <a:endParaRPr/>
          </a:p>
          <a:p>
            <a:pPr indent="-323850" lvl="0" marL="457200" rtl="0" algn="l">
              <a:lnSpc>
                <a:spcPct val="115000"/>
              </a:lnSpc>
              <a:spcBef>
                <a:spcPts val="0"/>
              </a:spcBef>
              <a:spcAft>
                <a:spcPts val="0"/>
              </a:spcAft>
              <a:buClr>
                <a:schemeClr val="dk2"/>
              </a:buClr>
              <a:buSzPts val="1500"/>
              <a:buFont typeface="Lato"/>
              <a:buAutoNum type="arabicPeriod"/>
            </a:pPr>
            <a:r>
              <a:rPr lang="en" sz="1500">
                <a:solidFill>
                  <a:schemeClr val="dk2"/>
                </a:solidFill>
              </a:rPr>
              <a:t>D in SOLID:</a:t>
            </a:r>
            <a:endParaRPr/>
          </a:p>
          <a:p>
            <a:pPr indent="-342900" lvl="1" marL="933450" rtl="0" algn="l">
              <a:lnSpc>
                <a:spcPct val="115000"/>
              </a:lnSpc>
              <a:spcBef>
                <a:spcPts val="0"/>
              </a:spcBef>
              <a:spcAft>
                <a:spcPts val="0"/>
              </a:spcAft>
              <a:buClr>
                <a:schemeClr val="dk2"/>
              </a:buClr>
              <a:buSzPts val="1500"/>
              <a:buFont typeface="Arial"/>
              <a:buAutoNum type="alphaLcPeriod"/>
            </a:pPr>
            <a:r>
              <a:rPr lang="en" sz="1300">
                <a:solidFill>
                  <a:schemeClr val="dk2"/>
                </a:solidFill>
              </a:rPr>
              <a:t>WeatherData (high-level class) depends on Observer (abstract class) rather than concrete classes, which reduces dependencies and supports extensibility.</a:t>
            </a:r>
            <a:endParaRPr sz="1300">
              <a:solidFill>
                <a:schemeClr val="dk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1"/>
          <p:cNvSpPr txBox="1"/>
          <p:nvPr>
            <p:ph idx="1" type="body"/>
          </p:nvPr>
        </p:nvSpPr>
        <p:spPr>
          <a:xfrm>
            <a:off x="729450" y="2712438"/>
            <a:ext cx="7688400" cy="15804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rgbClr val="000000"/>
              </a:buClr>
              <a:buSzPts val="8889"/>
              <a:buFont typeface="Arial"/>
              <a:buNone/>
            </a:pPr>
            <a:r>
              <a:rPr b="1" lang="en" sz="5400">
                <a:latin typeface="Raleway"/>
                <a:ea typeface="Raleway"/>
                <a:cs typeface="Raleway"/>
                <a:sym typeface="Raleway"/>
              </a:rPr>
              <a:t>Thank You</a:t>
            </a:r>
            <a:endParaRPr b="1" sz="5400">
              <a:latin typeface="Raleway"/>
              <a:ea typeface="Raleway"/>
              <a:cs typeface="Raleway"/>
              <a:sym typeface="Raleway"/>
            </a:endParaRPr>
          </a:p>
          <a:p>
            <a:pPr indent="0" lvl="0" marL="0" rtl="0" algn="l">
              <a:lnSpc>
                <a:spcPct val="105000"/>
              </a:lnSpc>
              <a:spcBef>
                <a:spcPts val="0"/>
              </a:spcBef>
              <a:spcAft>
                <a:spcPts val="1200"/>
              </a:spcAft>
              <a:buSzPts val="13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