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Serif"/>
      <p:regular r:id="rId25"/>
      <p:bold r:id="rId26"/>
      <p:italic r:id="rId27"/>
      <p:boldItalic r:id="rId28"/>
    </p:embeddedFont>
    <p:embeddedFont>
      <p:font typeface="Roboto Serif Light"/>
      <p:regular r:id="rId29"/>
      <p:bold r:id="rId30"/>
      <p:italic r:id="rId31"/>
      <p:boldItalic r:id="rId32"/>
    </p:embeddedFont>
    <p:embeddedFont>
      <p:font typeface="Roboto Serif SemiBold"/>
      <p:regular r:id="rId33"/>
      <p:bold r:id="rId34"/>
      <p:italic r:id="rId35"/>
      <p:boldItalic r:id="rId36"/>
    </p:embeddedFont>
    <p:embeddedFont>
      <p:font typeface="Roboto Serif Medium"/>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SerifMedium-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obotoSerif-bold.fntdata"/><Relationship Id="rId25" Type="http://schemas.openxmlformats.org/officeDocument/2006/relationships/font" Target="fonts/RobotoSerif-regular.fntdata"/><Relationship Id="rId28" Type="http://schemas.openxmlformats.org/officeDocument/2006/relationships/font" Target="fonts/RobotoSerif-boldItalic.fntdata"/><Relationship Id="rId27" Type="http://schemas.openxmlformats.org/officeDocument/2006/relationships/font" Target="fonts/RobotoSerif-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SerifLigh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SerifLight-italic.fntdata"/><Relationship Id="rId30" Type="http://schemas.openxmlformats.org/officeDocument/2006/relationships/font" Target="fonts/RobotoSerifLight-bold.fntdata"/><Relationship Id="rId11" Type="http://schemas.openxmlformats.org/officeDocument/2006/relationships/slide" Target="slides/slide5.xml"/><Relationship Id="rId33" Type="http://schemas.openxmlformats.org/officeDocument/2006/relationships/font" Target="fonts/RobotoSerifSemiBold-regular.fntdata"/><Relationship Id="rId10" Type="http://schemas.openxmlformats.org/officeDocument/2006/relationships/slide" Target="slides/slide4.xml"/><Relationship Id="rId32" Type="http://schemas.openxmlformats.org/officeDocument/2006/relationships/font" Target="fonts/RobotoSerifLight-boldItalic.fntdata"/><Relationship Id="rId13" Type="http://schemas.openxmlformats.org/officeDocument/2006/relationships/slide" Target="slides/slide7.xml"/><Relationship Id="rId35" Type="http://schemas.openxmlformats.org/officeDocument/2006/relationships/font" Target="fonts/RobotoSerifSemiBold-italic.fntdata"/><Relationship Id="rId12" Type="http://schemas.openxmlformats.org/officeDocument/2006/relationships/slide" Target="slides/slide6.xml"/><Relationship Id="rId34" Type="http://schemas.openxmlformats.org/officeDocument/2006/relationships/font" Target="fonts/RobotoSerifSemiBold-bold.fntdata"/><Relationship Id="rId15" Type="http://schemas.openxmlformats.org/officeDocument/2006/relationships/slide" Target="slides/slide9.xml"/><Relationship Id="rId37" Type="http://schemas.openxmlformats.org/officeDocument/2006/relationships/font" Target="fonts/RobotoSerifMedium-regular.fntdata"/><Relationship Id="rId14" Type="http://schemas.openxmlformats.org/officeDocument/2006/relationships/slide" Target="slides/slide8.xml"/><Relationship Id="rId36" Type="http://schemas.openxmlformats.org/officeDocument/2006/relationships/font" Target="fonts/RobotoSerifSemiBold-boldItalic.fntdata"/><Relationship Id="rId17" Type="http://schemas.openxmlformats.org/officeDocument/2006/relationships/slide" Target="slides/slide11.xml"/><Relationship Id="rId39" Type="http://schemas.openxmlformats.org/officeDocument/2006/relationships/font" Target="fonts/RobotoSerifMedium-italic.fntdata"/><Relationship Id="rId16" Type="http://schemas.openxmlformats.org/officeDocument/2006/relationships/slide" Target="slides/slide10.xml"/><Relationship Id="rId38" Type="http://schemas.openxmlformats.org/officeDocument/2006/relationships/font" Target="fonts/RobotoSerifMedium-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37f418516b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37f418516b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37f418516b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37f418516b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7f418516b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7f418516b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i="1" lang="en-GB">
                <a:solidFill>
                  <a:schemeClr val="dk1"/>
                </a:solidFill>
              </a:rPr>
              <a:t>Why do we need testing?</a:t>
            </a:r>
            <a:r>
              <a:rPr lang="en-GB">
                <a:solidFill>
                  <a:schemeClr val="dk1"/>
                </a:solidFill>
              </a:rPr>
              <a:t> → To catch errors early, improve reliability, and reduce costs.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i="1" lang="en-GB">
                <a:solidFill>
                  <a:schemeClr val="dk1"/>
                </a:solidFill>
              </a:rPr>
              <a:t>Who performs testing?</a:t>
            </a:r>
            <a:r>
              <a:rPr lang="en-GB">
                <a:solidFill>
                  <a:schemeClr val="dk1"/>
                </a:solidFill>
              </a:rPr>
              <a:t> → Developers (unit testing), testers (QA), and users (UAT - User Acceptance Testing).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37f418516b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37f418516b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i="1" lang="en-GB">
                <a:solidFill>
                  <a:schemeClr val="dk1"/>
                </a:solidFill>
              </a:rPr>
              <a:t>Who does white box testing?</a:t>
            </a:r>
            <a:r>
              <a:rPr lang="en-GB">
                <a:solidFill>
                  <a:schemeClr val="dk1"/>
                </a:solidFill>
              </a:rPr>
              <a:t> → Usually developers.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i="1" lang="en-GB">
                <a:solidFill>
                  <a:schemeClr val="dk1"/>
                </a:solidFill>
              </a:rPr>
              <a:t>Who does black box testing?</a:t>
            </a:r>
            <a:r>
              <a:rPr lang="en-GB">
                <a:solidFill>
                  <a:schemeClr val="dk1"/>
                </a:solidFill>
              </a:rPr>
              <a:t> → QA engineers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These are software testing concepts or techniques</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3b9335e8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3b9335e8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37f418516b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37f418516b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i="1" lang="en-GB">
                <a:solidFill>
                  <a:schemeClr val="dk1"/>
                </a:solidFill>
              </a:rPr>
              <a:t>Do we always need 100% coverage?</a:t>
            </a:r>
            <a:r>
              <a:rPr lang="en-GB">
                <a:solidFill>
                  <a:schemeClr val="dk1"/>
                </a:solidFill>
              </a:rPr>
              <a:t> → Not always, but higher coverage means better-tested code.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7f418516b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7f418516b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i="1" lang="en-GB">
                <a:solidFill>
                  <a:schemeClr val="dk1"/>
                </a:solidFill>
              </a:rPr>
              <a:t>Why test boundary values?</a:t>
            </a:r>
            <a:r>
              <a:rPr lang="en-GB">
                <a:solidFill>
                  <a:schemeClr val="dk1"/>
                </a:solidFill>
              </a:rPr>
              <a:t> → Bugs often appear at limits (e.g., off-by-one errors).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Difference between boundary value analysis w el statement could be confusing here just focus on that in the black box, dont know the internal code we just know that the function takes in age and return true or false according to a specific age range (Tester doesn't know how it is implemented)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i="1" lang="en-GB">
                <a:solidFill>
                  <a:schemeClr val="dk1"/>
                </a:solidFill>
              </a:rPr>
              <a:t>How does black box testing help usability?</a:t>
            </a:r>
            <a:r>
              <a:rPr lang="en-GB">
                <a:solidFill>
                  <a:schemeClr val="dk1"/>
                </a:solidFill>
              </a:rPr>
              <a:t> → It mimics real-world user interaction.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37f418516b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37f418516b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37f418516b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37f418516b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Unit testing is an example of white box and we r focusing on it here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37f418516b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37f418516b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Note: Second test fails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37f418516b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37f418516b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Example of black box testing concept </a:t>
            </a:r>
            <a:endParaRPr/>
          </a:p>
          <a:p>
            <a:pPr indent="0" lvl="0" marL="0" rtl="0" algn="l">
              <a:spcBef>
                <a:spcPts val="0"/>
              </a:spcBef>
              <a:spcAft>
                <a:spcPts val="0"/>
              </a:spcAft>
              <a:buNone/>
            </a:pPr>
            <a:r>
              <a:rPr lang="en-GB"/>
              <a:t>In E2E testing we mimic user interaction using code with no knowledge of the implementation we just know the inputs and outputs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37f418516b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37f418516b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Code example shows testing login functionality on a website by:</a:t>
            </a:r>
            <a:endParaRPr/>
          </a:p>
          <a:p>
            <a:pPr indent="457200" lvl="0" marL="0" rtl="0" algn="l">
              <a:spcBef>
                <a:spcPts val="0"/>
              </a:spcBef>
              <a:spcAft>
                <a:spcPts val="0"/>
              </a:spcAft>
              <a:buNone/>
            </a:pPr>
            <a:r>
              <a:rPr lang="en-GB"/>
              <a:t>finding username &amp; password items on a page </a:t>
            </a:r>
            <a:endParaRPr/>
          </a:p>
          <a:p>
            <a:pPr indent="457200" lvl="0" marL="0" rtl="0" algn="l">
              <a:spcBef>
                <a:spcPts val="0"/>
              </a:spcBef>
              <a:spcAft>
                <a:spcPts val="0"/>
              </a:spcAft>
              <a:buNone/>
            </a:pPr>
            <a:r>
              <a:rPr lang="en-GB"/>
              <a:t>Sending data to fill those </a:t>
            </a:r>
            <a:endParaRPr/>
          </a:p>
          <a:p>
            <a:pPr indent="457200" lvl="0" marL="0" rtl="0" algn="l">
              <a:spcBef>
                <a:spcPts val="0"/>
              </a:spcBef>
              <a:spcAft>
                <a:spcPts val="0"/>
              </a:spcAft>
              <a:buNone/>
            </a:pPr>
            <a:r>
              <a:rPr lang="en-GB"/>
              <a:t>Clicking on login button</a:t>
            </a:r>
            <a:endParaRPr/>
          </a:p>
          <a:p>
            <a:pPr indent="457200" lvl="0" marL="0" rtl="0" algn="l">
              <a:spcBef>
                <a:spcPts val="0"/>
              </a:spcBef>
              <a:spcAft>
                <a:spcPts val="0"/>
              </a:spcAft>
              <a:buNone/>
            </a:pPr>
            <a:r>
              <a:rPr lang="en-GB"/>
              <a:t>Checking by  getting ‘Welcome’ in the resulting page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37f418516b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37f418516b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37f418516b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37f418516b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i="1" lang="en-GB">
                <a:solidFill>
                  <a:schemeClr val="dk1"/>
                </a:solidFill>
              </a:rPr>
              <a:t>Why mock API calls?</a:t>
            </a:r>
            <a:r>
              <a:rPr lang="en-GB">
                <a:solidFill>
                  <a:schemeClr val="dk1"/>
                </a:solidFill>
              </a:rPr>
              <a:t> → To avoid network delays and external failures in tests.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Why mock database? → Mocking database interactions ensures tests run quickly and without requiring a real database setup.</a:t>
            </a:r>
            <a:endParaRPr>
              <a:solidFill>
                <a:schemeClr val="dk1"/>
              </a:solidFill>
            </a:endParaRPr>
          </a:p>
          <a:p>
            <a:pPr indent="0" lvl="0" marL="0" rtl="0" algn="l">
              <a:lnSpc>
                <a:spcPct val="115000"/>
              </a:lnSpc>
              <a:spcBef>
                <a:spcPts val="1200"/>
              </a:spcBef>
              <a:spcAft>
                <a:spcPts val="0"/>
              </a:spcAft>
              <a:buNone/>
            </a:pPr>
            <a:r>
              <a:rPr b="1" lang="en-GB" sz="1000">
                <a:solidFill>
                  <a:schemeClr val="dk1"/>
                </a:solidFill>
              </a:rPr>
              <a:t>External Services → </a:t>
            </a:r>
            <a:r>
              <a:rPr lang="en-GB">
                <a:solidFill>
                  <a:schemeClr val="dk1"/>
                </a:solidFill>
              </a:rPr>
              <a:t>(e.g., payment gateways, authentication providers), mocks can simulate these services.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This code example shows isolating api calls and creating a mock for data returned </a:t>
            </a:r>
            <a:endParaRPr>
              <a:solidFill>
                <a:schemeClr val="dk1"/>
              </a:solidFill>
            </a:endParaRPr>
          </a:p>
          <a:p>
            <a:pPr indent="0" lvl="0" marL="0" rtl="0" algn="l">
              <a:lnSpc>
                <a:spcPct val="115000"/>
              </a:lnSpc>
              <a:spcBef>
                <a:spcPts val="1200"/>
              </a:spcBef>
              <a:spcAft>
                <a:spcPts val="0"/>
              </a:spcAft>
              <a:buNone/>
            </a:pPr>
            <a:r>
              <a:rPr lang="en-GB" sz="1150">
                <a:solidFill>
                  <a:srgbClr val="0C0D0E"/>
                </a:solidFill>
                <a:highlight>
                  <a:srgbClr val="FFFFFF"/>
                </a:highlight>
              </a:rPr>
              <a:t>An object under test may have dependencies on other (complex) objects. This is why it is used in unit testing </a:t>
            </a:r>
            <a:endParaRPr sz="1150">
              <a:solidFill>
                <a:srgbClr val="0C0D0E"/>
              </a:solidFill>
              <a:highlight>
                <a:srgbClr val="FFFFFF"/>
              </a:highlight>
            </a:endParaRPr>
          </a:p>
          <a:p>
            <a:pPr indent="0" lvl="0" marL="0" rtl="0" algn="l">
              <a:lnSpc>
                <a:spcPct val="115000"/>
              </a:lnSpc>
              <a:spcBef>
                <a:spcPts val="1200"/>
              </a:spcBef>
              <a:spcAft>
                <a:spcPts val="0"/>
              </a:spcAft>
              <a:buNone/>
            </a:pPr>
            <a:r>
              <a:rPr lang="en-GB" sz="1150">
                <a:solidFill>
                  <a:srgbClr val="0C0D0E"/>
                </a:solidFill>
                <a:highlight>
                  <a:srgbClr val="FFFFFF"/>
                </a:highlight>
              </a:rPr>
              <a:t>In short, mocking is creating objects that simulate the behaviour of real objects.</a:t>
            </a:r>
            <a:endParaRPr sz="1150">
              <a:solidFill>
                <a:srgbClr val="0C0D0E"/>
              </a:solidFill>
              <a:highlight>
                <a:srgbClr val="FFFFFF"/>
              </a:highlight>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sz="1150">
              <a:solidFill>
                <a:srgbClr val="0C0D0E"/>
              </a:solidFill>
              <a:highlight>
                <a:srgbClr val="FFFFFF"/>
              </a:highligh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3b9335e82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3b9335e82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37f418516b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37f418516b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Here we changed the get_user behavior in the mock to return </a:t>
            </a:r>
            <a:r>
              <a:rPr lang="en-GB" sz="1700">
                <a:solidFill>
                  <a:srgbClr val="595959"/>
                </a:solidFill>
                <a:latin typeface="Courier New"/>
                <a:ea typeface="Courier New"/>
                <a:cs typeface="Courier New"/>
                <a:sym typeface="Courier New"/>
              </a:rPr>
              <a:t>{"id": 1, "name": "Ahmed"} instead of fetching from the db </a:t>
            </a:r>
            <a:br>
              <a:rPr lang="en-GB" sz="1700">
                <a:solidFill>
                  <a:srgbClr val="595959"/>
                </a:solidFill>
                <a:latin typeface="Courier New"/>
                <a:ea typeface="Courier New"/>
                <a:cs typeface="Courier New"/>
                <a:sym typeface="Courier New"/>
              </a:rPr>
            </a:br>
            <a:r>
              <a:rPr lang="en-GB" sz="1700">
                <a:solidFill>
                  <a:srgbClr val="595959"/>
                </a:solidFill>
                <a:latin typeface="Courier New"/>
                <a:ea typeface="Courier New"/>
                <a:cs typeface="Courier New"/>
                <a:sym typeface="Courier New"/>
              </a:rPr>
              <a:t>We use this to test another functionality → authenticate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3a74b767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3a74b767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a:solidFill>
                  <a:schemeClr val="dk1"/>
                </a:solidFill>
              </a:rPr>
              <a:t>Solution: </a:t>
            </a:r>
            <a:r>
              <a:rPr lang="en-GB">
                <a:solidFill>
                  <a:schemeClr val="dk1"/>
                </a:solidFill>
              </a:rPr>
              <a:t>Use Stripe Test Mode to Mock Payments</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Instead of making real payments, we </a:t>
            </a:r>
            <a:r>
              <a:rPr b="1" lang="en-GB">
                <a:solidFill>
                  <a:schemeClr val="dk1"/>
                </a:solidFill>
              </a:rPr>
              <a:t>mock</a:t>
            </a:r>
            <a:r>
              <a:rPr lang="en-GB">
                <a:solidFill>
                  <a:schemeClr val="dk1"/>
                </a:solidFill>
              </a:rPr>
              <a:t> Stripe’s behavior using test card numbers and simulated API responses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37f418516b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37f418516b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737100"/>
          </a:xfrm>
          <a:prstGeom prst="rect">
            <a:avLst/>
          </a:prstGeom>
        </p:spPr>
        <p:txBody>
          <a:bodyPr anchorCtr="0" anchor="t" bIns="91425" lIns="91425" spcFirstLastPara="1" rIns="91425" wrap="square" tIns="91425">
            <a:normAutofit/>
          </a:bodyPr>
          <a:lstStyle>
            <a:lvl1pPr lvl="0">
              <a:spcBef>
                <a:spcPts val="0"/>
              </a:spcBef>
              <a:spcAft>
                <a:spcPts val="0"/>
              </a:spcAft>
              <a:buSzPts val="2900"/>
              <a:buNone/>
              <a:defRPr sz="2900"/>
            </a:lvl1pPr>
            <a:lvl2pPr lvl="1">
              <a:spcBef>
                <a:spcPts val="0"/>
              </a:spcBef>
              <a:spcAft>
                <a:spcPts val="0"/>
              </a:spcAft>
              <a:buSzPts val="2900"/>
              <a:buFont typeface="Roboto Serif"/>
              <a:buNone/>
              <a:defRPr b="1" sz="2900">
                <a:latin typeface="Roboto Serif"/>
                <a:ea typeface="Roboto Serif"/>
                <a:cs typeface="Roboto Serif"/>
                <a:sym typeface="Roboto Serif"/>
              </a:defRPr>
            </a:lvl2pPr>
            <a:lvl3pPr lvl="2">
              <a:spcBef>
                <a:spcPts val="0"/>
              </a:spcBef>
              <a:spcAft>
                <a:spcPts val="0"/>
              </a:spcAft>
              <a:buSzPts val="2900"/>
              <a:buFont typeface="Roboto Serif"/>
              <a:buNone/>
              <a:defRPr b="1" sz="2900">
                <a:latin typeface="Roboto Serif"/>
                <a:ea typeface="Roboto Serif"/>
                <a:cs typeface="Roboto Serif"/>
                <a:sym typeface="Roboto Serif"/>
              </a:defRPr>
            </a:lvl3pPr>
            <a:lvl4pPr lvl="3">
              <a:spcBef>
                <a:spcPts val="0"/>
              </a:spcBef>
              <a:spcAft>
                <a:spcPts val="0"/>
              </a:spcAft>
              <a:buSzPts val="2900"/>
              <a:buFont typeface="Roboto Serif"/>
              <a:buNone/>
              <a:defRPr b="1" sz="2900">
                <a:latin typeface="Roboto Serif"/>
                <a:ea typeface="Roboto Serif"/>
                <a:cs typeface="Roboto Serif"/>
                <a:sym typeface="Roboto Serif"/>
              </a:defRPr>
            </a:lvl4pPr>
            <a:lvl5pPr lvl="4">
              <a:spcBef>
                <a:spcPts val="0"/>
              </a:spcBef>
              <a:spcAft>
                <a:spcPts val="0"/>
              </a:spcAft>
              <a:buSzPts val="2900"/>
              <a:buFont typeface="Roboto Serif"/>
              <a:buNone/>
              <a:defRPr b="1" sz="2900">
                <a:latin typeface="Roboto Serif"/>
                <a:ea typeface="Roboto Serif"/>
                <a:cs typeface="Roboto Serif"/>
                <a:sym typeface="Roboto Serif"/>
              </a:defRPr>
            </a:lvl5pPr>
            <a:lvl6pPr lvl="5">
              <a:spcBef>
                <a:spcPts val="0"/>
              </a:spcBef>
              <a:spcAft>
                <a:spcPts val="0"/>
              </a:spcAft>
              <a:buSzPts val="2900"/>
              <a:buFont typeface="Roboto Serif"/>
              <a:buNone/>
              <a:defRPr b="1" sz="2900">
                <a:latin typeface="Roboto Serif"/>
                <a:ea typeface="Roboto Serif"/>
                <a:cs typeface="Roboto Serif"/>
                <a:sym typeface="Roboto Serif"/>
              </a:defRPr>
            </a:lvl6pPr>
            <a:lvl7pPr lvl="6">
              <a:spcBef>
                <a:spcPts val="0"/>
              </a:spcBef>
              <a:spcAft>
                <a:spcPts val="0"/>
              </a:spcAft>
              <a:buSzPts val="2900"/>
              <a:buFont typeface="Roboto Serif"/>
              <a:buNone/>
              <a:defRPr b="1" sz="2900">
                <a:latin typeface="Roboto Serif"/>
                <a:ea typeface="Roboto Serif"/>
                <a:cs typeface="Roboto Serif"/>
                <a:sym typeface="Roboto Serif"/>
              </a:defRPr>
            </a:lvl7pPr>
            <a:lvl8pPr lvl="7">
              <a:spcBef>
                <a:spcPts val="0"/>
              </a:spcBef>
              <a:spcAft>
                <a:spcPts val="0"/>
              </a:spcAft>
              <a:buSzPts val="2900"/>
              <a:buFont typeface="Roboto Serif"/>
              <a:buNone/>
              <a:defRPr b="1" sz="2900">
                <a:latin typeface="Roboto Serif"/>
                <a:ea typeface="Roboto Serif"/>
                <a:cs typeface="Roboto Serif"/>
                <a:sym typeface="Roboto Serif"/>
              </a:defRPr>
            </a:lvl8pPr>
            <a:lvl9pPr lvl="8">
              <a:spcBef>
                <a:spcPts val="0"/>
              </a:spcBef>
              <a:spcAft>
                <a:spcPts val="0"/>
              </a:spcAft>
              <a:buSzPts val="2900"/>
              <a:buFont typeface="Roboto Serif"/>
              <a:buNone/>
              <a:defRPr b="1" sz="2900">
                <a:latin typeface="Roboto Serif"/>
                <a:ea typeface="Roboto Serif"/>
                <a:cs typeface="Roboto Serif"/>
                <a:sym typeface="Roboto Serif"/>
              </a:defRPr>
            </a:lvl9pPr>
          </a:lstStyle>
          <a:p/>
        </p:txBody>
      </p:sp>
      <p:sp>
        <p:nvSpPr>
          <p:cNvPr id="63" name="Google Shape;63;p16"/>
          <p:cNvSpPr txBox="1"/>
          <p:nvPr>
            <p:ph idx="1" type="body"/>
          </p:nvPr>
        </p:nvSpPr>
        <p:spPr>
          <a:xfrm>
            <a:off x="311700" y="1276575"/>
            <a:ext cx="8520600" cy="3292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3353400" cy="32736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42900" lvl="1" marL="914400" algn="ctr">
              <a:spcBef>
                <a:spcPts val="0"/>
              </a:spcBef>
              <a:spcAft>
                <a:spcPts val="0"/>
              </a:spcAft>
              <a:buSzPts val="1800"/>
              <a:buChar char="○"/>
              <a:defRPr/>
            </a:lvl2pPr>
            <a:lvl3pPr indent="-342900" lvl="2" marL="1371600" algn="ctr">
              <a:spcBef>
                <a:spcPts val="0"/>
              </a:spcBef>
              <a:spcAft>
                <a:spcPts val="0"/>
              </a:spcAft>
              <a:buSzPts val="1800"/>
              <a:buChar char="■"/>
              <a:defRPr/>
            </a:lvl3pPr>
            <a:lvl4pPr indent="-342900" lvl="3" marL="1828800" algn="ctr">
              <a:spcBef>
                <a:spcPts val="0"/>
              </a:spcBef>
              <a:spcAft>
                <a:spcPts val="0"/>
              </a:spcAft>
              <a:buSzPts val="1800"/>
              <a:buChar char="●"/>
              <a:defRPr/>
            </a:lvl4pPr>
            <a:lvl5pPr indent="-342900" lvl="4" marL="2286000" algn="ctr">
              <a:spcBef>
                <a:spcPts val="0"/>
              </a:spcBef>
              <a:spcAft>
                <a:spcPts val="0"/>
              </a:spcAft>
              <a:buSzPts val="1800"/>
              <a:buChar char="○"/>
              <a:defRPr/>
            </a:lvl5pPr>
            <a:lvl6pPr indent="-342900" lvl="5" marL="2743200" algn="ctr">
              <a:spcBef>
                <a:spcPts val="0"/>
              </a:spcBef>
              <a:spcAft>
                <a:spcPts val="0"/>
              </a:spcAft>
              <a:buSzPts val="1800"/>
              <a:buChar char="■"/>
              <a:defRPr/>
            </a:lvl6pPr>
            <a:lvl7pPr indent="-342900" lvl="6" marL="3200400" algn="ctr">
              <a:spcBef>
                <a:spcPts val="0"/>
              </a:spcBef>
              <a:spcAft>
                <a:spcPts val="0"/>
              </a:spcAft>
              <a:buSzPts val="1800"/>
              <a:buChar char="●"/>
              <a:defRPr/>
            </a:lvl7pPr>
            <a:lvl8pPr indent="-342900" lvl="7" marL="3657600" algn="ctr">
              <a:spcBef>
                <a:spcPts val="0"/>
              </a:spcBef>
              <a:spcAft>
                <a:spcPts val="0"/>
              </a:spcAft>
              <a:buSzPts val="1800"/>
              <a:buChar char="○"/>
              <a:defRPr/>
            </a:lvl8pPr>
            <a:lvl9pPr indent="-342900" lvl="8" marL="4114800" algn="ctr">
              <a:spcBef>
                <a:spcPts val="0"/>
              </a:spcBef>
              <a:spcAft>
                <a:spcPts val="0"/>
              </a:spcAft>
              <a:buSzPts val="18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Serif"/>
              <a:buNone/>
              <a:defRPr b="1" sz="2800">
                <a:solidFill>
                  <a:schemeClr val="dk1"/>
                </a:solidFill>
                <a:latin typeface="Roboto Serif"/>
                <a:ea typeface="Roboto Serif"/>
                <a:cs typeface="Roboto Serif"/>
                <a:sym typeface="Roboto Serif"/>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1pPr>
            <a:lvl2pPr indent="-342900" lvl="1" marL="9144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2pPr>
            <a:lvl3pPr indent="-342900" lvl="2" marL="13716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3pPr>
            <a:lvl4pPr indent="-342900" lvl="3" marL="18288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4pPr>
            <a:lvl5pPr indent="-342900" lvl="4" marL="22860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5pPr>
            <a:lvl6pPr indent="-342900" lvl="5" marL="27432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6pPr>
            <a:lvl7pPr indent="-342900" lvl="6" marL="32004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7pPr>
            <a:lvl8pPr indent="-342900" lvl="7" marL="36576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8pPr>
            <a:lvl9pPr indent="-342900" lvl="8" marL="41148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Testing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6"/>
          <p:cNvSpPr txBox="1"/>
          <p:nvPr>
            <p:ph type="title"/>
          </p:nvPr>
        </p:nvSpPr>
        <p:spPr>
          <a:xfrm>
            <a:off x="311700" y="445025"/>
            <a:ext cx="8520600" cy="73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Roboto Serif Medium"/>
                <a:ea typeface="Roboto Serif Medium"/>
                <a:cs typeface="Roboto Serif Medium"/>
                <a:sym typeface="Roboto Serif Medium"/>
              </a:rPr>
              <a:t>Agenda</a:t>
            </a:r>
            <a:endParaRPr>
              <a:latin typeface="Roboto Serif Medium"/>
              <a:ea typeface="Roboto Serif Medium"/>
              <a:cs typeface="Roboto Serif Medium"/>
              <a:sym typeface="Roboto Serif Medium"/>
            </a:endParaRPr>
          </a:p>
        </p:txBody>
      </p:sp>
      <p:sp>
        <p:nvSpPr>
          <p:cNvPr id="105" name="Google Shape;105;p26"/>
          <p:cNvSpPr txBox="1"/>
          <p:nvPr>
            <p:ph idx="1" type="body"/>
          </p:nvPr>
        </p:nvSpPr>
        <p:spPr>
          <a:xfrm>
            <a:off x="311700" y="1276575"/>
            <a:ext cx="8520600" cy="3292200"/>
          </a:xfrm>
          <a:prstGeom prst="rect">
            <a:avLst/>
          </a:prstGeom>
        </p:spPr>
        <p:txBody>
          <a:bodyPr anchorCtr="0" anchor="t" bIns="91425" lIns="91425" spcFirstLastPara="1" rIns="91425" wrap="square" tIns="91425">
            <a:normAutofit/>
          </a:bodyPr>
          <a:lstStyle/>
          <a:p>
            <a:pPr indent="-342900" lvl="0" marL="457200" rtl="0" algn="l">
              <a:spcBef>
                <a:spcPts val="1800"/>
              </a:spcBef>
              <a:spcAft>
                <a:spcPts val="0"/>
              </a:spcAft>
              <a:buSzPts val="1800"/>
              <a:buChar char="●"/>
            </a:pPr>
            <a:r>
              <a:rPr b="1" lang="en-GB">
                <a:solidFill>
                  <a:schemeClr val="dk1"/>
                </a:solidFill>
                <a:latin typeface="Roboto Serif SemiBold"/>
                <a:ea typeface="Roboto Serif SemiBold"/>
                <a:cs typeface="Roboto Serif SemiBold"/>
                <a:sym typeface="Roboto Serif SemiBold"/>
              </a:rPr>
              <a:t>What is Testing?</a:t>
            </a:r>
            <a:endParaRPr b="1">
              <a:solidFill>
                <a:schemeClr val="dk1"/>
              </a:solidFill>
              <a:latin typeface="Roboto Serif SemiBold"/>
              <a:ea typeface="Roboto Serif SemiBold"/>
              <a:cs typeface="Roboto Serif SemiBold"/>
              <a:sym typeface="Roboto Serif SemiBold"/>
            </a:endParaRPr>
          </a:p>
          <a:p>
            <a:pPr indent="-349250" lvl="0" marL="457200" rtl="0" algn="l">
              <a:spcBef>
                <a:spcPts val="0"/>
              </a:spcBef>
              <a:spcAft>
                <a:spcPts val="0"/>
              </a:spcAft>
              <a:buSzPts val="1900"/>
              <a:buChar char="●"/>
            </a:pPr>
            <a:r>
              <a:rPr b="1" lang="en-GB">
                <a:solidFill>
                  <a:schemeClr val="dk1"/>
                </a:solidFill>
                <a:latin typeface="Arial"/>
                <a:ea typeface="Arial"/>
                <a:cs typeface="Arial"/>
                <a:sym typeface="Arial"/>
              </a:rPr>
              <a:t>Software Testing Concepts</a:t>
            </a:r>
            <a:endParaRPr b="1">
              <a:solidFill>
                <a:schemeClr val="dk1"/>
              </a:solidFill>
              <a:latin typeface="Arial"/>
              <a:ea typeface="Arial"/>
              <a:cs typeface="Arial"/>
              <a:sym typeface="Arial"/>
            </a:endParaRPr>
          </a:p>
          <a:p>
            <a:pPr indent="-330200" lvl="1" marL="914400" rtl="0" algn="l">
              <a:spcBef>
                <a:spcPts val="0"/>
              </a:spcBef>
              <a:spcAft>
                <a:spcPts val="0"/>
              </a:spcAft>
              <a:buSzPts val="1600"/>
              <a:buChar char="○"/>
            </a:pPr>
            <a:r>
              <a:rPr b="1" lang="en-GB" sz="1600">
                <a:solidFill>
                  <a:schemeClr val="dk1"/>
                </a:solidFill>
              </a:rPr>
              <a:t>White Box Testing Techniques</a:t>
            </a:r>
            <a:endParaRPr b="1" sz="1600">
              <a:solidFill>
                <a:schemeClr val="dk1"/>
              </a:solidFill>
            </a:endParaRPr>
          </a:p>
          <a:p>
            <a:pPr indent="-330200" lvl="1" marL="914400" rtl="0" algn="l">
              <a:spcBef>
                <a:spcPts val="0"/>
              </a:spcBef>
              <a:spcAft>
                <a:spcPts val="0"/>
              </a:spcAft>
              <a:buSzPts val="1600"/>
              <a:buChar char="○"/>
            </a:pPr>
            <a:r>
              <a:rPr b="1" lang="en-GB" sz="1600">
                <a:solidFill>
                  <a:schemeClr val="dk1"/>
                </a:solidFill>
              </a:rPr>
              <a:t>Black Box Testing Techniques</a:t>
            </a:r>
            <a:endParaRPr b="1" sz="1600">
              <a:solidFill>
                <a:schemeClr val="dk1"/>
              </a:solidFill>
            </a:endParaRPr>
          </a:p>
          <a:p>
            <a:pPr indent="-330200" lvl="1" marL="914400" rtl="0" algn="l">
              <a:spcBef>
                <a:spcPts val="0"/>
              </a:spcBef>
              <a:spcAft>
                <a:spcPts val="0"/>
              </a:spcAft>
              <a:buClr>
                <a:schemeClr val="dk1"/>
              </a:buClr>
              <a:buSzPts val="1600"/>
              <a:buChar char="○"/>
            </a:pPr>
            <a:r>
              <a:rPr b="1" lang="en-GB" sz="1600">
                <a:solidFill>
                  <a:schemeClr val="dk1"/>
                </a:solidFill>
              </a:rPr>
              <a:t>White Box vs Black Box Testing</a:t>
            </a:r>
            <a:endParaRPr b="1" sz="1600">
              <a:solidFill>
                <a:schemeClr val="dk1"/>
              </a:solidFill>
            </a:endParaRPr>
          </a:p>
          <a:p>
            <a:pPr indent="-342900" lvl="0" marL="457200" rtl="0" algn="l">
              <a:lnSpc>
                <a:spcPct val="100000"/>
              </a:lnSpc>
              <a:spcBef>
                <a:spcPts val="0"/>
              </a:spcBef>
              <a:spcAft>
                <a:spcPts val="0"/>
              </a:spcAft>
              <a:buSzPts val="1800"/>
              <a:buChar char="●"/>
            </a:pPr>
            <a:r>
              <a:rPr b="1" lang="en-GB">
                <a:solidFill>
                  <a:schemeClr val="dk1"/>
                </a:solidFill>
              </a:rPr>
              <a:t>Unit Testing</a:t>
            </a:r>
            <a:endParaRPr b="1">
              <a:solidFill>
                <a:schemeClr val="dk1"/>
              </a:solidFill>
            </a:endParaRPr>
          </a:p>
          <a:p>
            <a:pPr indent="-342900" lvl="0" marL="457200" rtl="0" algn="l">
              <a:lnSpc>
                <a:spcPct val="100000"/>
              </a:lnSpc>
              <a:spcBef>
                <a:spcPts val="0"/>
              </a:spcBef>
              <a:spcAft>
                <a:spcPts val="0"/>
              </a:spcAft>
              <a:buSzPts val="1800"/>
              <a:buChar char="●"/>
            </a:pPr>
            <a:r>
              <a:rPr b="1" lang="en-GB">
                <a:solidFill>
                  <a:schemeClr val="dk1"/>
                </a:solidFill>
              </a:rPr>
              <a:t>End-to-End Testing</a:t>
            </a:r>
            <a:endParaRPr b="1">
              <a:solidFill>
                <a:schemeClr val="dk1"/>
              </a:solidFill>
            </a:endParaRPr>
          </a:p>
          <a:p>
            <a:pPr indent="-342900" lvl="0" marL="457200" rtl="0" algn="l">
              <a:spcBef>
                <a:spcPts val="0"/>
              </a:spcBef>
              <a:spcAft>
                <a:spcPts val="0"/>
              </a:spcAft>
              <a:buSzPts val="1800"/>
              <a:buChar char="●"/>
            </a:pPr>
            <a:r>
              <a:rPr b="1" lang="en-GB">
                <a:solidFill>
                  <a:schemeClr val="dk1"/>
                </a:solidFill>
              </a:rPr>
              <a:t>E2E vs Unit Testing</a:t>
            </a:r>
            <a:endParaRPr b="1">
              <a:solidFill>
                <a:schemeClr val="dk1"/>
              </a:solidFill>
            </a:endParaRPr>
          </a:p>
          <a:p>
            <a:pPr indent="-342900" lvl="0" marL="457200" rtl="0" algn="l">
              <a:lnSpc>
                <a:spcPct val="100000"/>
              </a:lnSpc>
              <a:spcBef>
                <a:spcPts val="0"/>
              </a:spcBef>
              <a:spcAft>
                <a:spcPts val="0"/>
              </a:spcAft>
              <a:buSzPts val="1800"/>
              <a:buChar char="●"/>
            </a:pPr>
            <a:r>
              <a:rPr b="1" lang="en-GB">
                <a:solidFill>
                  <a:schemeClr val="dk1"/>
                </a:solidFill>
              </a:rPr>
              <a:t>Mocking</a:t>
            </a:r>
            <a:endParaRPr b="1">
              <a:solidFill>
                <a:schemeClr val="dk1"/>
              </a:solidFill>
            </a:endParaRPr>
          </a:p>
          <a:p>
            <a:pPr indent="-342900" lvl="0" marL="457200" rtl="0" algn="l">
              <a:lnSpc>
                <a:spcPct val="100000"/>
              </a:lnSpc>
              <a:spcBef>
                <a:spcPts val="0"/>
              </a:spcBef>
              <a:spcAft>
                <a:spcPts val="0"/>
              </a:spcAft>
              <a:buSzPts val="1800"/>
              <a:buChar char="●"/>
            </a:pPr>
            <a:r>
              <a:rPr b="1" lang="en-GB">
                <a:solidFill>
                  <a:schemeClr val="dk1"/>
                </a:solidFill>
              </a:rPr>
              <a:t>Discussion and Lab time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7"/>
          <p:cNvSpPr txBox="1"/>
          <p:nvPr>
            <p:ph type="title"/>
          </p:nvPr>
        </p:nvSpPr>
        <p:spPr>
          <a:xfrm>
            <a:off x="311700" y="445025"/>
            <a:ext cx="8520600" cy="7371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None/>
            </a:pPr>
            <a:r>
              <a:rPr lang="en-GB" sz="2700">
                <a:latin typeface="Roboto Serif SemiBold"/>
                <a:ea typeface="Roboto Serif SemiBold"/>
                <a:cs typeface="Roboto Serif SemiBold"/>
                <a:sym typeface="Roboto Serif SemiBold"/>
              </a:rPr>
              <a:t>What is Testing?</a:t>
            </a:r>
            <a:endParaRPr sz="2700">
              <a:latin typeface="Roboto Serif SemiBold"/>
              <a:ea typeface="Roboto Serif SemiBold"/>
              <a:cs typeface="Roboto Serif SemiBold"/>
              <a:sym typeface="Roboto Serif SemiBold"/>
            </a:endParaRPr>
          </a:p>
        </p:txBody>
      </p:sp>
      <p:sp>
        <p:nvSpPr>
          <p:cNvPr id="111" name="Google Shape;111;p27"/>
          <p:cNvSpPr txBox="1"/>
          <p:nvPr>
            <p:ph idx="1" type="body"/>
          </p:nvPr>
        </p:nvSpPr>
        <p:spPr>
          <a:xfrm>
            <a:off x="311700" y="1276575"/>
            <a:ext cx="8520600" cy="3292200"/>
          </a:xfrm>
          <a:prstGeom prst="rect">
            <a:avLst/>
          </a:prstGeom>
        </p:spPr>
        <p:txBody>
          <a:bodyPr anchorCtr="0" anchor="t" bIns="91425" lIns="91425" spcFirstLastPara="1" rIns="91425" wrap="square" tIns="91425">
            <a:normAutofit/>
          </a:bodyPr>
          <a:lstStyle/>
          <a:p>
            <a:pPr indent="-298450" lvl="0" marL="457200" rtl="0" algn="l">
              <a:lnSpc>
                <a:spcPct val="150000"/>
              </a:lnSpc>
              <a:spcBef>
                <a:spcPts val="1200"/>
              </a:spcBef>
              <a:spcAft>
                <a:spcPts val="0"/>
              </a:spcAft>
              <a:buClr>
                <a:schemeClr val="dk1"/>
              </a:buClr>
              <a:buSzPts val="1100"/>
              <a:buFont typeface="Roboto Serif Light"/>
              <a:buChar char="●"/>
            </a:pPr>
            <a:r>
              <a:rPr lang="en-GB">
                <a:solidFill>
                  <a:schemeClr val="dk1"/>
                </a:solidFill>
                <a:latin typeface="Roboto Serif Light"/>
                <a:ea typeface="Roboto Serif Light"/>
                <a:cs typeface="Roboto Serif Light"/>
                <a:sym typeface="Roboto Serif Light"/>
              </a:rPr>
              <a:t>Process of evaluating software to detect differences between expected and actual results.</a:t>
            </a:r>
            <a:endParaRPr>
              <a:solidFill>
                <a:schemeClr val="dk1"/>
              </a:solidFill>
              <a:latin typeface="Roboto Serif Light"/>
              <a:ea typeface="Roboto Serif Light"/>
              <a:cs typeface="Roboto Serif Light"/>
              <a:sym typeface="Roboto Serif Light"/>
            </a:endParaRPr>
          </a:p>
          <a:p>
            <a:pPr indent="-298450" lvl="0" marL="457200" rtl="0" algn="l">
              <a:lnSpc>
                <a:spcPct val="150000"/>
              </a:lnSpc>
              <a:spcBef>
                <a:spcPts val="0"/>
              </a:spcBef>
              <a:spcAft>
                <a:spcPts val="0"/>
              </a:spcAft>
              <a:buClr>
                <a:schemeClr val="dk1"/>
              </a:buClr>
              <a:buSzPts val="1100"/>
              <a:buFont typeface="Roboto Serif Light"/>
              <a:buChar char="●"/>
            </a:pPr>
            <a:r>
              <a:rPr lang="en-GB">
                <a:solidFill>
                  <a:schemeClr val="dk1"/>
                </a:solidFill>
                <a:latin typeface="Roboto Serif Light"/>
                <a:ea typeface="Roboto Serif Light"/>
                <a:cs typeface="Roboto Serif Light"/>
                <a:sym typeface="Roboto Serif Light"/>
              </a:rPr>
              <a:t>Ensures software quality, reliability, and security.</a:t>
            </a:r>
            <a:endParaRPr>
              <a:solidFill>
                <a:schemeClr val="dk1"/>
              </a:solidFill>
              <a:latin typeface="Roboto Serif Light"/>
              <a:ea typeface="Roboto Serif Light"/>
              <a:cs typeface="Roboto Serif Light"/>
              <a:sym typeface="Roboto Serif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b="1" lang="en-GB" sz="3000"/>
              <a:t>White Box vs Black Box Testing</a:t>
            </a:r>
            <a:endParaRPr sz="3000"/>
          </a:p>
        </p:txBody>
      </p:sp>
      <p:sp>
        <p:nvSpPr>
          <p:cNvPr id="117" name="Google Shape;117;p2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GB" sz="1800">
                <a:solidFill>
                  <a:schemeClr val="dk1"/>
                </a:solidFill>
              </a:rPr>
              <a:t>White Box Testing </a:t>
            </a:r>
            <a:endParaRPr b="1" sz="1800">
              <a:solidFill>
                <a:schemeClr val="dk1"/>
              </a:solidFill>
            </a:endParaRPr>
          </a:p>
          <a:p>
            <a:pPr indent="0" lvl="0" marL="0" rtl="0" algn="l">
              <a:spcBef>
                <a:spcPts val="1200"/>
              </a:spcBef>
              <a:spcAft>
                <a:spcPts val="0"/>
              </a:spcAft>
              <a:buNone/>
            </a:pPr>
            <a:r>
              <a:rPr b="1" lang="en-GB" sz="1800">
                <a:solidFill>
                  <a:schemeClr val="dk1"/>
                </a:solidFill>
              </a:rPr>
              <a:t>(Code Focused):</a:t>
            </a:r>
            <a:r>
              <a:rPr lang="en-GB" sz="1800">
                <a:solidFill>
                  <a:schemeClr val="dk1"/>
                </a:solidFill>
              </a:rPr>
              <a:t> </a:t>
            </a:r>
            <a:endParaRPr sz="1800">
              <a:solidFill>
                <a:schemeClr val="dk1"/>
              </a:solidFill>
            </a:endParaRPr>
          </a:p>
          <a:p>
            <a:pPr indent="-336550" lvl="0" marL="457200" rtl="0" algn="l">
              <a:spcBef>
                <a:spcPts val="1200"/>
              </a:spcBef>
              <a:spcAft>
                <a:spcPts val="0"/>
              </a:spcAft>
              <a:buClr>
                <a:schemeClr val="dk1"/>
              </a:buClr>
              <a:buSzPts val="1700"/>
              <a:buChar char="●"/>
            </a:pPr>
            <a:r>
              <a:rPr lang="en-GB" sz="1700">
                <a:solidFill>
                  <a:schemeClr val="dk1"/>
                </a:solidFill>
              </a:rPr>
              <a:t>Testing with knowledge of the internal code.</a:t>
            </a:r>
            <a:endParaRPr sz="1700">
              <a:solidFill>
                <a:schemeClr val="dk1"/>
              </a:solidFill>
            </a:endParaRPr>
          </a:p>
          <a:p>
            <a:pPr indent="-336550" lvl="0" marL="457200" rtl="0" algn="l">
              <a:spcBef>
                <a:spcPts val="0"/>
              </a:spcBef>
              <a:spcAft>
                <a:spcPts val="0"/>
              </a:spcAft>
              <a:buClr>
                <a:schemeClr val="dk1"/>
              </a:buClr>
              <a:buSzPts val="1700"/>
              <a:buChar char="●"/>
            </a:pPr>
            <a:r>
              <a:rPr lang="en-GB" sz="1700">
                <a:solidFill>
                  <a:schemeClr val="dk1"/>
                </a:solidFill>
              </a:rPr>
              <a:t>Focuses on internal logic and code structure</a:t>
            </a:r>
            <a:endParaRPr sz="1800">
              <a:solidFill>
                <a:schemeClr val="dk1"/>
              </a:solidFill>
            </a:endParaRPr>
          </a:p>
          <a:p>
            <a:pPr indent="0" lvl="0" marL="914400" rtl="0" algn="l">
              <a:spcBef>
                <a:spcPts val="1200"/>
              </a:spcBef>
              <a:spcAft>
                <a:spcPts val="0"/>
              </a:spcAft>
              <a:buNone/>
            </a:pPr>
            <a:r>
              <a:t/>
            </a:r>
            <a:endParaRPr sz="1800">
              <a:solidFill>
                <a:schemeClr val="dk1"/>
              </a:solidFill>
            </a:endParaRPr>
          </a:p>
          <a:p>
            <a:pPr indent="-342900" lvl="0" marL="457200" rtl="0" algn="l">
              <a:spcBef>
                <a:spcPts val="1200"/>
              </a:spcBef>
              <a:spcAft>
                <a:spcPts val="0"/>
              </a:spcAft>
              <a:buClr>
                <a:schemeClr val="dk1"/>
              </a:buClr>
              <a:buSzPts val="1800"/>
              <a:buChar char="●"/>
            </a:pPr>
            <a:r>
              <a:rPr i="1" lang="en-GB" sz="1800">
                <a:solidFill>
                  <a:schemeClr val="dk1"/>
                </a:solidFill>
              </a:rPr>
              <a:t>Ex. Unit Testing</a:t>
            </a:r>
            <a:endParaRPr i="1" sz="1800">
              <a:solidFill>
                <a:schemeClr val="dk1"/>
              </a:solidFill>
            </a:endParaRPr>
          </a:p>
        </p:txBody>
      </p:sp>
      <p:sp>
        <p:nvSpPr>
          <p:cNvPr id="118" name="Google Shape;118;p2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b="1" lang="en-GB" sz="1800">
                <a:solidFill>
                  <a:schemeClr val="dk1"/>
                </a:solidFill>
              </a:rPr>
              <a:t>Black Box Testing</a:t>
            </a:r>
            <a:endParaRPr b="1" sz="1800">
              <a:solidFill>
                <a:schemeClr val="dk1"/>
              </a:solidFill>
            </a:endParaRPr>
          </a:p>
          <a:p>
            <a:pPr indent="0" lvl="0" marL="0" rtl="0" algn="l">
              <a:spcBef>
                <a:spcPts val="1200"/>
              </a:spcBef>
              <a:spcAft>
                <a:spcPts val="0"/>
              </a:spcAft>
              <a:buNone/>
            </a:pPr>
            <a:r>
              <a:rPr b="1" lang="en-GB" sz="1800">
                <a:solidFill>
                  <a:schemeClr val="dk1"/>
                </a:solidFill>
              </a:rPr>
              <a:t>(User Focused):</a:t>
            </a:r>
            <a:r>
              <a:rPr lang="en-GB" sz="1800">
                <a:solidFill>
                  <a:schemeClr val="dk1"/>
                </a:solidFill>
              </a:rPr>
              <a:t> </a:t>
            </a:r>
            <a:endParaRPr sz="1800">
              <a:solidFill>
                <a:schemeClr val="dk1"/>
              </a:solidFill>
            </a:endParaRPr>
          </a:p>
          <a:p>
            <a:pPr indent="-336550" lvl="0" marL="457200" rtl="0" algn="l">
              <a:spcBef>
                <a:spcPts val="1200"/>
              </a:spcBef>
              <a:spcAft>
                <a:spcPts val="0"/>
              </a:spcAft>
              <a:buClr>
                <a:schemeClr val="dk1"/>
              </a:buClr>
              <a:buSzPts val="1700"/>
              <a:buChar char="●"/>
            </a:pPr>
            <a:r>
              <a:rPr lang="en-GB" sz="1700">
                <a:solidFill>
                  <a:schemeClr val="dk1"/>
                </a:solidFill>
              </a:rPr>
              <a:t>Focuses on input and output without looking at internal code.</a:t>
            </a:r>
            <a:endParaRPr sz="1700">
              <a:solidFill>
                <a:schemeClr val="dk1"/>
              </a:solidFill>
            </a:endParaRPr>
          </a:p>
          <a:p>
            <a:pPr indent="-336550" lvl="0" marL="457200" rtl="0" algn="l">
              <a:spcBef>
                <a:spcPts val="0"/>
              </a:spcBef>
              <a:spcAft>
                <a:spcPts val="0"/>
              </a:spcAft>
              <a:buClr>
                <a:schemeClr val="dk1"/>
              </a:buClr>
              <a:buSzPts val="1700"/>
              <a:buChar char="●"/>
            </a:pPr>
            <a:r>
              <a:rPr lang="en-GB" sz="1700">
                <a:solidFill>
                  <a:schemeClr val="dk1"/>
                </a:solidFill>
              </a:rPr>
              <a:t>Based on specifications and user requirements.</a:t>
            </a:r>
            <a:endParaRPr sz="1700">
              <a:solidFill>
                <a:schemeClr val="dk1"/>
              </a:solidFill>
            </a:endParaRPr>
          </a:p>
          <a:p>
            <a:pPr indent="0" lvl="0" marL="914400" rtl="0" algn="l">
              <a:spcBef>
                <a:spcPts val="1200"/>
              </a:spcBef>
              <a:spcAft>
                <a:spcPts val="0"/>
              </a:spcAft>
              <a:buNone/>
            </a:pPr>
            <a:r>
              <a:t/>
            </a:r>
            <a:endParaRPr sz="1700">
              <a:solidFill>
                <a:schemeClr val="dk1"/>
              </a:solidFill>
            </a:endParaRPr>
          </a:p>
          <a:p>
            <a:pPr indent="-336550" lvl="0" marL="457200" rtl="0" algn="l">
              <a:spcBef>
                <a:spcPts val="1200"/>
              </a:spcBef>
              <a:spcAft>
                <a:spcPts val="0"/>
              </a:spcAft>
              <a:buClr>
                <a:schemeClr val="dk1"/>
              </a:buClr>
              <a:buSzPts val="1700"/>
              <a:buChar char="●"/>
            </a:pPr>
            <a:r>
              <a:rPr i="1" lang="en-GB" sz="1700">
                <a:solidFill>
                  <a:schemeClr val="dk1"/>
                </a:solidFill>
              </a:rPr>
              <a:t>Ex. End to End Testing</a:t>
            </a:r>
            <a:endParaRPr i="1" sz="17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9"/>
          <p:cNvPicPr preferRelativeResize="0"/>
          <p:nvPr/>
        </p:nvPicPr>
        <p:blipFill>
          <a:blip r:embed="rId3">
            <a:alphaModFix/>
          </a:blip>
          <a:stretch>
            <a:fillRect/>
          </a:stretch>
        </p:blipFill>
        <p:spPr>
          <a:xfrm>
            <a:off x="1219200" y="408125"/>
            <a:ext cx="6792845" cy="3820975"/>
          </a:xfrm>
          <a:prstGeom prst="rect">
            <a:avLst/>
          </a:prstGeom>
          <a:noFill/>
          <a:ln>
            <a:noFill/>
          </a:ln>
        </p:spPr>
      </p:pic>
      <p:sp>
        <p:nvSpPr>
          <p:cNvPr id="124" name="Google Shape;124;p29"/>
          <p:cNvSpPr txBox="1"/>
          <p:nvPr>
            <p:ph idx="1" type="body"/>
          </p:nvPr>
        </p:nvSpPr>
        <p:spPr>
          <a:xfrm>
            <a:off x="5854675" y="4229100"/>
            <a:ext cx="3145500" cy="605100"/>
          </a:xfrm>
          <a:prstGeom prst="rect">
            <a:avLst/>
          </a:prstGeom>
        </p:spPr>
        <p:txBody>
          <a:bodyPr anchorCtr="0" anchor="ctr" bIns="91425" lIns="91425" spcFirstLastPara="1" rIns="91425" wrap="square" tIns="91425">
            <a:normAutofit fontScale="62500" lnSpcReduction="20000"/>
          </a:bodyPr>
          <a:lstStyle/>
          <a:p>
            <a:pPr indent="0" lvl="0" marL="0" rtl="0" algn="r">
              <a:spcBef>
                <a:spcPts val="0"/>
              </a:spcBef>
              <a:spcAft>
                <a:spcPts val="0"/>
              </a:spcAft>
              <a:buNone/>
            </a:pPr>
            <a:r>
              <a:rPr lang="en-GB"/>
              <a:t>Image source: https://www.boardinfinity.com/blog/white-box-vs-black-box/</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b="1" lang="en-GB"/>
              <a:t>White Box Testing Techniques</a:t>
            </a:r>
            <a:endParaRPr/>
          </a:p>
        </p:txBody>
      </p:sp>
      <p:sp>
        <p:nvSpPr>
          <p:cNvPr id="130" name="Google Shape;130;p3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23850" lvl="0" marL="457200" rtl="0" algn="l">
              <a:lnSpc>
                <a:spcPct val="200000"/>
              </a:lnSpc>
              <a:spcBef>
                <a:spcPts val="1200"/>
              </a:spcBef>
              <a:spcAft>
                <a:spcPts val="0"/>
              </a:spcAft>
              <a:buClr>
                <a:schemeClr val="dk1"/>
              </a:buClr>
              <a:buSzPts val="1500"/>
              <a:buChar char="●"/>
            </a:pPr>
            <a:r>
              <a:rPr b="1" lang="en-GB" sz="1500">
                <a:solidFill>
                  <a:schemeClr val="dk1"/>
                </a:solidFill>
              </a:rPr>
              <a:t>Statement Coverage</a:t>
            </a:r>
            <a:r>
              <a:rPr lang="en-GB" sz="1500">
                <a:solidFill>
                  <a:schemeClr val="dk1"/>
                </a:solidFill>
              </a:rPr>
              <a:t>: Ensuring every line of code executes at least once</a:t>
            </a:r>
            <a:r>
              <a:rPr lang="en-GB" sz="1500">
                <a:solidFill>
                  <a:schemeClr val="dk1"/>
                </a:solidFill>
              </a:rPr>
              <a:t>.</a:t>
            </a:r>
            <a:endParaRPr sz="1500">
              <a:solidFill>
                <a:schemeClr val="dk1"/>
              </a:solidFill>
            </a:endParaRPr>
          </a:p>
          <a:p>
            <a:pPr indent="-323850" lvl="0" marL="457200" rtl="0" algn="l">
              <a:lnSpc>
                <a:spcPct val="200000"/>
              </a:lnSpc>
              <a:spcBef>
                <a:spcPts val="0"/>
              </a:spcBef>
              <a:spcAft>
                <a:spcPts val="0"/>
              </a:spcAft>
              <a:buClr>
                <a:schemeClr val="dk1"/>
              </a:buClr>
              <a:buSzPts val="1500"/>
              <a:buChar char="●"/>
            </a:pPr>
            <a:r>
              <a:rPr b="1" lang="en-GB" sz="1500">
                <a:solidFill>
                  <a:schemeClr val="dk1"/>
                </a:solidFill>
              </a:rPr>
              <a:t>Branch Coverage</a:t>
            </a:r>
            <a:r>
              <a:rPr lang="en-GB" sz="1500">
                <a:solidFill>
                  <a:schemeClr val="dk1"/>
                </a:solidFill>
              </a:rPr>
              <a:t>: Ensuring every decision point is tested. (if/else)</a:t>
            </a:r>
            <a:endParaRPr sz="1500">
              <a:solidFill>
                <a:schemeClr val="dk1"/>
              </a:solidFill>
            </a:endParaRPr>
          </a:p>
          <a:p>
            <a:pPr indent="-323850" lvl="0" marL="457200" rtl="0" algn="l">
              <a:lnSpc>
                <a:spcPct val="200000"/>
              </a:lnSpc>
              <a:spcBef>
                <a:spcPts val="0"/>
              </a:spcBef>
              <a:spcAft>
                <a:spcPts val="0"/>
              </a:spcAft>
              <a:buClr>
                <a:schemeClr val="dk1"/>
              </a:buClr>
              <a:buSzPts val="1500"/>
              <a:buChar char="●"/>
            </a:pPr>
            <a:r>
              <a:rPr b="1" lang="en-GB" sz="1500">
                <a:solidFill>
                  <a:schemeClr val="dk1"/>
                </a:solidFill>
              </a:rPr>
              <a:t>Path Coverage</a:t>
            </a:r>
            <a:r>
              <a:rPr lang="en-GB" sz="1500">
                <a:solidFill>
                  <a:schemeClr val="dk1"/>
                </a:solidFill>
              </a:rPr>
              <a:t>: Ensuring every possible execution path is tested.</a:t>
            </a:r>
            <a:endParaRPr sz="1500"/>
          </a:p>
        </p:txBody>
      </p:sp>
      <p:sp>
        <p:nvSpPr>
          <p:cNvPr id="131" name="Google Shape;131;p3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100"/>
              <a:buNone/>
            </a:pPr>
            <a:r>
              <a:rPr b="1" lang="en-GB">
                <a:solidFill>
                  <a:schemeClr val="dk1"/>
                </a:solidFill>
              </a:rPr>
              <a:t>Statement Coverage Example:</a:t>
            </a:r>
            <a:endParaRPr sz="1050"/>
          </a:p>
          <a:p>
            <a:pPr indent="0" lvl="0" marL="0" rtl="0" algn="l">
              <a:lnSpc>
                <a:spcPct val="95000"/>
              </a:lnSpc>
              <a:spcBef>
                <a:spcPts val="1200"/>
              </a:spcBef>
              <a:spcAft>
                <a:spcPts val="0"/>
              </a:spcAft>
              <a:buClr>
                <a:schemeClr val="dk1"/>
              </a:buClr>
              <a:buSzPts val="1100"/>
              <a:buFont typeface="Arial"/>
              <a:buNone/>
            </a:pPr>
            <a:r>
              <a:rPr lang="en-GB" sz="1350"/>
              <a:t>def add(a, b):</a:t>
            </a:r>
            <a:endParaRPr sz="1350"/>
          </a:p>
          <a:p>
            <a:pPr indent="0" lvl="0" marL="0" rtl="0" algn="l">
              <a:lnSpc>
                <a:spcPct val="95000"/>
              </a:lnSpc>
              <a:spcBef>
                <a:spcPts val="1200"/>
              </a:spcBef>
              <a:spcAft>
                <a:spcPts val="0"/>
              </a:spcAft>
              <a:buClr>
                <a:schemeClr val="dk1"/>
              </a:buClr>
              <a:buSzPts val="1100"/>
              <a:buFont typeface="Arial"/>
              <a:buNone/>
            </a:pPr>
            <a:r>
              <a:rPr lang="en-GB" sz="1350"/>
              <a:t>    if a &lt; 0 or b &lt; 0:</a:t>
            </a:r>
            <a:endParaRPr sz="1350"/>
          </a:p>
          <a:p>
            <a:pPr indent="0" lvl="0" marL="0" rtl="0" algn="l">
              <a:lnSpc>
                <a:spcPct val="95000"/>
              </a:lnSpc>
              <a:spcBef>
                <a:spcPts val="1200"/>
              </a:spcBef>
              <a:spcAft>
                <a:spcPts val="0"/>
              </a:spcAft>
              <a:buSzPts val="1100"/>
              <a:buNone/>
            </a:pPr>
            <a:r>
              <a:rPr lang="en-GB" sz="1350"/>
              <a:t>        return 0  </a:t>
            </a:r>
            <a:endParaRPr sz="1350"/>
          </a:p>
          <a:p>
            <a:pPr indent="0" lvl="0" marL="0" rtl="0" algn="l">
              <a:lnSpc>
                <a:spcPct val="95000"/>
              </a:lnSpc>
              <a:spcBef>
                <a:spcPts val="1200"/>
              </a:spcBef>
              <a:spcAft>
                <a:spcPts val="0"/>
              </a:spcAft>
              <a:buClr>
                <a:schemeClr val="dk1"/>
              </a:buClr>
              <a:buSzPts val="1100"/>
              <a:buFont typeface="Arial"/>
              <a:buNone/>
            </a:pPr>
            <a:r>
              <a:rPr lang="en-GB" sz="1350"/>
              <a:t>    return a + b</a:t>
            </a:r>
            <a:endParaRPr sz="1350"/>
          </a:p>
          <a:p>
            <a:pPr indent="0" lvl="0" marL="0" rtl="0" algn="l">
              <a:lnSpc>
                <a:spcPct val="95000"/>
              </a:lnSpc>
              <a:spcBef>
                <a:spcPts val="1200"/>
              </a:spcBef>
              <a:spcAft>
                <a:spcPts val="0"/>
              </a:spcAft>
              <a:buSzPts val="1100"/>
              <a:buNone/>
            </a:pPr>
            <a:r>
              <a:rPr lang="en-GB" sz="1350"/>
              <a:t>assert add(2, 3) == 5     </a:t>
            </a:r>
            <a:endParaRPr sz="1350"/>
          </a:p>
          <a:p>
            <a:pPr indent="0" lvl="0" marL="0" rtl="0" algn="l">
              <a:lnSpc>
                <a:spcPct val="95000"/>
              </a:lnSpc>
              <a:spcBef>
                <a:spcPts val="1200"/>
              </a:spcBef>
              <a:spcAft>
                <a:spcPts val="0"/>
              </a:spcAft>
              <a:buClr>
                <a:schemeClr val="dk1"/>
              </a:buClr>
              <a:buSzPts val="1100"/>
              <a:buFont typeface="Arial"/>
              <a:buNone/>
            </a:pPr>
            <a:r>
              <a:rPr lang="en-GB" sz="1350"/>
              <a:t>assert add(-1, 3) == 0    </a:t>
            </a:r>
            <a:endParaRPr sz="1350"/>
          </a:p>
          <a:p>
            <a:pPr indent="0" lvl="0" marL="0" rtl="0" algn="l">
              <a:lnSpc>
                <a:spcPct val="95000"/>
              </a:lnSpc>
              <a:spcBef>
                <a:spcPts val="1200"/>
              </a:spcBef>
              <a:spcAft>
                <a:spcPts val="0"/>
              </a:spcAft>
              <a:buClr>
                <a:schemeClr val="dk1"/>
              </a:buClr>
              <a:buSzPts val="1100"/>
              <a:buFont typeface="Arial"/>
              <a:buNone/>
            </a:pPr>
            <a:r>
              <a:rPr lang="en-GB" sz="1350"/>
              <a:t>assert add(-2, -3) == 0   </a:t>
            </a:r>
            <a:endParaRPr sz="1350"/>
          </a:p>
          <a:p>
            <a:pPr indent="0" lvl="0" marL="0" rtl="0" algn="l">
              <a:lnSpc>
                <a:spcPct val="95000"/>
              </a:lnSpc>
              <a:spcBef>
                <a:spcPts val="1200"/>
              </a:spcBef>
              <a:spcAft>
                <a:spcPts val="0"/>
              </a:spcAft>
              <a:buClr>
                <a:schemeClr val="dk1"/>
              </a:buClr>
              <a:buSzPts val="1100"/>
              <a:buFont typeface="Arial"/>
              <a:buNone/>
            </a:pPr>
            <a:r>
              <a:rPr lang="en-GB" sz="1350"/>
              <a:t>print("All tests passed!") </a:t>
            </a:r>
            <a:endParaRPr sz="1350"/>
          </a:p>
          <a:p>
            <a:pPr indent="0" lvl="0" marL="0" rtl="0" algn="l">
              <a:lnSpc>
                <a:spcPct val="95000"/>
              </a:lnSpc>
              <a:spcBef>
                <a:spcPts val="1200"/>
              </a:spcBef>
              <a:spcAft>
                <a:spcPts val="1200"/>
              </a:spcAft>
              <a:buSzPts val="275"/>
              <a:buNone/>
            </a:pPr>
            <a:r>
              <a:t/>
            </a:r>
            <a:endParaRPr sz="115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b="1" lang="en-GB"/>
              <a:t>Black Box Testing Techniques</a:t>
            </a:r>
            <a:endParaRPr/>
          </a:p>
        </p:txBody>
      </p:sp>
      <p:sp>
        <p:nvSpPr>
          <p:cNvPr id="137" name="Google Shape;137;p3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lnSpc>
                <a:spcPct val="200000"/>
              </a:lnSpc>
              <a:spcBef>
                <a:spcPts val="1200"/>
              </a:spcBef>
              <a:spcAft>
                <a:spcPts val="0"/>
              </a:spcAft>
              <a:buClr>
                <a:schemeClr val="dk1"/>
              </a:buClr>
              <a:buSzPts val="1400"/>
              <a:buChar char="●"/>
            </a:pPr>
            <a:r>
              <a:rPr b="1" lang="en-GB">
                <a:solidFill>
                  <a:schemeClr val="dk1"/>
                </a:solidFill>
              </a:rPr>
              <a:t>Equivalence Partitioning</a:t>
            </a:r>
            <a:r>
              <a:rPr lang="en-GB">
                <a:solidFill>
                  <a:schemeClr val="dk1"/>
                </a:solidFill>
              </a:rPr>
              <a:t>: Grouping inputs into valid and invalid sets.</a:t>
            </a:r>
            <a:endParaRPr>
              <a:solidFill>
                <a:schemeClr val="dk1"/>
              </a:solidFill>
            </a:endParaRPr>
          </a:p>
          <a:p>
            <a:pPr indent="-317500" lvl="0" marL="457200" rtl="0" algn="l">
              <a:lnSpc>
                <a:spcPct val="200000"/>
              </a:lnSpc>
              <a:spcBef>
                <a:spcPts val="0"/>
              </a:spcBef>
              <a:spcAft>
                <a:spcPts val="0"/>
              </a:spcAft>
              <a:buClr>
                <a:schemeClr val="dk1"/>
              </a:buClr>
              <a:buSzPts val="1400"/>
              <a:buChar char="●"/>
            </a:pPr>
            <a:r>
              <a:rPr b="1" lang="en-GB">
                <a:solidFill>
                  <a:schemeClr val="dk1"/>
                </a:solidFill>
              </a:rPr>
              <a:t>Boundary Value Analysis</a:t>
            </a:r>
            <a:r>
              <a:rPr lang="en-GB">
                <a:solidFill>
                  <a:schemeClr val="dk1"/>
                </a:solidFill>
              </a:rPr>
              <a:t>: Testing at the edges of input ranges.</a:t>
            </a:r>
            <a:endParaRPr>
              <a:solidFill>
                <a:schemeClr val="dk1"/>
              </a:solidFill>
            </a:endParaRPr>
          </a:p>
          <a:p>
            <a:pPr indent="-317500" lvl="0" marL="457200" rtl="0" algn="l">
              <a:lnSpc>
                <a:spcPct val="200000"/>
              </a:lnSpc>
              <a:spcBef>
                <a:spcPts val="0"/>
              </a:spcBef>
              <a:spcAft>
                <a:spcPts val="0"/>
              </a:spcAft>
              <a:buClr>
                <a:schemeClr val="dk1"/>
              </a:buClr>
              <a:buSzPts val="1400"/>
              <a:buChar char="●"/>
            </a:pPr>
            <a:r>
              <a:rPr b="1" lang="en-GB">
                <a:solidFill>
                  <a:schemeClr val="dk1"/>
                </a:solidFill>
              </a:rPr>
              <a:t>State Transition Testing</a:t>
            </a:r>
            <a:r>
              <a:rPr lang="en-GB">
                <a:solidFill>
                  <a:schemeClr val="dk1"/>
                </a:solidFill>
              </a:rPr>
              <a:t>: Checking valid state changes.</a:t>
            </a:r>
            <a:endParaRPr sz="1700"/>
          </a:p>
        </p:txBody>
      </p:sp>
      <p:sp>
        <p:nvSpPr>
          <p:cNvPr id="138" name="Google Shape;138;p31"/>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GB" sz="1532">
                <a:solidFill>
                  <a:schemeClr val="dk1"/>
                </a:solidFill>
              </a:rPr>
              <a:t>Boundary value analysis example:</a:t>
            </a:r>
            <a:endParaRPr sz="1532">
              <a:solidFill>
                <a:schemeClr val="dk1"/>
              </a:solidFill>
            </a:endParaRPr>
          </a:p>
          <a:p>
            <a:pPr indent="0" lvl="0" marL="0" rtl="0" algn="l">
              <a:lnSpc>
                <a:spcPct val="95000"/>
              </a:lnSpc>
              <a:spcBef>
                <a:spcPts val="1200"/>
              </a:spcBef>
              <a:spcAft>
                <a:spcPts val="0"/>
              </a:spcAft>
              <a:buSzPts val="935"/>
              <a:buNone/>
            </a:pPr>
            <a:r>
              <a:t/>
            </a:r>
            <a:endParaRPr b="1" sz="1632">
              <a:solidFill>
                <a:schemeClr val="dk1"/>
              </a:solidFill>
            </a:endParaRPr>
          </a:p>
          <a:p>
            <a:pPr indent="0" lvl="0" marL="0" rtl="0" algn="l">
              <a:lnSpc>
                <a:spcPct val="95000"/>
              </a:lnSpc>
              <a:spcBef>
                <a:spcPts val="1200"/>
              </a:spcBef>
              <a:spcAft>
                <a:spcPts val="0"/>
              </a:spcAft>
              <a:buSzPts val="935"/>
              <a:buNone/>
            </a:pPr>
            <a:r>
              <a:rPr lang="en-GB" sz="1390">
                <a:latin typeface="Courier New"/>
                <a:ea typeface="Courier New"/>
                <a:cs typeface="Courier New"/>
                <a:sym typeface="Courier New"/>
              </a:rPr>
              <a:t>def is_valid_age(age):</a:t>
            </a:r>
            <a:endParaRPr sz="1390">
              <a:latin typeface="Courier New"/>
              <a:ea typeface="Courier New"/>
              <a:cs typeface="Courier New"/>
              <a:sym typeface="Courier New"/>
            </a:endParaRPr>
          </a:p>
          <a:p>
            <a:pPr indent="0" lvl="0" marL="0" rtl="0" algn="l">
              <a:lnSpc>
                <a:spcPct val="95000"/>
              </a:lnSpc>
              <a:spcBef>
                <a:spcPts val="1200"/>
              </a:spcBef>
              <a:spcAft>
                <a:spcPts val="0"/>
              </a:spcAft>
              <a:buSzPts val="935"/>
              <a:buNone/>
            </a:pPr>
            <a:r>
              <a:rPr lang="en-GB" sz="1390">
                <a:latin typeface="Courier New"/>
                <a:ea typeface="Courier New"/>
                <a:cs typeface="Courier New"/>
                <a:sym typeface="Courier New"/>
              </a:rPr>
              <a:t>    return 18 &lt;= age &lt;= 60</a:t>
            </a:r>
            <a:endParaRPr sz="1390">
              <a:latin typeface="Courier New"/>
              <a:ea typeface="Courier New"/>
              <a:cs typeface="Courier New"/>
              <a:sym typeface="Courier New"/>
            </a:endParaRPr>
          </a:p>
          <a:p>
            <a:pPr indent="0" lvl="0" marL="0" rtl="0" algn="l">
              <a:lnSpc>
                <a:spcPct val="95000"/>
              </a:lnSpc>
              <a:spcBef>
                <a:spcPts val="1200"/>
              </a:spcBef>
              <a:spcAft>
                <a:spcPts val="0"/>
              </a:spcAft>
              <a:buSzPts val="935"/>
              <a:buNone/>
            </a:pPr>
            <a:r>
              <a:t/>
            </a:r>
            <a:endParaRPr sz="1390">
              <a:latin typeface="Courier New"/>
              <a:ea typeface="Courier New"/>
              <a:cs typeface="Courier New"/>
              <a:sym typeface="Courier New"/>
            </a:endParaRPr>
          </a:p>
          <a:p>
            <a:pPr indent="0" lvl="0" marL="0" rtl="0" algn="l">
              <a:lnSpc>
                <a:spcPct val="95000"/>
              </a:lnSpc>
              <a:spcBef>
                <a:spcPts val="1200"/>
              </a:spcBef>
              <a:spcAft>
                <a:spcPts val="1200"/>
              </a:spcAft>
              <a:buSzPts val="935"/>
              <a:buNone/>
            </a:pPr>
            <a:r>
              <a:rPr lang="en-GB" sz="1390">
                <a:latin typeface="Courier New"/>
                <a:ea typeface="Courier New"/>
                <a:cs typeface="Courier New"/>
                <a:sym typeface="Courier New"/>
              </a:rPr>
              <a:t>assert is_valid_age(18) == True  assert is_valid_age(60) == True  assert is_valid_age(17) == False  assert is_valid_age(61) == False  </a:t>
            </a:r>
            <a:endParaRPr sz="139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b="1" lang="en-GB"/>
              <a:t>White Box vs Black Box Testing</a:t>
            </a:r>
            <a:endParaRPr/>
          </a:p>
        </p:txBody>
      </p:sp>
      <p:sp>
        <p:nvSpPr>
          <p:cNvPr id="144" name="Google Shape;144;p3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600">
                <a:latin typeface="Courier New"/>
                <a:ea typeface="Courier New"/>
                <a:cs typeface="Courier New"/>
                <a:sym typeface="Courier New"/>
              </a:rPr>
              <a:t>def add(a, b):</a:t>
            </a:r>
            <a:endParaRPr sz="1600">
              <a:latin typeface="Courier New"/>
              <a:ea typeface="Courier New"/>
              <a:cs typeface="Courier New"/>
              <a:sym typeface="Courier New"/>
            </a:endParaRPr>
          </a:p>
          <a:p>
            <a:pPr indent="0" lvl="0" marL="0" rtl="0" algn="l">
              <a:spcBef>
                <a:spcPts val="1200"/>
              </a:spcBef>
              <a:spcAft>
                <a:spcPts val="0"/>
              </a:spcAft>
              <a:buNone/>
            </a:pPr>
            <a:r>
              <a:rPr lang="en-GB" sz="1600">
                <a:latin typeface="Courier New"/>
                <a:ea typeface="Courier New"/>
                <a:cs typeface="Courier New"/>
                <a:sym typeface="Courier New"/>
              </a:rPr>
              <a:t>    return a + b</a:t>
            </a:r>
            <a:endParaRPr sz="1600">
              <a:latin typeface="Courier New"/>
              <a:ea typeface="Courier New"/>
              <a:cs typeface="Courier New"/>
              <a:sym typeface="Courier New"/>
            </a:endParaRPr>
          </a:p>
          <a:p>
            <a:pPr indent="0" lvl="0" marL="0" rtl="0" algn="l">
              <a:spcBef>
                <a:spcPts val="1200"/>
              </a:spcBef>
              <a:spcAft>
                <a:spcPts val="0"/>
              </a:spcAft>
              <a:buNone/>
            </a:pPr>
            <a:r>
              <a:t/>
            </a:r>
            <a:endParaRPr sz="1600">
              <a:latin typeface="Courier New"/>
              <a:ea typeface="Courier New"/>
              <a:cs typeface="Courier New"/>
              <a:sym typeface="Courier New"/>
            </a:endParaRPr>
          </a:p>
          <a:p>
            <a:pPr indent="0" lvl="0" marL="0" rtl="0" algn="l">
              <a:spcBef>
                <a:spcPts val="1200"/>
              </a:spcBef>
              <a:spcAft>
                <a:spcPts val="1200"/>
              </a:spcAft>
              <a:buNone/>
            </a:pPr>
            <a:r>
              <a:rPr lang="en-GB" sz="1600">
                <a:latin typeface="Courier New"/>
                <a:ea typeface="Courier New"/>
                <a:cs typeface="Courier New"/>
                <a:sym typeface="Courier New"/>
              </a:rPr>
              <a:t>assert add(2, 3) == 5 </a:t>
            </a:r>
            <a:endParaRPr sz="1600">
              <a:latin typeface="Courier New"/>
              <a:ea typeface="Courier New"/>
              <a:cs typeface="Courier New"/>
              <a:sym typeface="Courier New"/>
            </a:endParaRPr>
          </a:p>
        </p:txBody>
      </p:sp>
      <p:sp>
        <p:nvSpPr>
          <p:cNvPr id="145" name="Google Shape;145;p3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600">
                <a:latin typeface="Courier New"/>
                <a:ea typeface="Courier New"/>
                <a:cs typeface="Courier New"/>
                <a:sym typeface="Courier New"/>
              </a:rPr>
              <a:t>def login(username, password):</a:t>
            </a:r>
            <a:endParaRPr sz="1600">
              <a:latin typeface="Courier New"/>
              <a:ea typeface="Courier New"/>
              <a:cs typeface="Courier New"/>
              <a:sym typeface="Courier New"/>
            </a:endParaRPr>
          </a:p>
          <a:p>
            <a:pPr indent="0" lvl="0" marL="0" rtl="0" algn="l">
              <a:spcBef>
                <a:spcPts val="1200"/>
              </a:spcBef>
              <a:spcAft>
                <a:spcPts val="0"/>
              </a:spcAft>
              <a:buNone/>
            </a:pPr>
            <a:r>
              <a:rPr lang="en-GB" sz="1600">
                <a:latin typeface="Courier New"/>
                <a:ea typeface="Courier New"/>
                <a:cs typeface="Courier New"/>
                <a:sym typeface="Courier New"/>
              </a:rPr>
              <a:t>   pass	</a:t>
            </a:r>
            <a:endParaRPr sz="1600">
              <a:latin typeface="Courier New"/>
              <a:ea typeface="Courier New"/>
              <a:cs typeface="Courier New"/>
              <a:sym typeface="Courier New"/>
            </a:endParaRPr>
          </a:p>
          <a:p>
            <a:pPr indent="0" lvl="0" marL="0" rtl="0" algn="l">
              <a:spcBef>
                <a:spcPts val="1200"/>
              </a:spcBef>
              <a:spcAft>
                <a:spcPts val="0"/>
              </a:spcAft>
              <a:buNone/>
            </a:pPr>
            <a:r>
              <a:rPr lang="en-GB" sz="1600">
                <a:latin typeface="Courier New"/>
                <a:ea typeface="Courier New"/>
                <a:cs typeface="Courier New"/>
                <a:sym typeface="Courier New"/>
              </a:rPr>
              <a:t>assert login("user", "correct_password") == "Login Successful"</a:t>
            </a:r>
            <a:endParaRPr sz="1600">
              <a:latin typeface="Courier New"/>
              <a:ea typeface="Courier New"/>
              <a:cs typeface="Courier New"/>
              <a:sym typeface="Courier New"/>
            </a:endParaRPr>
          </a:p>
          <a:p>
            <a:pPr indent="0" lvl="0" marL="0" rtl="0" algn="l">
              <a:spcBef>
                <a:spcPts val="1200"/>
              </a:spcBef>
              <a:spcAft>
                <a:spcPts val="1200"/>
              </a:spcAft>
              <a:buNone/>
            </a:pPr>
            <a:r>
              <a:t/>
            </a:r>
            <a:endParaRPr sz="16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3"/>
          <p:cNvSpPr txBox="1"/>
          <p:nvPr>
            <p:ph type="title"/>
          </p:nvPr>
        </p:nvSpPr>
        <p:spPr>
          <a:xfrm>
            <a:off x="311700" y="445025"/>
            <a:ext cx="8520600" cy="73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Unit Testing</a:t>
            </a:r>
            <a:endParaRPr/>
          </a:p>
        </p:txBody>
      </p:sp>
      <p:sp>
        <p:nvSpPr>
          <p:cNvPr id="151" name="Google Shape;151;p33"/>
          <p:cNvSpPr txBox="1"/>
          <p:nvPr>
            <p:ph idx="1" type="body"/>
          </p:nvPr>
        </p:nvSpPr>
        <p:spPr>
          <a:xfrm>
            <a:off x="311700" y="1276575"/>
            <a:ext cx="8520600" cy="32922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Char char="●"/>
            </a:pPr>
            <a:r>
              <a:rPr lang="en-GB">
                <a:solidFill>
                  <a:schemeClr val="dk1"/>
                </a:solidFill>
              </a:rPr>
              <a:t>Unit testing verifies </a:t>
            </a:r>
            <a:r>
              <a:rPr b="1" lang="en-GB">
                <a:solidFill>
                  <a:schemeClr val="dk1"/>
                </a:solidFill>
              </a:rPr>
              <a:t>individual functions</a:t>
            </a:r>
            <a:r>
              <a:rPr lang="en-GB">
                <a:solidFill>
                  <a:schemeClr val="dk1"/>
                </a:solidFill>
              </a:rPr>
              <a:t> or </a:t>
            </a:r>
            <a:r>
              <a:rPr b="1" lang="en-GB">
                <a:solidFill>
                  <a:schemeClr val="dk1"/>
                </a:solidFill>
              </a:rPr>
              <a:t>components</a:t>
            </a:r>
            <a:r>
              <a:rPr lang="en-GB">
                <a:solidFill>
                  <a:schemeClr val="dk1"/>
                </a:solidFill>
              </a:rPr>
              <a:t> in isolation to ensure they work as expected.</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GB">
                <a:solidFill>
                  <a:schemeClr val="dk1"/>
                </a:solidFill>
              </a:rPr>
              <a:t>Helps catch bugs early, improve code reliability, and make refactoring safer.</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GB">
                <a:solidFill>
                  <a:schemeClr val="dk1"/>
                </a:solidFill>
              </a:rPr>
              <a:t>Popular frameworks</a:t>
            </a:r>
            <a:endParaRPr>
              <a:solidFill>
                <a:schemeClr val="dk1"/>
              </a:solidFill>
            </a:endParaRPr>
          </a:p>
          <a:p>
            <a:pPr indent="-342900" lvl="1" marL="914400" rtl="0" algn="l">
              <a:lnSpc>
                <a:spcPct val="150000"/>
              </a:lnSpc>
              <a:spcBef>
                <a:spcPts val="0"/>
              </a:spcBef>
              <a:spcAft>
                <a:spcPts val="0"/>
              </a:spcAft>
              <a:buClr>
                <a:schemeClr val="dk1"/>
              </a:buClr>
              <a:buSzPts val="1800"/>
              <a:buChar char="○"/>
            </a:pPr>
            <a:r>
              <a:rPr lang="en-GB">
                <a:solidFill>
                  <a:schemeClr val="dk1"/>
                </a:solidFill>
              </a:rPr>
              <a:t>jest in js</a:t>
            </a:r>
            <a:endParaRPr>
              <a:solidFill>
                <a:schemeClr val="dk1"/>
              </a:solidFill>
            </a:endParaRPr>
          </a:p>
          <a:p>
            <a:pPr indent="-342900" lvl="1" marL="914400" rtl="0" algn="l">
              <a:lnSpc>
                <a:spcPct val="150000"/>
              </a:lnSpc>
              <a:spcBef>
                <a:spcPts val="0"/>
              </a:spcBef>
              <a:spcAft>
                <a:spcPts val="0"/>
              </a:spcAft>
              <a:buClr>
                <a:schemeClr val="dk1"/>
              </a:buClr>
              <a:buSzPts val="1800"/>
              <a:buChar char="○"/>
            </a:pPr>
            <a:r>
              <a:rPr lang="en-GB">
                <a:solidFill>
                  <a:schemeClr val="dk1"/>
                </a:solidFill>
              </a:rPr>
              <a:t>unittest python</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None/>
            </a:pPr>
            <a:r>
              <a:rPr lang="en-GB" sz="2500"/>
              <a:t>Unit Testing</a:t>
            </a:r>
            <a:endParaRPr sz="2500"/>
          </a:p>
        </p:txBody>
      </p:sp>
      <p:sp>
        <p:nvSpPr>
          <p:cNvPr id="157" name="Google Shape;15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900">
                <a:latin typeface="Courier New"/>
                <a:ea typeface="Courier New"/>
                <a:cs typeface="Courier New"/>
                <a:sym typeface="Courier New"/>
              </a:rPr>
              <a:t>import unittest</a:t>
            </a:r>
            <a:endParaRPr sz="1900">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900">
                <a:latin typeface="Courier New"/>
                <a:ea typeface="Courier New"/>
                <a:cs typeface="Courier New"/>
                <a:sym typeface="Courier New"/>
              </a:rPr>
              <a:t>def multiply(a, b):</a:t>
            </a:r>
            <a:endParaRPr sz="1900">
              <a:latin typeface="Courier New"/>
              <a:ea typeface="Courier New"/>
              <a:cs typeface="Courier New"/>
              <a:sym typeface="Courier New"/>
            </a:endParaRPr>
          </a:p>
          <a:p>
            <a:pPr indent="0" lvl="0" marL="0" rtl="0" algn="l">
              <a:spcBef>
                <a:spcPts val="1200"/>
              </a:spcBef>
              <a:spcAft>
                <a:spcPts val="0"/>
              </a:spcAft>
              <a:buNone/>
            </a:pPr>
            <a:r>
              <a:rPr lang="en-GB" sz="1900">
                <a:latin typeface="Courier New"/>
                <a:ea typeface="Courier New"/>
                <a:cs typeface="Courier New"/>
                <a:sym typeface="Courier New"/>
              </a:rPr>
              <a:t>    return a * b</a:t>
            </a:r>
            <a:endParaRPr sz="1900">
              <a:latin typeface="Courier New"/>
              <a:ea typeface="Courier New"/>
              <a:cs typeface="Courier New"/>
              <a:sym typeface="Courier New"/>
            </a:endParaRPr>
          </a:p>
          <a:p>
            <a:pPr indent="0" lvl="0" marL="0" rtl="0" algn="l">
              <a:spcBef>
                <a:spcPts val="1200"/>
              </a:spcBef>
              <a:spcAft>
                <a:spcPts val="1200"/>
              </a:spcAft>
              <a:buNone/>
            </a:pPr>
            <a:r>
              <a:t/>
            </a:r>
            <a:endParaRPr sz="1900">
              <a:latin typeface="Courier New"/>
              <a:ea typeface="Courier New"/>
              <a:cs typeface="Courier New"/>
              <a:sym typeface="Courier New"/>
            </a:endParaRPr>
          </a:p>
        </p:txBody>
      </p:sp>
      <p:sp>
        <p:nvSpPr>
          <p:cNvPr id="158" name="Google Shape;158;p34"/>
          <p:cNvSpPr txBox="1"/>
          <p:nvPr>
            <p:ph idx="2" type="body"/>
          </p:nvPr>
        </p:nvSpPr>
        <p:spPr>
          <a:xfrm>
            <a:off x="4380075" y="1017725"/>
            <a:ext cx="4452300" cy="355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688"/>
              <a:buNone/>
            </a:pPr>
            <a:r>
              <a:rPr lang="en-GB">
                <a:latin typeface="Courier New"/>
                <a:ea typeface="Courier New"/>
                <a:cs typeface="Courier New"/>
                <a:sym typeface="Courier New"/>
              </a:rPr>
              <a:t>class TestMathOperations(</a:t>
            </a:r>
            <a:endParaRPr>
              <a:latin typeface="Courier New"/>
              <a:ea typeface="Courier New"/>
              <a:cs typeface="Courier New"/>
              <a:sym typeface="Courier New"/>
            </a:endParaRPr>
          </a:p>
          <a:p>
            <a:pPr indent="0" lvl="0" marL="0" rtl="0" algn="l">
              <a:spcBef>
                <a:spcPts val="1200"/>
              </a:spcBef>
              <a:spcAft>
                <a:spcPts val="0"/>
              </a:spcAft>
              <a:buClr>
                <a:schemeClr val="dk1"/>
              </a:buClr>
              <a:buSzPts val="688"/>
              <a:buFont typeface="Arial"/>
              <a:buNone/>
            </a:pPr>
            <a:r>
              <a:rPr lang="en-GB">
                <a:latin typeface="Courier New"/>
                <a:ea typeface="Courier New"/>
                <a:cs typeface="Courier New"/>
                <a:sym typeface="Courier New"/>
              </a:rPr>
              <a:t>unittest.TestCase):</a:t>
            </a:r>
            <a:endParaRPr>
              <a:latin typeface="Courier New"/>
              <a:ea typeface="Courier New"/>
              <a:cs typeface="Courier New"/>
              <a:sym typeface="Courier New"/>
            </a:endParaRPr>
          </a:p>
          <a:p>
            <a:pPr indent="0" lvl="0" marL="0" rtl="0" algn="l">
              <a:spcBef>
                <a:spcPts val="1200"/>
              </a:spcBef>
              <a:spcAft>
                <a:spcPts val="0"/>
              </a:spcAft>
              <a:buClr>
                <a:schemeClr val="dk1"/>
              </a:buClr>
              <a:buSzPts val="688"/>
              <a:buFont typeface="Arial"/>
              <a:buNone/>
            </a:pPr>
            <a:r>
              <a:rPr lang="en-GB">
                <a:latin typeface="Courier New"/>
                <a:ea typeface="Courier New"/>
                <a:cs typeface="Courier New"/>
                <a:sym typeface="Courier New"/>
              </a:rPr>
              <a:t>  def test_multiply(self):</a:t>
            </a:r>
            <a:endParaRPr>
              <a:latin typeface="Courier New"/>
              <a:ea typeface="Courier New"/>
              <a:cs typeface="Courier New"/>
              <a:sym typeface="Courier New"/>
            </a:endParaRPr>
          </a:p>
          <a:p>
            <a:pPr indent="0" lvl="0" marL="0" rtl="0" algn="l">
              <a:spcBef>
                <a:spcPts val="1200"/>
              </a:spcBef>
              <a:spcAft>
                <a:spcPts val="0"/>
              </a:spcAft>
              <a:buSzPts val="688"/>
              <a:buNone/>
            </a:pPr>
            <a:r>
              <a:rPr lang="en-GB">
                <a:latin typeface="Courier New"/>
                <a:ea typeface="Courier New"/>
                <a:cs typeface="Courier New"/>
                <a:sym typeface="Courier New"/>
              </a:rPr>
              <a:t>   assert multiply(2, 3) == 6</a:t>
            </a:r>
            <a:endParaRPr>
              <a:latin typeface="Courier New"/>
              <a:ea typeface="Courier New"/>
              <a:cs typeface="Courier New"/>
              <a:sym typeface="Courier New"/>
            </a:endParaRPr>
          </a:p>
          <a:p>
            <a:pPr indent="0" lvl="0" marL="0" rtl="0" algn="l">
              <a:lnSpc>
                <a:spcPct val="138000"/>
              </a:lnSpc>
              <a:spcBef>
                <a:spcPts val="1200"/>
              </a:spcBef>
              <a:spcAft>
                <a:spcPts val="0"/>
              </a:spcAft>
              <a:buSzPts val="1100"/>
              <a:buNone/>
            </a:pPr>
            <a:r>
              <a:rPr lang="en-GB">
                <a:latin typeface="Courier New"/>
                <a:ea typeface="Courier New"/>
                <a:cs typeface="Courier New"/>
                <a:sym typeface="Courier New"/>
              </a:rPr>
              <a:t>  assert multiply(1, 5)== -5</a:t>
            </a:r>
            <a:endParaRPr>
              <a:latin typeface="Courier New"/>
              <a:ea typeface="Courier New"/>
              <a:cs typeface="Courier New"/>
              <a:sym typeface="Courier New"/>
            </a:endParaRPr>
          </a:p>
          <a:p>
            <a:pPr indent="0" lvl="0" marL="0" rtl="0" algn="l">
              <a:spcBef>
                <a:spcPts val="1200"/>
              </a:spcBef>
              <a:spcAft>
                <a:spcPts val="0"/>
              </a:spcAft>
              <a:buClr>
                <a:schemeClr val="dk1"/>
              </a:buClr>
              <a:buSzPts val="688"/>
              <a:buFont typeface="Arial"/>
              <a:buNone/>
            </a:pPr>
            <a:r>
              <a:rPr lang="en-GB">
                <a:latin typeface="Courier New"/>
                <a:ea typeface="Courier New"/>
                <a:cs typeface="Courier New"/>
                <a:sym typeface="Courier New"/>
              </a:rPr>
              <a:t>if __name__ == '__main__':</a:t>
            </a:r>
            <a:endParaRPr>
              <a:latin typeface="Courier New"/>
              <a:ea typeface="Courier New"/>
              <a:cs typeface="Courier New"/>
              <a:sym typeface="Courier New"/>
            </a:endParaRPr>
          </a:p>
          <a:p>
            <a:pPr indent="0" lvl="0" marL="0" rtl="0" algn="l">
              <a:spcBef>
                <a:spcPts val="1200"/>
              </a:spcBef>
              <a:spcAft>
                <a:spcPts val="1200"/>
              </a:spcAft>
              <a:buSzPts val="688"/>
              <a:buNone/>
            </a:pPr>
            <a:r>
              <a:rPr lang="en-GB">
                <a:latin typeface="Courier New"/>
                <a:ea typeface="Courier New"/>
                <a:cs typeface="Courier New"/>
                <a:sym typeface="Courier New"/>
              </a:rPr>
              <a:t>   unittest.main()</a:t>
            </a:r>
            <a:endParaRPr>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5"/>
          <p:cNvSpPr txBox="1"/>
          <p:nvPr>
            <p:ph type="title"/>
          </p:nvPr>
        </p:nvSpPr>
        <p:spPr>
          <a:xfrm>
            <a:off x="311700" y="445025"/>
            <a:ext cx="8520600" cy="73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E2E Testing</a:t>
            </a:r>
            <a:endParaRPr/>
          </a:p>
        </p:txBody>
      </p:sp>
      <p:sp>
        <p:nvSpPr>
          <p:cNvPr id="164" name="Google Shape;164;p35"/>
          <p:cNvSpPr txBox="1"/>
          <p:nvPr>
            <p:ph idx="1" type="body"/>
          </p:nvPr>
        </p:nvSpPr>
        <p:spPr>
          <a:xfrm>
            <a:off x="311700" y="1276575"/>
            <a:ext cx="8520600" cy="3292200"/>
          </a:xfrm>
          <a:prstGeom prst="rect">
            <a:avLst/>
          </a:prstGeom>
        </p:spPr>
        <p:txBody>
          <a:bodyPr anchorCtr="0" anchor="t" bIns="91425" lIns="91425" spcFirstLastPara="1" rIns="91425" wrap="square" tIns="91425">
            <a:normAutofit/>
          </a:bodyPr>
          <a:lstStyle/>
          <a:p>
            <a:pPr indent="-349250" lvl="0" marL="457200" rtl="0" algn="l">
              <a:lnSpc>
                <a:spcPct val="150000"/>
              </a:lnSpc>
              <a:spcBef>
                <a:spcPts val="1200"/>
              </a:spcBef>
              <a:spcAft>
                <a:spcPts val="0"/>
              </a:spcAft>
              <a:buClr>
                <a:schemeClr val="dk1"/>
              </a:buClr>
              <a:buSzPts val="1900"/>
              <a:buChar char="●"/>
            </a:pPr>
            <a:r>
              <a:rPr lang="en-GB" sz="1900">
                <a:solidFill>
                  <a:schemeClr val="dk1"/>
                </a:solidFill>
              </a:rPr>
              <a:t>E2E testing simulates </a:t>
            </a:r>
            <a:r>
              <a:rPr b="1" i="1" lang="en-GB" sz="1900">
                <a:solidFill>
                  <a:schemeClr val="dk1"/>
                </a:solidFill>
              </a:rPr>
              <a:t>real user interactions</a:t>
            </a:r>
            <a:r>
              <a:rPr lang="en-GB" sz="1900">
                <a:solidFill>
                  <a:schemeClr val="dk1"/>
                </a:solidFill>
              </a:rPr>
              <a:t> by testing the entire application flow from start to finish.</a:t>
            </a:r>
            <a:endParaRPr sz="1900">
              <a:solidFill>
                <a:schemeClr val="dk1"/>
              </a:solidFill>
            </a:endParaRPr>
          </a:p>
          <a:p>
            <a:pPr indent="-349250" lvl="0" marL="457200" rtl="0" algn="l">
              <a:lnSpc>
                <a:spcPct val="150000"/>
              </a:lnSpc>
              <a:spcBef>
                <a:spcPts val="0"/>
              </a:spcBef>
              <a:spcAft>
                <a:spcPts val="0"/>
              </a:spcAft>
              <a:buClr>
                <a:schemeClr val="dk1"/>
              </a:buClr>
              <a:buSzPts val="1900"/>
              <a:buChar char="●"/>
            </a:pPr>
            <a:r>
              <a:rPr lang="en-GB" sz="1900">
                <a:solidFill>
                  <a:schemeClr val="dk1"/>
                </a:solidFill>
              </a:rPr>
              <a:t>Ensures all components work together correctly, </a:t>
            </a:r>
            <a:r>
              <a:rPr b="1" i="1" lang="en-GB" sz="1900">
                <a:solidFill>
                  <a:schemeClr val="dk1"/>
                </a:solidFill>
              </a:rPr>
              <a:t>detecting integration issues</a:t>
            </a:r>
            <a:r>
              <a:rPr lang="en-GB" sz="1900">
                <a:solidFill>
                  <a:schemeClr val="dk1"/>
                </a:solidFill>
              </a:rPr>
              <a:t> and verifying system reliability.</a:t>
            </a:r>
            <a:endParaRPr sz="19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6"/>
          <p:cNvSpPr txBox="1"/>
          <p:nvPr>
            <p:ph type="title"/>
          </p:nvPr>
        </p:nvSpPr>
        <p:spPr>
          <a:xfrm>
            <a:off x="311700" y="445025"/>
            <a:ext cx="8520600" cy="73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3000"/>
              <a:t>End-to-End</a:t>
            </a:r>
            <a:r>
              <a:rPr lang="en-GB"/>
              <a:t> Testing [Example]</a:t>
            </a:r>
            <a:endParaRPr/>
          </a:p>
        </p:txBody>
      </p:sp>
      <p:sp>
        <p:nvSpPr>
          <p:cNvPr id="170" name="Google Shape;170;p36"/>
          <p:cNvSpPr txBox="1"/>
          <p:nvPr>
            <p:ph idx="1" type="body"/>
          </p:nvPr>
        </p:nvSpPr>
        <p:spPr>
          <a:xfrm>
            <a:off x="311700" y="1276575"/>
            <a:ext cx="8520600" cy="32922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n-GB" sz="1590">
                <a:latin typeface="Courier New"/>
                <a:ea typeface="Courier New"/>
                <a:cs typeface="Courier New"/>
                <a:sym typeface="Courier New"/>
              </a:rPr>
              <a:t>from selenium import webdriver</a:t>
            </a:r>
            <a:endParaRPr sz="1590">
              <a:latin typeface="Courier New"/>
              <a:ea typeface="Courier New"/>
              <a:cs typeface="Courier New"/>
              <a:sym typeface="Courier New"/>
            </a:endParaRPr>
          </a:p>
          <a:p>
            <a:pPr indent="0" lvl="0" marL="0" rtl="0" algn="l">
              <a:lnSpc>
                <a:spcPct val="105000"/>
              </a:lnSpc>
              <a:spcBef>
                <a:spcPts val="1200"/>
              </a:spcBef>
              <a:spcAft>
                <a:spcPts val="0"/>
              </a:spcAft>
              <a:buNone/>
            </a:pPr>
            <a:r>
              <a:rPr lang="en-GB" sz="1590">
                <a:latin typeface="Courier New"/>
                <a:ea typeface="Courier New"/>
                <a:cs typeface="Courier New"/>
                <a:sym typeface="Courier New"/>
              </a:rPr>
              <a:t>driver = webdriver.Chrome()</a:t>
            </a:r>
            <a:endParaRPr sz="1590">
              <a:latin typeface="Courier New"/>
              <a:ea typeface="Courier New"/>
              <a:cs typeface="Courier New"/>
              <a:sym typeface="Courier New"/>
            </a:endParaRPr>
          </a:p>
          <a:p>
            <a:pPr indent="0" lvl="0" marL="0" rtl="0" algn="l">
              <a:lnSpc>
                <a:spcPct val="105000"/>
              </a:lnSpc>
              <a:spcBef>
                <a:spcPts val="1200"/>
              </a:spcBef>
              <a:spcAft>
                <a:spcPts val="0"/>
              </a:spcAft>
              <a:buNone/>
            </a:pPr>
            <a:r>
              <a:rPr lang="en-GB" sz="1590">
                <a:latin typeface="Courier New"/>
                <a:ea typeface="Courier New"/>
                <a:cs typeface="Courier New"/>
                <a:sym typeface="Courier New"/>
              </a:rPr>
              <a:t>driver.get("https://example.com/login")</a:t>
            </a:r>
            <a:endParaRPr sz="1590">
              <a:latin typeface="Courier New"/>
              <a:ea typeface="Courier New"/>
              <a:cs typeface="Courier New"/>
              <a:sym typeface="Courier New"/>
            </a:endParaRPr>
          </a:p>
          <a:p>
            <a:pPr indent="0" lvl="0" marL="0" rtl="0" algn="l">
              <a:lnSpc>
                <a:spcPct val="105000"/>
              </a:lnSpc>
              <a:spcBef>
                <a:spcPts val="1200"/>
              </a:spcBef>
              <a:spcAft>
                <a:spcPts val="0"/>
              </a:spcAft>
              <a:buNone/>
            </a:pPr>
            <a:r>
              <a:rPr lang="en-GB" sz="1590">
                <a:latin typeface="Courier New"/>
                <a:ea typeface="Courier New"/>
                <a:cs typeface="Courier New"/>
                <a:sym typeface="Courier New"/>
              </a:rPr>
              <a:t>driver.find_element("name", "username").send_keys("testuser")</a:t>
            </a:r>
            <a:endParaRPr sz="1590">
              <a:latin typeface="Courier New"/>
              <a:ea typeface="Courier New"/>
              <a:cs typeface="Courier New"/>
              <a:sym typeface="Courier New"/>
            </a:endParaRPr>
          </a:p>
          <a:p>
            <a:pPr indent="0" lvl="0" marL="0" rtl="0" algn="l">
              <a:lnSpc>
                <a:spcPct val="105000"/>
              </a:lnSpc>
              <a:spcBef>
                <a:spcPts val="1200"/>
              </a:spcBef>
              <a:spcAft>
                <a:spcPts val="0"/>
              </a:spcAft>
              <a:buNone/>
            </a:pPr>
            <a:r>
              <a:rPr lang="en-GB" sz="1590">
                <a:latin typeface="Courier New"/>
                <a:ea typeface="Courier New"/>
                <a:cs typeface="Courier New"/>
                <a:sym typeface="Courier New"/>
              </a:rPr>
              <a:t>driver.find_element("name", "password").send_keys("password123")</a:t>
            </a:r>
            <a:endParaRPr sz="1590">
              <a:latin typeface="Courier New"/>
              <a:ea typeface="Courier New"/>
              <a:cs typeface="Courier New"/>
              <a:sym typeface="Courier New"/>
            </a:endParaRPr>
          </a:p>
          <a:p>
            <a:pPr indent="0" lvl="0" marL="0" rtl="0" algn="l">
              <a:lnSpc>
                <a:spcPct val="105000"/>
              </a:lnSpc>
              <a:spcBef>
                <a:spcPts val="1200"/>
              </a:spcBef>
              <a:spcAft>
                <a:spcPts val="0"/>
              </a:spcAft>
              <a:buNone/>
            </a:pPr>
            <a:r>
              <a:rPr lang="en-GB" sz="1590">
                <a:latin typeface="Courier New"/>
                <a:ea typeface="Courier New"/>
                <a:cs typeface="Courier New"/>
                <a:sym typeface="Courier New"/>
              </a:rPr>
              <a:t>driver.find_element("name", "login").click()</a:t>
            </a:r>
            <a:endParaRPr sz="1590">
              <a:latin typeface="Courier New"/>
              <a:ea typeface="Courier New"/>
              <a:cs typeface="Courier New"/>
              <a:sym typeface="Courier New"/>
            </a:endParaRPr>
          </a:p>
          <a:p>
            <a:pPr indent="0" lvl="0" marL="0" rtl="0" algn="l">
              <a:lnSpc>
                <a:spcPct val="105000"/>
              </a:lnSpc>
              <a:spcBef>
                <a:spcPts val="1200"/>
              </a:spcBef>
              <a:spcAft>
                <a:spcPts val="0"/>
              </a:spcAft>
              <a:buNone/>
            </a:pPr>
            <a:r>
              <a:rPr lang="en-GB" sz="1590">
                <a:latin typeface="Courier New"/>
                <a:ea typeface="Courier New"/>
                <a:cs typeface="Courier New"/>
                <a:sym typeface="Courier New"/>
              </a:rPr>
              <a:t>assert "Welcome" in driver.page_source</a:t>
            </a:r>
            <a:endParaRPr sz="1590">
              <a:latin typeface="Courier New"/>
              <a:ea typeface="Courier New"/>
              <a:cs typeface="Courier New"/>
              <a:sym typeface="Courier New"/>
            </a:endParaRPr>
          </a:p>
          <a:p>
            <a:pPr indent="0" lvl="0" marL="0" rtl="0" algn="l">
              <a:lnSpc>
                <a:spcPct val="105000"/>
              </a:lnSpc>
              <a:spcBef>
                <a:spcPts val="1200"/>
              </a:spcBef>
              <a:spcAft>
                <a:spcPts val="1200"/>
              </a:spcAft>
              <a:buNone/>
            </a:pPr>
            <a:r>
              <a:rPr lang="en-GB" sz="1590">
                <a:latin typeface="Courier New"/>
                <a:ea typeface="Courier New"/>
                <a:cs typeface="Courier New"/>
                <a:sym typeface="Courier New"/>
              </a:rPr>
              <a:t>driver.quit()</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b="1" lang="en-GB" sz="3000"/>
              <a:t>E</a:t>
            </a:r>
            <a:r>
              <a:rPr lang="en-GB" sz="3000"/>
              <a:t>2E</a:t>
            </a:r>
            <a:r>
              <a:rPr b="1" lang="en-GB" sz="3000"/>
              <a:t> vs Unit Testing</a:t>
            </a:r>
            <a:endParaRPr b="1" sz="3000"/>
          </a:p>
        </p:txBody>
      </p:sp>
      <p:sp>
        <p:nvSpPr>
          <p:cNvPr id="176" name="Google Shape;176;p37"/>
          <p:cNvSpPr txBox="1"/>
          <p:nvPr>
            <p:ph idx="1" type="body"/>
          </p:nvPr>
        </p:nvSpPr>
        <p:spPr>
          <a:xfrm>
            <a:off x="250100" y="1152475"/>
            <a:ext cx="39999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1400"/>
              </a:spcBef>
              <a:spcAft>
                <a:spcPts val="0"/>
              </a:spcAft>
              <a:buNone/>
            </a:pPr>
            <a:r>
              <a:rPr lang="en-GB" sz="1700">
                <a:solidFill>
                  <a:schemeClr val="dk1"/>
                </a:solidFill>
              </a:rPr>
              <a:t>Unit Testing:</a:t>
            </a:r>
            <a:endParaRPr sz="1700">
              <a:solidFill>
                <a:schemeClr val="dk1"/>
              </a:solidFill>
            </a:endParaRPr>
          </a:p>
          <a:p>
            <a:pPr indent="-323850" lvl="0" marL="457200" rtl="0" algn="l">
              <a:lnSpc>
                <a:spcPct val="150000"/>
              </a:lnSpc>
              <a:spcBef>
                <a:spcPts val="1200"/>
              </a:spcBef>
              <a:spcAft>
                <a:spcPts val="0"/>
              </a:spcAft>
              <a:buClr>
                <a:schemeClr val="dk1"/>
              </a:buClr>
              <a:buSzPts val="1500"/>
              <a:buChar char="●"/>
            </a:pPr>
            <a:r>
              <a:rPr lang="en-GB" sz="1500">
                <a:solidFill>
                  <a:schemeClr val="dk1"/>
                </a:solidFill>
              </a:rPr>
              <a:t>Tests individual components of the software in isolation.</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GB" sz="1500">
                <a:solidFill>
                  <a:schemeClr val="dk1"/>
                </a:solidFill>
              </a:rPr>
              <a:t>Fast and reliable.</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GB" sz="1500">
                <a:solidFill>
                  <a:schemeClr val="dk1"/>
                </a:solidFill>
              </a:rPr>
              <a:t>Catch small, isolated bugs</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GB" sz="1500">
                <a:solidFill>
                  <a:schemeClr val="dk1"/>
                </a:solidFill>
              </a:rPr>
              <a:t>Example (functions test using  python unit test or jest in js)</a:t>
            </a:r>
            <a:endParaRPr sz="1500">
              <a:solidFill>
                <a:schemeClr val="dk1"/>
              </a:solidFill>
            </a:endParaRPr>
          </a:p>
        </p:txBody>
      </p:sp>
      <p:sp>
        <p:nvSpPr>
          <p:cNvPr id="177" name="Google Shape;177;p3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1400"/>
              </a:spcBef>
              <a:spcAft>
                <a:spcPts val="0"/>
              </a:spcAft>
              <a:buNone/>
            </a:pPr>
            <a:r>
              <a:rPr lang="en-GB" sz="1700">
                <a:solidFill>
                  <a:schemeClr val="dk1"/>
                </a:solidFill>
              </a:rPr>
              <a:t>End-to-End (E2E) Testing:</a:t>
            </a:r>
            <a:endParaRPr sz="1700">
              <a:solidFill>
                <a:schemeClr val="dk1"/>
              </a:solidFill>
            </a:endParaRPr>
          </a:p>
          <a:p>
            <a:pPr indent="-323850" lvl="0" marL="457200" rtl="0" algn="l">
              <a:lnSpc>
                <a:spcPct val="150000"/>
              </a:lnSpc>
              <a:spcBef>
                <a:spcPts val="1200"/>
              </a:spcBef>
              <a:spcAft>
                <a:spcPts val="0"/>
              </a:spcAft>
              <a:buClr>
                <a:schemeClr val="dk1"/>
              </a:buClr>
              <a:buSzPts val="1500"/>
              <a:buChar char="●"/>
            </a:pPr>
            <a:r>
              <a:rPr lang="en-GB" sz="1500">
                <a:solidFill>
                  <a:schemeClr val="dk1"/>
                </a:solidFill>
              </a:rPr>
              <a:t>Tests the entire system flow, including integration </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GB" sz="1500">
                <a:solidFill>
                  <a:schemeClr val="dk1"/>
                </a:solidFill>
              </a:rPr>
              <a:t>Usually slow</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GB" sz="1500">
                <a:solidFill>
                  <a:schemeClr val="dk1"/>
                </a:solidFill>
              </a:rPr>
              <a:t>Ensures all parts integrate together</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GB" sz="1500">
                <a:solidFill>
                  <a:schemeClr val="dk1"/>
                </a:solidFill>
              </a:rPr>
              <a:t>Example (using Selenium for UI testing):</a:t>
            </a:r>
            <a:endParaRPr sz="1500">
              <a:solidFill>
                <a:schemeClr val="dk1"/>
              </a:solidFill>
            </a:endParaRPr>
          </a:p>
          <a:p>
            <a:pPr indent="0" lvl="0" marL="0" rtl="0" algn="l">
              <a:lnSpc>
                <a:spcPct val="150000"/>
              </a:lnSpc>
              <a:spcBef>
                <a:spcPts val="1200"/>
              </a:spcBef>
              <a:spcAft>
                <a:spcPts val="1200"/>
              </a:spcAft>
              <a:buNone/>
            </a:pPr>
            <a:r>
              <a:t/>
            </a:r>
            <a:endParaRPr sz="1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8"/>
          <p:cNvSpPr txBox="1"/>
          <p:nvPr>
            <p:ph type="title"/>
          </p:nvPr>
        </p:nvSpPr>
        <p:spPr>
          <a:xfrm>
            <a:off x="311700" y="445025"/>
            <a:ext cx="8520600" cy="73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3020"/>
              <a:t>Mocking</a:t>
            </a:r>
            <a:endParaRPr sz="3020"/>
          </a:p>
        </p:txBody>
      </p:sp>
      <p:sp>
        <p:nvSpPr>
          <p:cNvPr id="183" name="Google Shape;183;p38"/>
          <p:cNvSpPr txBox="1"/>
          <p:nvPr>
            <p:ph idx="1" type="body"/>
          </p:nvPr>
        </p:nvSpPr>
        <p:spPr>
          <a:xfrm>
            <a:off x="311700" y="1276575"/>
            <a:ext cx="8520600" cy="3292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GB" sz="1600">
                <a:solidFill>
                  <a:schemeClr val="dk1"/>
                </a:solidFill>
              </a:rPr>
              <a:t>Technique that replaces  real objects with fake ones during testing.</a:t>
            </a:r>
            <a:endParaRPr sz="1600">
              <a:solidFill>
                <a:schemeClr val="dk1"/>
              </a:solidFill>
            </a:endParaRPr>
          </a:p>
          <a:p>
            <a:pPr indent="0" lvl="0" marL="0" rtl="0" algn="l">
              <a:spcBef>
                <a:spcPts val="1200"/>
              </a:spcBef>
              <a:spcAft>
                <a:spcPts val="0"/>
              </a:spcAft>
              <a:buNone/>
            </a:pPr>
            <a:r>
              <a:rPr lang="en-GB" sz="1600">
                <a:solidFill>
                  <a:schemeClr val="dk1"/>
                </a:solidFill>
              </a:rPr>
              <a:t>Test different simulated scenarios to control outcome.</a:t>
            </a:r>
            <a:endParaRPr sz="1600">
              <a:solidFill>
                <a:schemeClr val="dk1"/>
              </a:solidFill>
            </a:endParaRPr>
          </a:p>
          <a:p>
            <a:pPr indent="0" lvl="0" marL="0" rtl="0" algn="l">
              <a:spcBef>
                <a:spcPts val="1200"/>
              </a:spcBef>
              <a:spcAft>
                <a:spcPts val="0"/>
              </a:spcAft>
              <a:buClr>
                <a:schemeClr val="dk1"/>
              </a:buClr>
              <a:buSzPts val="1100"/>
              <a:buFont typeface="Arial"/>
              <a:buNone/>
            </a:pPr>
            <a:r>
              <a:rPr lang="en-GB" sz="1600">
                <a:solidFill>
                  <a:schemeClr val="dk1"/>
                </a:solidFill>
              </a:rPr>
              <a:t>Helps isolate unit tests from dependencies.</a:t>
            </a:r>
            <a:endParaRPr sz="1600">
              <a:solidFill>
                <a:schemeClr val="dk1"/>
              </a:solidFill>
            </a:endParaRPr>
          </a:p>
          <a:p>
            <a:pPr indent="0" lvl="0" marL="0" rtl="0" algn="l">
              <a:spcBef>
                <a:spcPts val="1200"/>
              </a:spcBef>
              <a:spcAft>
                <a:spcPts val="1200"/>
              </a:spcAft>
              <a:buNone/>
            </a:pPr>
            <a:r>
              <a:rPr lang="en-GB" sz="1600">
                <a:solidFill>
                  <a:schemeClr val="dk1"/>
                </a:solidFill>
              </a:rPr>
              <a:t>Dependencies could be </a:t>
            </a:r>
            <a:r>
              <a:rPr i="1" lang="en-GB" sz="1600">
                <a:solidFill>
                  <a:schemeClr val="dk1"/>
                </a:solidFill>
              </a:rPr>
              <a:t>API calls, External Services, Databases, complex systems sensors readings, etc.</a:t>
            </a:r>
            <a:endParaRPr sz="16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9"/>
          <p:cNvSpPr txBox="1"/>
          <p:nvPr>
            <p:ph type="title"/>
          </p:nvPr>
        </p:nvSpPr>
        <p:spPr>
          <a:xfrm>
            <a:off x="311700" y="445025"/>
            <a:ext cx="8520600" cy="73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Mocking</a:t>
            </a:r>
            <a:endParaRPr/>
          </a:p>
        </p:txBody>
      </p:sp>
      <p:pic>
        <p:nvPicPr>
          <p:cNvPr id="189" name="Google Shape;189;p39"/>
          <p:cNvPicPr preferRelativeResize="0"/>
          <p:nvPr/>
        </p:nvPicPr>
        <p:blipFill>
          <a:blip r:embed="rId3">
            <a:alphaModFix/>
          </a:blip>
          <a:stretch>
            <a:fillRect/>
          </a:stretch>
        </p:blipFill>
        <p:spPr>
          <a:xfrm>
            <a:off x="1556326" y="1019750"/>
            <a:ext cx="6409974" cy="4123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Mocking [Code Example]</a:t>
            </a:r>
            <a:endParaRPr/>
          </a:p>
        </p:txBody>
      </p:sp>
      <p:sp>
        <p:nvSpPr>
          <p:cNvPr id="195" name="Google Shape;195;p40"/>
          <p:cNvSpPr txBox="1"/>
          <p:nvPr>
            <p:ph idx="1" type="body"/>
          </p:nvPr>
        </p:nvSpPr>
        <p:spPr>
          <a:xfrm>
            <a:off x="311700" y="1152475"/>
            <a:ext cx="3999900" cy="373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latin typeface="Courier New"/>
                <a:ea typeface="Courier New"/>
                <a:cs typeface="Courier New"/>
                <a:sym typeface="Courier New"/>
              </a:rPr>
              <a:t>from unittest.mock import Mock</a:t>
            </a:r>
            <a:endParaRPr sz="1200">
              <a:latin typeface="Courier New"/>
              <a:ea typeface="Courier New"/>
              <a:cs typeface="Courier New"/>
              <a:sym typeface="Courier New"/>
            </a:endParaRPr>
          </a:p>
          <a:p>
            <a:pPr indent="0" lvl="0" marL="0" rtl="0" algn="l">
              <a:spcBef>
                <a:spcPts val="1200"/>
              </a:spcBef>
              <a:spcAft>
                <a:spcPts val="0"/>
              </a:spcAft>
              <a:buNone/>
            </a:pPr>
            <a:r>
              <a:rPr lang="en-GB" sz="1200">
                <a:latin typeface="Courier New"/>
                <a:ea typeface="Courier New"/>
                <a:cs typeface="Courier New"/>
                <a:sym typeface="Courier New"/>
              </a:rPr>
              <a:t>class AuthService:</a:t>
            </a:r>
            <a:endParaRPr sz="1200">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200">
                <a:latin typeface="Courier New"/>
                <a:ea typeface="Courier New"/>
                <a:cs typeface="Courier New"/>
                <a:sym typeface="Courier New"/>
              </a:rPr>
              <a:t>    def __init__(self, database):</a:t>
            </a:r>
            <a:endParaRPr sz="1200">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200">
                <a:latin typeface="Courier New"/>
                <a:ea typeface="Courier New"/>
                <a:cs typeface="Courier New"/>
                <a:sym typeface="Courier New"/>
              </a:rPr>
              <a:t>        self.database = database</a:t>
            </a:r>
            <a:endParaRPr sz="1200">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200">
                <a:latin typeface="Courier New"/>
                <a:ea typeface="Courier New"/>
                <a:cs typeface="Courier New"/>
                <a:sym typeface="Courier New"/>
              </a:rPr>
              <a:t>    def authenticate(self, user_id):</a:t>
            </a:r>
            <a:endParaRPr sz="1200">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200">
                <a:latin typeface="Courier New"/>
                <a:ea typeface="Courier New"/>
                <a:cs typeface="Courier New"/>
                <a:sym typeface="Courier New"/>
              </a:rPr>
              <a:t>        user = self.database.get_user(user_id)</a:t>
            </a:r>
            <a:endParaRPr sz="1200">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200">
                <a:latin typeface="Courier New"/>
                <a:ea typeface="Courier New"/>
                <a:cs typeface="Courier New"/>
                <a:sym typeface="Courier New"/>
              </a:rPr>
              <a:t>        if user and user.get("is_active"):</a:t>
            </a:r>
            <a:endParaRPr sz="1200">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200">
                <a:latin typeface="Courier New"/>
                <a:ea typeface="Courier New"/>
                <a:cs typeface="Courier New"/>
                <a:sym typeface="Courier New"/>
              </a:rPr>
              <a:t>            return "Authenticated"</a:t>
            </a:r>
            <a:endParaRPr sz="1200">
              <a:latin typeface="Courier New"/>
              <a:ea typeface="Courier New"/>
              <a:cs typeface="Courier New"/>
              <a:sym typeface="Courier New"/>
            </a:endParaRPr>
          </a:p>
          <a:p>
            <a:pPr indent="0" lvl="0" marL="0" rtl="0" algn="l">
              <a:spcBef>
                <a:spcPts val="1200"/>
              </a:spcBef>
              <a:spcAft>
                <a:spcPts val="0"/>
              </a:spcAft>
              <a:buNone/>
            </a:pPr>
            <a:r>
              <a:rPr lang="en-GB" sz="1200">
                <a:latin typeface="Courier New"/>
                <a:ea typeface="Courier New"/>
                <a:cs typeface="Courier New"/>
                <a:sym typeface="Courier New"/>
              </a:rPr>
              <a:t>        return "Access Denied"</a:t>
            </a:r>
            <a:endParaRPr sz="1200">
              <a:latin typeface="Courier New"/>
              <a:ea typeface="Courier New"/>
              <a:cs typeface="Courier New"/>
              <a:sym typeface="Courier New"/>
            </a:endParaRPr>
          </a:p>
          <a:p>
            <a:pPr indent="0" lvl="0" marL="0" rtl="0" algn="l">
              <a:spcBef>
                <a:spcPts val="1200"/>
              </a:spcBef>
              <a:spcAft>
                <a:spcPts val="1200"/>
              </a:spcAft>
              <a:buNone/>
            </a:pPr>
            <a:r>
              <a:t/>
            </a:r>
            <a:endParaRPr sz="1200">
              <a:latin typeface="Courier New"/>
              <a:ea typeface="Courier New"/>
              <a:cs typeface="Courier New"/>
              <a:sym typeface="Courier New"/>
            </a:endParaRPr>
          </a:p>
        </p:txBody>
      </p:sp>
      <p:sp>
        <p:nvSpPr>
          <p:cNvPr id="196" name="Google Shape;196;p4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sz="1600">
                <a:latin typeface="Courier New"/>
                <a:ea typeface="Courier New"/>
                <a:cs typeface="Courier New"/>
                <a:sym typeface="Courier New"/>
              </a:rPr>
              <a:t>db_mock = Mock()</a:t>
            </a:r>
            <a:endParaRPr sz="1600">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600">
                <a:latin typeface="Courier New"/>
                <a:ea typeface="Courier New"/>
                <a:cs typeface="Courier New"/>
                <a:sym typeface="Courier New"/>
              </a:rPr>
              <a:t>db_mock.get_user.return_value = {"id": 1, "name": "Ahmed"}</a:t>
            </a:r>
            <a:endParaRPr sz="1600">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600">
                <a:latin typeface="Courier New"/>
                <a:ea typeface="Courier New"/>
                <a:cs typeface="Courier New"/>
                <a:sym typeface="Courier New"/>
              </a:rPr>
              <a:t>auth_service = AuthService(db_mock)</a:t>
            </a:r>
            <a:endParaRPr sz="1600">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600">
                <a:latin typeface="Courier New"/>
                <a:ea typeface="Courier New"/>
                <a:cs typeface="Courier New"/>
                <a:sym typeface="Courier New"/>
              </a:rPr>
              <a:t>assert auth_service.authenticate(1) == "Authenticated"</a:t>
            </a:r>
            <a:endParaRPr sz="1600">
              <a:latin typeface="Courier New"/>
              <a:ea typeface="Courier New"/>
              <a:cs typeface="Courier New"/>
              <a:sym typeface="Courier New"/>
            </a:endParaRPr>
          </a:p>
          <a:p>
            <a:pPr indent="0" lvl="0" marL="0" rtl="0" algn="l">
              <a:spcBef>
                <a:spcPts val="1200"/>
              </a:spcBef>
              <a:spcAft>
                <a:spcPts val="1200"/>
              </a:spcAft>
              <a:buNone/>
            </a:pPr>
            <a:r>
              <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41"/>
          <p:cNvSpPr txBox="1"/>
          <p:nvPr>
            <p:ph type="title"/>
          </p:nvPr>
        </p:nvSpPr>
        <p:spPr>
          <a:xfrm>
            <a:off x="311700" y="445025"/>
            <a:ext cx="8520600" cy="73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Mocking Payments with Stripe Test Mode</a:t>
            </a:r>
            <a:endParaRPr/>
          </a:p>
        </p:txBody>
      </p:sp>
      <p:sp>
        <p:nvSpPr>
          <p:cNvPr id="202" name="Google Shape;202;p41"/>
          <p:cNvSpPr txBox="1"/>
          <p:nvPr>
            <p:ph idx="1" type="body"/>
          </p:nvPr>
        </p:nvSpPr>
        <p:spPr>
          <a:xfrm>
            <a:off x="311700" y="1276575"/>
            <a:ext cx="8520600" cy="3292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GB"/>
              <a:t>How do we test a payment system without actually charging a credit card?</a:t>
            </a:r>
            <a:endParaRPr i="1"/>
          </a:p>
          <a:p>
            <a:pPr indent="0" lvl="0" marL="0" rtl="0" algn="l">
              <a:spcBef>
                <a:spcPts val="1200"/>
              </a:spcBef>
              <a:spcAft>
                <a:spcPts val="0"/>
              </a:spcAft>
              <a:buNone/>
            </a:pPr>
            <a:r>
              <a:rPr b="1" lang="en-GB"/>
              <a:t>Without Mocking:</a:t>
            </a:r>
            <a:endParaRPr b="1"/>
          </a:p>
          <a:p>
            <a:pPr indent="0" lvl="0" marL="0" rtl="0" algn="l">
              <a:spcBef>
                <a:spcPts val="1200"/>
              </a:spcBef>
              <a:spcAft>
                <a:spcPts val="0"/>
              </a:spcAft>
              <a:buNone/>
            </a:pPr>
            <a:r>
              <a:rPr i="1" lang="en-GB"/>
              <a:t>App → Stripe API(Real) → Real Payment (Response)</a:t>
            </a:r>
            <a:endParaRPr i="1"/>
          </a:p>
          <a:p>
            <a:pPr indent="0" lvl="0" marL="0" rtl="0" algn="l">
              <a:spcBef>
                <a:spcPts val="1200"/>
              </a:spcBef>
              <a:spcAft>
                <a:spcPts val="0"/>
              </a:spcAft>
              <a:buNone/>
            </a:pPr>
            <a:r>
              <a:rPr b="1" lang="en-GB"/>
              <a:t>With Mocking:</a:t>
            </a:r>
            <a:endParaRPr b="1"/>
          </a:p>
          <a:p>
            <a:pPr indent="0" lvl="0" marL="0" rtl="0" algn="l">
              <a:spcBef>
                <a:spcPts val="1200"/>
              </a:spcBef>
              <a:spcAft>
                <a:spcPts val="1200"/>
              </a:spcAft>
              <a:buNone/>
            </a:pPr>
            <a:r>
              <a:rPr i="1" lang="en-GB"/>
              <a:t>App → Stripe API (Test Mode) → No real interaction (Simulated Response)</a:t>
            </a:r>
            <a:endParaRPr i="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Discussion and Lab Time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